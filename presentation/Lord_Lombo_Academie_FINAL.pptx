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5"/>
    <p:restoredTop sz="94658"/>
  </p:normalViewPr>
  <p:slideViewPr>
    <p:cSldViewPr snapToGrid="0" snapToObjects="1">
      <p:cViewPr>
        <p:scale>
          <a:sx n="112" d="100"/>
          <a:sy n="112" d="100"/>
        </p:scale>
        <p:origin x="808" y="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37160"/>
            <a:ext cx="2886080" cy="20614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1005840"/>
            <a:ext cx="4114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D4A438"/>
                </a:solidFill>
                <a:latin typeface="Georgia"/>
              </a:defRPr>
            </a:pPr>
            <a:r>
              <a:rPr dirty="0"/>
              <a:t>LORD LOMBO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00584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Georgia"/>
              </a:defRPr>
            </a:pPr>
            <a:r>
              <a:rPr dirty="0"/>
              <a:t>ACADEMIE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9456"/>
            <a:ext cx="307706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0C75E"/>
                </a:solidFill>
                <a:latin typeface="Calibri"/>
              </a:defRPr>
            </a:pPr>
            <a:r>
              <a:rPr dirty="0"/>
              <a:t>PLATEFORME DE FORMATION EN LIGNE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9005" y="2589030"/>
            <a:ext cx="16459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983499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dirty="0"/>
              <a:t>DOCUMENT DE COMPREHENSION DES BESOINS</a:t>
            </a:r>
          </a:p>
          <a:p>
            <a:pPr algn="l">
              <a:defRPr sz="2400" b="1">
                <a:solidFill>
                  <a:srgbClr val="D4A438"/>
                </a:solidFill>
                <a:latin typeface="Georgia"/>
              </a:defRPr>
            </a:pPr>
            <a:r>
              <a:rPr dirty="0"/>
              <a:t>&amp; PROPOSITION DE SOLUTION DIGITALE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97680"/>
            <a:ext cx="384048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38912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Préparé par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6344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0C75E"/>
                </a:solidFill>
                <a:latin typeface="Calibri"/>
              </a:defRPr>
            </a:pPr>
            <a:r>
              <a:t>Messiya Group - Division Digitale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65105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09728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548640"/>
            <a:ext cx="2011680" cy="201168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D4A438"/>
                </a:solidFill>
                <a:latin typeface="Georgia"/>
              </a:defRPr>
            </a:pPr>
            <a:r>
              <a:t>SOMMAIRE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868680"/>
            <a:ext cx="109728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14300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17957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17957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Contexte &amp; Compréhension du Besoin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44932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144932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48590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48590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Vision &amp; Objectifs Stratégiques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75564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175564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79222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179222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Valeurs Ajoutées de Notre 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061972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2061972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2098548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09854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Architecture Technique de la 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368296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2368296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2404872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404872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Modules Fonctionnels de la Plateforme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67462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267462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271119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271119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CRM Intégré &amp; Gestion Relation Client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298094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298094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301752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0175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Méthodes Pédagogiques &amp; Organisation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28726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5800" y="328726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332384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332384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Évaluation, Satisfaction &amp; Suivi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593592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85800" y="3593592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3630168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36301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Fonctionnalités Avancées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3899916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85800" y="3899916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3936492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3936492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Sécurité &amp; Performance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20624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85800" y="420624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424281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424281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Identité Visuelle &amp; Charte Graphique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451256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85800" y="451256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454914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454914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Stack Technique &amp; Technologies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481888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85800" y="481888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5800" y="485546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5880" y="485546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Stratégie SEO &amp; Référencement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5125212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85800" y="5125212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5800" y="5161788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516178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Réseaux Sociaux &amp; Marketing Digital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5431536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5800" y="5431536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5800" y="5468112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25880" y="5468112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Parcours Utilisateur &amp; Expérience (UX)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5800" y="5737860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85800" y="5737860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5800" y="5774436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25880" y="5774436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Contact &amp; Devis Personnalisé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5800" y="6044184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85800" y="6044184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5800" y="6080760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25880" y="60807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Évolutions Futures &amp; Roadmap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6350508"/>
            <a:ext cx="9875520" cy="393192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85800" y="6350508"/>
            <a:ext cx="502920" cy="39319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5800" y="6387084"/>
            <a:ext cx="502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25880" y="6387084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2240"/>
                </a:solidFill>
                <a:latin typeface="Calibri"/>
              </a:defRPr>
            </a:pPr>
            <a:r>
              <a:t>Valeur Ajoutée Messiya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CONTEXTE &amp; COMPRÉHENSION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DU BESOIN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Comprendre la vision de Lord Lombo pour une académie de transformation spirituelle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CONTEXTE DU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6400800" cy="20116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A438"/>
                </a:solidFill>
                <a:latin typeface="Calibri"/>
              </a:defRPr>
            </a:pPr>
            <a:r>
              <a:t>LORD LOMBO ACADEMIE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57350"/>
            <a:ext cx="5943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rPr dirty="0"/>
              <a:t>est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plateforme</a:t>
            </a:r>
            <a:r>
              <a:rPr dirty="0"/>
              <a:t> de formation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</a:t>
            </a:r>
            <a:r>
              <a:rPr dirty="0" err="1"/>
              <a:t>dédiée</a:t>
            </a:r>
            <a:r>
              <a:rPr dirty="0"/>
              <a:t> à la transformation spirituelle, au leadership et au </a:t>
            </a:r>
            <a:r>
              <a:rPr dirty="0" err="1"/>
              <a:t>développement</a:t>
            </a:r>
            <a:r>
              <a:rPr dirty="0"/>
              <a:t> personnel. Elle </a:t>
            </a:r>
            <a:r>
              <a:rPr dirty="0" err="1"/>
              <a:t>accompagne</a:t>
            </a:r>
            <a:r>
              <a:rPr dirty="0"/>
              <a:t> des </a:t>
            </a:r>
            <a:r>
              <a:rPr dirty="0" err="1"/>
              <a:t>individus</a:t>
            </a:r>
            <a:r>
              <a:rPr dirty="0"/>
              <a:t> dans </a:t>
            </a:r>
            <a:r>
              <a:rPr dirty="0" err="1"/>
              <a:t>leur</a:t>
            </a:r>
            <a:r>
              <a:rPr dirty="0"/>
              <a:t> </a:t>
            </a:r>
            <a:r>
              <a:rPr dirty="0" err="1"/>
              <a:t>croissance</a:t>
            </a:r>
            <a:r>
              <a:rPr dirty="0"/>
              <a:t> </a:t>
            </a:r>
            <a:r>
              <a:rPr dirty="0" err="1"/>
              <a:t>intérieure</a:t>
            </a:r>
            <a:r>
              <a:rPr dirty="0"/>
              <a:t>, </a:t>
            </a:r>
            <a:r>
              <a:rPr dirty="0" err="1"/>
              <a:t>renforcé</a:t>
            </a:r>
            <a:r>
              <a:rPr dirty="0"/>
              <a:t> </a:t>
            </a:r>
            <a:r>
              <a:rPr dirty="0" err="1"/>
              <a:t>leur</a:t>
            </a:r>
            <a:r>
              <a:rPr dirty="0"/>
              <a:t> influence </a:t>
            </a:r>
            <a:r>
              <a:rPr dirty="0" err="1"/>
              <a:t>en</a:t>
            </a:r>
            <a:r>
              <a:rPr dirty="0"/>
              <a:t> tant </a:t>
            </a:r>
            <a:r>
              <a:rPr dirty="0" err="1"/>
              <a:t>que</a:t>
            </a:r>
            <a:r>
              <a:rPr dirty="0"/>
              <a:t> leaders et </a:t>
            </a:r>
            <a:r>
              <a:rPr dirty="0" err="1"/>
              <a:t>leur</a:t>
            </a:r>
            <a:r>
              <a:rPr dirty="0"/>
              <a:t>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d'impacter</a:t>
            </a:r>
            <a:r>
              <a:rPr dirty="0"/>
              <a:t> </a:t>
            </a:r>
            <a:r>
              <a:rPr dirty="0" err="1"/>
              <a:t>positivement</a:t>
            </a:r>
            <a:r>
              <a:rPr dirty="0"/>
              <a:t> </a:t>
            </a:r>
            <a:r>
              <a:rPr dirty="0" err="1"/>
              <a:t>leur</a:t>
            </a:r>
            <a:r>
              <a:rPr dirty="0"/>
              <a:t> </a:t>
            </a:r>
            <a:r>
              <a:rPr dirty="0" err="1"/>
              <a:t>environnement</a:t>
            </a:r>
            <a:r>
              <a:rPr dirty="0"/>
              <a:t>.</a:t>
            </a:r>
          </a:p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endParaRPr dirty="0"/>
          </a:p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rPr dirty="0" err="1"/>
              <a:t>L'académie</a:t>
            </a:r>
            <a:r>
              <a:rPr dirty="0"/>
              <a:t> </a:t>
            </a:r>
            <a:r>
              <a:rPr dirty="0" err="1"/>
              <a:t>offrira</a:t>
            </a:r>
            <a:r>
              <a:rPr dirty="0"/>
              <a:t> des formations </a:t>
            </a:r>
            <a:r>
              <a:rPr dirty="0" err="1"/>
              <a:t>certifiantes</a:t>
            </a:r>
            <a:r>
              <a:rPr dirty="0"/>
              <a:t>, des </a:t>
            </a:r>
            <a:r>
              <a:rPr dirty="0" err="1"/>
              <a:t>programmes</a:t>
            </a:r>
            <a:r>
              <a:rPr dirty="0"/>
              <a:t> de coaching, des sessions interactives </a:t>
            </a:r>
            <a:r>
              <a:rPr dirty="0" err="1"/>
              <a:t>en</a:t>
            </a:r>
            <a:r>
              <a:rPr dirty="0"/>
              <a:t> direct et un </a:t>
            </a:r>
            <a:r>
              <a:rPr dirty="0" err="1"/>
              <a:t>suivi</a:t>
            </a:r>
            <a:r>
              <a:rPr dirty="0"/>
              <a:t> </a:t>
            </a:r>
            <a:r>
              <a:rPr dirty="0" err="1"/>
              <a:t>personnalisé</a:t>
            </a:r>
            <a:r>
              <a:rPr dirty="0"/>
              <a:t> de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apprenant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41071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290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E-Learning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Formations vidéo HD, quiz, documents PDF, accès illimité 24h/24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3832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338328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341071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4290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Coaching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88620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Sessions Zoom/Meet intégrées, interaction temps réel, replays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96519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834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rPr dirty="0" err="1"/>
              <a:t>Communauté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594360" y="544068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/>
              <a:t>Forum, </a:t>
            </a:r>
            <a:r>
              <a:rPr dirty="0" err="1"/>
              <a:t>défis</a:t>
            </a:r>
            <a:r>
              <a:rPr dirty="0"/>
              <a:t> </a:t>
            </a:r>
            <a:r>
              <a:rPr dirty="0" err="1"/>
              <a:t>spirituels</a:t>
            </a:r>
            <a:r>
              <a:rPr dirty="0"/>
              <a:t>, </a:t>
            </a:r>
            <a:r>
              <a:rPr dirty="0" err="1"/>
              <a:t>témoignages</a:t>
            </a:r>
            <a:r>
              <a:rPr dirty="0"/>
              <a:t>, </a:t>
            </a:r>
            <a:r>
              <a:rPr dirty="0" err="1"/>
              <a:t>espace</a:t>
            </a:r>
            <a:r>
              <a:rPr dirty="0"/>
              <a:t> de </a:t>
            </a:r>
            <a:r>
              <a:rPr dirty="0" err="1"/>
              <a:t>prière</a:t>
            </a:r>
            <a:r>
              <a:rPr dirty="0"/>
              <a:t> </a:t>
            </a:r>
            <a:r>
              <a:rPr dirty="0" err="1"/>
              <a:t>collectif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3291840" y="4937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91840" y="4937760"/>
            <a:ext cx="4114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0" y="4975825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9834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Certification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440680"/>
            <a:ext cx="2377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rPr dirty="0" err="1"/>
              <a:t>Certificats</a:t>
            </a:r>
            <a:r>
              <a:rPr dirty="0"/>
              <a:t> PDF </a:t>
            </a:r>
            <a:r>
              <a:rPr dirty="0" err="1"/>
              <a:t>automatiques</a:t>
            </a:r>
            <a:r>
              <a:rPr dirty="0"/>
              <a:t> avec QR code de </a:t>
            </a:r>
            <a:r>
              <a:rPr dirty="0" err="1"/>
              <a:t>vérification</a:t>
            </a:r>
            <a:endParaRPr dirty="0"/>
          </a:p>
        </p:txBody>
      </p:sp>
      <p:sp>
        <p:nvSpPr>
          <p:cNvPr id="33" name="Rounded Rectangle 32"/>
          <p:cNvSpPr>
            <a:spLocks/>
          </p:cNvSpPr>
          <p:nvPr/>
        </p:nvSpPr>
        <p:spPr>
          <a:xfrm>
            <a:off x="7040880" y="1128795"/>
            <a:ext cx="4754880" cy="3749039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7223760" y="1265955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A438"/>
                </a:solidFill>
                <a:latin typeface="Calibri"/>
              </a:defRPr>
            </a:pPr>
            <a:r>
              <a:rPr dirty="0"/>
              <a:t>PUBLIC CIBLE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7223760" y="167743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rPr dirty="0"/>
              <a:t>  Leaders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quête</a:t>
            </a:r>
            <a:r>
              <a:rPr dirty="0"/>
              <a:t> de </a:t>
            </a:r>
            <a:r>
              <a:rPr dirty="0" err="1"/>
              <a:t>croissance</a:t>
            </a:r>
            <a:r>
              <a:rPr dirty="0"/>
              <a:t> </a:t>
            </a:r>
            <a:r>
              <a:rPr dirty="0" err="1"/>
              <a:t>intérieure</a:t>
            </a:r>
            <a:endParaRPr dirty="0"/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7223760" y="204319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Chrétiens</a:t>
            </a:r>
            <a:r>
              <a:rPr dirty="0"/>
              <a:t> </a:t>
            </a:r>
            <a:r>
              <a:rPr dirty="0" err="1"/>
              <a:t>désireux</a:t>
            </a:r>
            <a:r>
              <a:rPr dirty="0"/>
              <a:t> de se former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profondeur</a:t>
            </a:r>
            <a:endParaRPr dirty="0"/>
          </a:p>
        </p:txBody>
      </p:sp>
      <p:sp>
        <p:nvSpPr>
          <p:cNvPr id="37" name="TextBox 36"/>
          <p:cNvSpPr txBox="1">
            <a:spLocks/>
          </p:cNvSpPr>
          <p:nvPr/>
        </p:nvSpPr>
        <p:spPr>
          <a:xfrm>
            <a:off x="7223760" y="240895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rPr dirty="0"/>
              <a:t>  Jeunes leaders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développement</a:t>
            </a:r>
            <a:endParaRPr dirty="0"/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7223760" y="277471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Communauté</a:t>
            </a:r>
            <a:r>
              <a:rPr dirty="0"/>
              <a:t> francophone </a:t>
            </a:r>
            <a:r>
              <a:rPr dirty="0" err="1"/>
              <a:t>mondiale</a:t>
            </a:r>
            <a:endParaRPr dirty="0"/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7223760" y="314047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Pasteurs</a:t>
            </a:r>
            <a:r>
              <a:rPr dirty="0"/>
              <a:t> et </a:t>
            </a:r>
            <a:r>
              <a:rPr dirty="0" err="1"/>
              <a:t>responsables</a:t>
            </a:r>
            <a:r>
              <a:rPr dirty="0"/>
              <a:t> </a:t>
            </a:r>
            <a:r>
              <a:rPr dirty="0" err="1"/>
              <a:t>d'église</a:t>
            </a:r>
            <a:endParaRPr dirty="0"/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7223760" y="350623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Professionnels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reconversion de </a:t>
            </a:r>
            <a:r>
              <a:rPr dirty="0" err="1"/>
              <a:t>carrière</a:t>
            </a:r>
            <a:endParaRPr dirty="0"/>
          </a:p>
        </p:txBody>
      </p:sp>
      <p:sp>
        <p:nvSpPr>
          <p:cNvPr id="41" name="TextBox 40"/>
          <p:cNvSpPr txBox="1">
            <a:spLocks/>
          </p:cNvSpPr>
          <p:nvPr/>
        </p:nvSpPr>
        <p:spPr>
          <a:xfrm>
            <a:off x="7223760" y="387199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rPr dirty="0"/>
              <a:t>  Diaspora </a:t>
            </a:r>
            <a:r>
              <a:rPr dirty="0" err="1"/>
              <a:t>africaine</a:t>
            </a:r>
            <a:r>
              <a:rPr dirty="0"/>
              <a:t> </a:t>
            </a:r>
            <a:r>
              <a:rPr dirty="0" err="1"/>
              <a:t>connectée</a:t>
            </a:r>
            <a:endParaRPr dirty="0"/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7223760" y="4237755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Entrepreneurs chrétiens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5029200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0" y="50749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EXIGENCES CLÉS DU CLIENT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3492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2D50"/>
                </a:solidFill>
                <a:latin typeface="Calibri"/>
              </a:defRPr>
            </a:pPr>
            <a:r>
              <a:t>Design haut de gamme  |  Sécurité bancaire  |  Multi-paiement</a:t>
            </a:r>
          </a:p>
          <a:p>
            <a:pPr algn="l">
              <a:defRPr sz="1000" b="0">
                <a:solidFill>
                  <a:srgbClr val="1A2D50"/>
                </a:solidFill>
                <a:latin typeface="Calibri"/>
              </a:defRPr>
            </a:pPr>
            <a:r>
              <a:t>Mobile-first  |  Certificats auto  |  Coaching live &amp; enregistré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VISION &amp; OBJECTIFS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STRATEGIQUES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Former, Transformer, Impacter - La triple mission de Lord Lombo Académie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41148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VISION &amp; OBJECTIFS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12471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Offrir des parcours de formation structurées et certifiantes en croissance spirituelle, leadership chrétien et influence positive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356616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112471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Accompagner chaque apprenant dans une transformation profonde et durable à travers un suivi personnalisé, du coaching et des défis pratiques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09728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79" y="1097280"/>
            <a:ext cx="356616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112471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IMPACTER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1691640"/>
            <a:ext cx="3200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Créer une communauté de leaders influents qui impactent positivement leur environnement en Afrique et dans la diaspora francophone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D4A438"/>
                </a:solidFill>
                <a:latin typeface="Georgia"/>
              </a:defRPr>
            </a:pPr>
            <a:r>
              <a:t>"Devenir LA référence dans l'espace francophone pour la formation spirituelle,</a:t>
            </a:r>
          </a:p>
          <a:p>
            <a:pPr algn="ctr">
              <a:defRPr sz="1600" b="0">
                <a:solidFill>
                  <a:srgbClr val="D4A438"/>
                </a:solidFill>
                <a:latin typeface="Georgia"/>
              </a:defRPr>
            </a:pPr>
            <a:r>
              <a:t>le leadership et le développement personnel, en combinant technologie de pointe</a:t>
            </a:r>
          </a:p>
          <a:p>
            <a:pPr algn="ctr">
              <a:defRPr sz="1600" b="0">
                <a:solidFill>
                  <a:srgbClr val="D4A438"/>
                </a:solidFill>
                <a:latin typeface="Georgia"/>
              </a:defRPr>
            </a:pPr>
            <a:r>
              <a:t>et accompagnement humain de qualité."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507492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516636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899AA"/>
                </a:solidFill>
                <a:latin typeface="Calibri"/>
              </a:defRPr>
            </a:pPr>
            <a:r>
              <a:t>Lord Lombo Académie - Vision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VALEURS AJOUTEES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 NOTRE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Ce que nous apportons en plus pour faire la différence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VALEUR AJOUTEE MESSIYA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0C75E"/>
                </a:solidFill>
                <a:latin typeface="Calibri"/>
              </a:defRPr>
            </a:pPr>
            <a:r>
              <a:t>Ce que nous apportons en plus pour faire la différence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4813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Expérience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82880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Interface haut de gamme, animations fluides Framer Motion, micro-interactions. Chaque détail reflète l'excellence de la vision de Lord Lombo.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4630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4813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Recommandations personnalisées de formations, sous-titres auto (Whisper AI), chatbot assistant 24/7 pour les apprenants.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03580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Multi-langue &amp; Accèssibilité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38328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Français, Anglais, Lingala + accèssibilité WCAG 2.1 AA pour toucher un maximum d'apprenants dans le monde.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92608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0175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03580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Programme de Fidélité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38328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Points de fidélité, badges gamifiés, récompenses pour les défis complétés, parrainage avec avantages automatiques.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48056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45720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9028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Tableau de Bord 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93776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Back-office complet : gestion apprenants, formations, paiements, analytics en temps réel, rapports de satisfaction.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48056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4480560"/>
            <a:ext cx="73152" cy="13716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57200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59028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Maintenance &amp; Evolution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93776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technique continu, mises à jour sécurité, evolution des fonctionnalités, SLA 99.9% disponibilité garantie.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ARCHITECTURE TECHNIQUE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 LA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Une infrastructure moderne, scalable et performante pour une académie de référence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ARCHITECTURE DE LA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PRÉSENTATION (FRONTEND)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Next.js 14+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SSR / SSG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6596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Composants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Animations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Mode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10312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24028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2677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MÉTIER (API &amp; BACKEND)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REST / GraphQL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6596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Auth.js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JWT / 2FA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Prisma 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Accès données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204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Bull MQ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Jobs async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2918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42900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45643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DONNÉES &amp; STOCKAGE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Base relationnelle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2024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Cache &amp; sessions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328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2900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Mux / CF Stream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Vidéo CDN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709159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47365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0C0D0"/>
                </a:solidFill>
                <a:latin typeface="Calibri"/>
              </a:defRPr>
            </a:pPr>
            <a:r>
              <a:t>SERVICES EXTERNES : Stripe / PayPal / Mobile Money  |  Resend  |  Zoom SDK  |  OneSignal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1051560"/>
            <a:ext cx="3840480" cy="3108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600" y="1143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INFRASTRUCTURE &amp; DEVOPS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1554480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AWS (EC2, RDS, S3, CloudFront)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1883664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Docker + GitHub Actions CI/CD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2212848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Cloudflare CDN &amp; WAF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2542032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Terraform (IaC)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2871215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Datadog monitoring 24/7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3200400"/>
            <a:ext cx="34747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Auto-scaling horizontal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20" y="4297680"/>
            <a:ext cx="3840480" cy="164592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29600" y="43891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VIDÉO &amp; STREAMING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75488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Mux / Cloudflare Stream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02920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HLS adaptive bitrate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530352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Protection DRM contenu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577840"/>
            <a:ext cx="3474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✓  Sous-titres auto (Whisper AI)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977623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7200" y="6023343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D2240"/>
                </a:solidFill>
                <a:latin typeface="Calibri"/>
              </a:defRPr>
            </a:pPr>
            <a:r>
              <a:t>Vercel (CDN Global)  |  Supabase (BaaS)  |  Cloudflare (DDoS)  |  SSL/TLS  |  CI/CD GitHub Actions  |  Analytics GA4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MODULES FONCTIONNELS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 LA PLATEFORME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L'ensemble des pages et espaces qui composent l'académie en ligne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371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MODULES DE LA PLATEFORME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24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143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Accueil Inspirant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55448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Hero vidéo Lord Lombo, vision, CTA transformation, témoignages, formations phares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0972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09728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124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143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A Propos &amp; 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55448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Présentation Lord Lombo, histoire académie, équipe pédagogique, fondements spirituels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09728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09728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1124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Catalogue Formations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55448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Filtres par theme, fiches détaillées, formateur, durée, prix, avis, prérequis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606039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2606039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63347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65175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Espace Membre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063239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Dashboard, progression %, certificats, historique, défis pratiques, parametres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606039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60" y="2606039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60" y="263347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5175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Paiement &amp; Facturation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063239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Stripe, PayPal, Mobile Money, abonnements, factures PDF auto, codes promo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606039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2606039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0" y="2633471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65175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Sessions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3063239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Intégration Zoom/Meet, notifications, replays, chat, interaction temps réel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11480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411480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14223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1605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Forum &amp; Communauté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57200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Échanges, témoignages, entraide, espace prière, défis collectifs, moderation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51960" y="411480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51960" y="411480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60" y="414223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41605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Blog &amp; Contenu SEO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457200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Articlés inspires, guides spirituels, témoignages, newsletters, partage social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4114800"/>
            <a:ext cx="3611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46720" y="4114800"/>
            <a:ext cx="457200" cy="3657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6720" y="414223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41605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D2240"/>
                </a:solidFill>
                <a:latin typeface="Calibri"/>
              </a:defRPr>
            </a:pPr>
            <a:r>
              <a:t>Administration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572000"/>
            <a:ext cx="32918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Gestion users, formations, paiements, stats temps réel, rapports, moderation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CRM INTÉGRÉ &amp; GESTION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RELATION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 pipeline automatisé pour convertir les visiteurs en ambassadeurs de la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CRM &amp; GESTION RELATION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Visiteur   ▶   Inscrit   ▶   Apprenant   ▶   Certifié   ▶   Ambassadeur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Acquisition &amp; Inscription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Formulaire intelligent avec SSO (Google, Facebook), tracking source d'acquisition (UTM), segmentation automatique par intérêt (spirituel, leadership, développement).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1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Engagement &amp; Suivi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9456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Emails de bienvenue automatisés, rappels d'inactivité, notifications de nouveaux cours, push personnalisés selon le profil et la progression.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Conversion &amp; Paiement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1188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Relances panier abandonné, offres personnalisées, codes promo ciblés, upsell automatique vers formations premium ou coaching.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291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Fidélisation &amp; Rétention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1188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Programme de fidélité (points, badges), anniversaires, offres de renouvellement d'abonnement, NPS automatique.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1772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61772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70915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Parrainage &amp; Ambassadeur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Système d'affiliation intégré, lien de parrainage unique, récompenses automatiques, suivi des conversions par ambassadeur.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17720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617720"/>
            <a:ext cx="73152" cy="123444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70915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Analytics &amp; Pilotage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292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Tableau de bord CRM : entonnoir de conversion, LTV, taux de rétention, cohortes, prévisions de revenus, alertes automatiques.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66928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Intégrations : Mailchimp  |  Resend  |  WhatsApp Business  |  Google Analytics 4  |  Facebook Pixel  |  OneSignal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MÉTHODES PÉDAGOGIQUES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ORGANISATION DES COURS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 modèle hybride innovant combinant autonomie et accompagnement humain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ORGANISATION DES COURS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51560"/>
            <a:ext cx="361188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3611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COURS ENREGISTRES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Vidéos HD pré-enregistrées 24h/24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Documents PDF complémentaires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Fichiers audio (podcasts spirituels)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Quiz interactifs par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Accès illimité à vie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Suivi automatique de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Sous-titres multilingues (AI)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051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1051560"/>
            <a:ext cx="361188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1078992"/>
            <a:ext cx="3611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SESSIONS EN 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600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Intégration Zoom / Google Meet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Lien dans l'espace membre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4231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Notifications &amp; rappels auto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834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Interaction temps réel (Q&amp;A)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246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Moments de prière collective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657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Coaching en direct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Replays disponibles pour absents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0515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1051560"/>
            <a:ext cx="361188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1078992"/>
            <a:ext cx="3611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PARCOURS PERSONNALISE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Mix vidéos + sessions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Coaching individuel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4231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Coaching de groupe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834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Défis pratiques hebdomadaires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46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Exercices d'application concrets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657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Mentorat personnalisé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Suivi par formateur dédié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749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MODELE HYBRIDE INNOVANT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La combinaison de ces 3 approches garantit une expérience complete, flexible et adaptee à chaque profil. L'apprenant choisit son rythme tout en beneficiant d'un accompagnement humain de qualité.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EVALUATION, SATISFACTION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SUIVI DE PROGRESSION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Mesurer l'impact des formations et accompagner chaque apprenant vers l'excellence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EVALUATION &amp; SATISFACTION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Inscription  &gt;  Formation  &gt;  Évaluation  &gt;  Certificat  &gt;  Temoignage  &gt;  Ambassadeur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Questionnaires 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Apres chaque module et formation, questionnaire de satisfaction envoye automatiquement à l'apprenant.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7830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783080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Notation Étoiles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8600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Chaque formation, formateur et module peut etre note individuellement (1 à 5 étoiles) avec commentaires.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830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783080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920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Rapports Satisfaction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Dashboard admin dédié avec taux de satisfaction, NPS, tendances, alertes automatiques.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Suivi Progression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51959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Barre de progression visuelle (%), badges gamifiés, historique complet, rappels automatiques.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49039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51960" y="3749039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KPI Détaillés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251959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Taux completion, score moyen, rétention abonnes, inscriptions/mois, revenus par formation.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749039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3749039"/>
            <a:ext cx="73152" cy="17830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3886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240"/>
                </a:solidFill>
                <a:latin typeface="Calibri"/>
              </a:defRPr>
            </a:pPr>
            <a:r>
              <a:t>Export &amp; Partage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251959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Export resultats PDF/Excel, certificats partageables LinkedIn, témoignages indexés sur le site.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FONCTIONNALITES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AVANCEES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Les outils qui font la différence pour une académie complete et performante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13716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FONCTIONNALITES AVANCEES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Responsive &amp; PWA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Mobile-first, installable, offline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Certificats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QR code, vérification en ligne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Notifications Smart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Email, push, SMS, rappels auto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05156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105156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118871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Forum Communauté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55448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Échanges, entraide, témoignages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Calendrier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Sessions live, webinaires, conferences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37560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Dashboard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KPI, rapports, stats temps réel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Évaluation &amp; Avis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Étoiles, NPS, questionnaires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256032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52560" y="2560320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89720" y="2697479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Multi-Paiement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06323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Carte, PayPal, Mobile Money, promo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432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79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Sécurité Renforcée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79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SSL, 2FA, RGPD, WAF, DDoS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37560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Défis Spirituels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Exercices pratiques quotidiens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2648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Streaming Video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HLS adaptatif, DRM, multi-qualité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60" y="4069079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052560" y="4069079"/>
            <a:ext cx="27432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89720" y="4206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Email Marketing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4571999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Sequences auto, templates, relances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566928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0C75E"/>
                </a:solidFill>
                <a:latin typeface="Calibri"/>
              </a:defRPr>
            </a:pPr>
            <a:r>
              <a:t>+ Intégration WhatsApp Business  |  Google Analytics 4  |  Zoom SDK  |  Stripe Webhooks  |  Mailchimp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SECURITE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Des standards de sécurité maximaux pour proteger les données et les transactions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SECURITE &amp; PAIEMENTS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12471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HTTPS / SSL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35607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Certificat SSL, chiffrement bout en bout sur tout le 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5156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12471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435607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JWT + 2FA obligatoire pour admin, optionnel pour membres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01168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01168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0848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Protection DDoS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9572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Cloudflare WAF en frontal, rate limiting intelligent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01168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0848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Anti-Injection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9572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Protection SQL injection, XSS, CSRF sur toutes les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7180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04495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Sauvegardes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5584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Backups quotidiens automatiques, rétention 30 jours, 3 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97180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297180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304495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RGPD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Consentement cookies, politique confidentialite, droit à l'oubli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3192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005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31596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Anti brute force, protection abus API, throttling intelligent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31920"/>
            <a:ext cx="548640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3931920"/>
            <a:ext cx="73152" cy="8229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0050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Audit Sécurité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31596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Scan vulnerabilites trimestriel, tests penetration avant prod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983480"/>
            <a:ext cx="11247120" cy="5943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MOYENS DE PAIEMENT SECURISES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2D50"/>
                </a:solidFill>
                <a:latin typeface="Calibri"/>
              </a:defRPr>
            </a:pPr>
            <a:r>
              <a:t>Stripe (3D Secure)  |  PayPal Business  |  Orange Money  |  MTN MoMo  |  Wave  |  Airtel Money  |  Flutterwave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IDENTITE VISUELLE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CHARTE GRAPHIQUE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Une charte graphique premium inspiree de la spiritualite et du leadership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PALETTE DE COULEURS &amp;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#0D2240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Bleu Nuit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Headers, navigation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74519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#1B3A6B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Bleu Royal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Accents principaux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#D4A438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D2240"/>
                </a:solidFill>
                <a:latin typeface="Calibri"/>
              </a:defRPr>
            </a:pPr>
            <a:r>
              <a:t>Or Royal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D2240"/>
                </a:solidFill>
                <a:latin typeface="Calibri"/>
              </a:defRPr>
            </a:pPr>
            <a:r>
              <a:t>Elements premium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#F0C75E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D2240"/>
                </a:solidFill>
                <a:latin typeface="Calibri"/>
              </a:defRPr>
            </a:pPr>
            <a:r>
              <a:t>Or Clair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D2240"/>
                </a:solidFill>
                <a:latin typeface="Calibri"/>
              </a:defRPr>
            </a:pPr>
            <a:r>
              <a:t>CTA, boutons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#0A1628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Nuit Profonde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Fonds sombres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4380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#142842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Marine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Cards sombres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FE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#FEF9ED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D2240"/>
                </a:solidFill>
                <a:latin typeface="Calibri"/>
              </a:defRPr>
            </a:pPr>
            <a:r>
              <a:t>Creme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D2240"/>
                </a:solidFill>
                <a:latin typeface="Calibri"/>
              </a:defRPr>
            </a:pPr>
            <a:r>
              <a:t>Fonds clairs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1051560"/>
            <a:ext cx="128016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78440" y="11430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#1E293B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14630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Ardoise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1783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Textes, footer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7889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0C75E"/>
                </a:solidFill>
                <a:latin typeface="Calibri"/>
              </a:defRPr>
            </a:pPr>
            <a:r>
              <a:t>Typographies :  Georgia (Titres)  |  Inter / Calibri (Corps)  |  Georgia Italic (Citations &amp; accents)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29184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3291840"/>
            <a:ext cx="548640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31927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PRINCIPES DE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7947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Design professionnel, sobre et inspirant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0690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Interface claire et intuitive (UX premium)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Intégration citations &amp; messages inspirants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61772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Responsive design mobile-first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920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Accèssibilité WCAG 2.1 AA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1663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Animations subtiles (Framer Motion)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4406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Hierarchie visuelle forte &amp; espacement généreux</a:t>
            </a:r>
          </a:p>
        </p:txBody>
      </p:sp>
      <p:pic>
        <p:nvPicPr>
          <p:cNvPr id="53" name="Picture 52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91840"/>
            <a:ext cx="2743200" cy="210312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9326880" y="329184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18320" y="33832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t>ENGAGEMENTS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37947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Dark mode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17880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Micro-interactions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562856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Core Web Vitals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4946904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Lighthouse &gt; 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5330952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0C0D0"/>
                </a:solidFill>
                <a:latin typeface="Calibri"/>
              </a:defRPr>
            </a:pPr>
            <a:r>
              <a:t>100% responsive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STACK TECHNIQUE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Des technologies de pointe pour des performances exceptionnelles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ARCHITECTURE DE LA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PRESENTATION (FRONTEND)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Next.js 14+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SSR / SSG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6596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Composants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Animations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0876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53619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78308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Mode Offline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10312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24028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2677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COUCHE METIER (API &amp; BACKEND)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REST / GraphQL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6596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Auth.js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JWT / 2FA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Prisma 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Accès données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204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Bull MQ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Jobs async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69748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272491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297180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2918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D4A438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42900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45643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2240"/>
                </a:solidFill>
                <a:latin typeface="Calibri"/>
              </a:defRPr>
            </a:pPr>
            <a:r>
              <a:t>DONNEES &amp; STOCKAGE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Base relationnelle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2024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596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Cache &amp; sessions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3280" y="3886200"/>
            <a:ext cx="13258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29000" y="3913632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D2240"/>
                </a:solidFill>
                <a:latin typeface="Calibri"/>
              </a:defRPr>
            </a:pPr>
            <a:r>
              <a:t>Mux / Cloudflare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4160520"/>
            <a:ext cx="123443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Video CDN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754880"/>
            <a:ext cx="7315200" cy="3657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47823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0C0D0"/>
                </a:solidFill>
                <a:latin typeface="Calibri"/>
              </a:defRPr>
            </a:pPr>
            <a:r>
              <a:t>SERVICES : Stripe / PayPal / MoMo  |  Resend (emails)  |  Zoom SDK  |  OneSignal (push)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1051560"/>
            <a:ext cx="3840480" cy="47548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600" y="11430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INFRASTRUCTURE &amp; DEVOPS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1554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AWS (EC2, RDS, S3, CloudFront)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190195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Docker + GitHub Actions CI/CD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2249424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Cloudflare CDN &amp; WAF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2596896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Terraform (Infrastructure as Code)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294436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Datadog monitoring 24/7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3291839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Auto-scaling horizontal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363931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Sentry (error tracking)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3986784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Vercel (frontend hosting)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226040" y="3636334"/>
            <a:ext cx="166116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26040" y="3663766"/>
            <a:ext cx="1661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VIDEO &amp; STREAMING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42062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Mux / Cloudflare Stream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450799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HLS adaptive bitrate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4809744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Protection DRM contenu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5111496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Sous-titres auto (Whisper AI)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54132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  Transcodage multi-qualité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66928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Lighthouse &gt; 90   |   &lt; 2s chargement   |   99.9% uptime   |   100% responsive   |   Chrome / Safari / Firefox / Edge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STRATEGIE SEO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REFERENCEMENT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Référencement naturel et technique pour une visibilite maximale sur Google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STRATEGIE SEO &amp; REFERENCEMENT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36118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078992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SEO 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URLs sémantiques propres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Lighthouse &gt;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Schema.org (Course, Org)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Sitemap XML auto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SSR (Next.js)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Core Web Vitals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05156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1051560"/>
            <a:ext cx="36118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51960" y="1078992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SEO CONTENU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Blog optimise (articlés longs)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9659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Pages 2000+ mots par 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37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Multi-langue FR/EN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Rich snippets (FAQ, reviews)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200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Internal linking strategique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11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Contenu evergreen spirituel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051560"/>
            <a:ext cx="36118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1051560"/>
            <a:ext cx="3611880" cy="41148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1078992"/>
            <a:ext cx="3611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MARKETING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Google Analytics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Google Search Console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Facebook Pixel + TikTok Pixel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788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Open Graph / Twitter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2004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Google Tag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611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A/B testing &amp; retargeting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5488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4A438"/>
                </a:solidFill>
                <a:latin typeface="Calibri"/>
              </a:defRPr>
            </a:pPr>
            <a:r>
              <a:t>MOTS-CLÉS CIBLES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formation spirituelle en ligne | leadership chrétien | académie lord lombo | développement personnel chrétien | coaching spirituel | formation leadership afrique | e-learning chrétien francophone | transformation spirituelle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RESEAUX SOCIAUX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MARKETING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Stratégie multi-plateforme pour maximiser la visibilite et l'engagement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STRATEGIE RESEAUX SOCIAUX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Facebook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Communauté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Témoignages, lives, promos,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Inspiration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Photos, Reels, Stories behind-the-scenes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TikTok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Viralité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Vidéos courtes, challenges spirituels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Long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Vlogs, sermons, masterclass gratuites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1051560"/>
            <a:ext cx="2103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01200" y="1051560"/>
            <a:ext cx="21031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0" y="118872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Twitter/X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4A438"/>
                </a:solidFill>
                <a:latin typeface="Calibri"/>
              </a:defRPr>
            </a:pPr>
            <a:r>
              <a:t>Actualités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19202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News, offres flash, threads inspirants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29184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A438"/>
                </a:solidFill>
                <a:latin typeface="Calibri"/>
              </a:defRPr>
            </a:pPr>
            <a:r>
              <a:t>INTEGRATIONS SITE / RESEAUX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9476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Feed Instagram en direct sur la page d'accueil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79476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Boutons de partage sur chaque formation et article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Pixel Facebook + TikTok Pixel + GA4 pour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2062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Widget WhatsApp Business pour contact direct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Retargeting publicitaire multi-plateforme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UTM tracking et attribution des conversions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0292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Partage certificats sur LinkedIn automatique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0292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  Newsletter intégration (Mailchimp / Resend)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PARCOURS UTILISATEUR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EXPERIENCE (UX)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Le chemin complet de l'apprenant, de la découverte à l'impact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PARCOURS 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1732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Découverte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Page d'accueil, vidéo inspirante, apercu formations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9768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Inscription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Formulaire simple, SSO Google/Facebook,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7804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Catalogue, filtres, fiches, avis apprenants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0515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188719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1234439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874519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Paiement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24028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Checkout sécurisé, multi-options, confirmation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41732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1732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Apprentissage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Vidéos, quiz, coaching live, défis pratiques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29768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Progression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Dashboard, barre %, badges, rappels auto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17804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7804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Certification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PDF auto + QR code, partage LinkedIn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352044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058400" y="36576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0" y="37033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D2240"/>
                </a:solidFill>
                <a:latin typeface="Calibri"/>
              </a:defRPr>
            </a:pPr>
            <a:r>
              <a:t>Communauté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19" y="4709160"/>
            <a:ext cx="2514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Forum, témoignages, ambassadeur de la vision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CONTACT &amp;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DEVIS PERSONNALISÉ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Nous sommes à votre écoute pour concrétiser cette vision ensemble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CONTACT &amp; DEVIS PERSONNALISÉ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124712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INFORMATIONS DE 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✉ 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7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contact@messiyagroup.com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☎  Téléphone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3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+33 XX XX XX XX 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⌂  Siège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Messiya Group - Division Digitale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⌖  Site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www.messiyagroup.com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A438"/>
                </a:solidFill>
                <a:latin typeface="Calibri"/>
              </a:defRPr>
            </a:pPr>
            <a:r>
              <a:t>✉ 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0C0D0"/>
                </a:solidFill>
                <a:latin typeface="Calibri"/>
              </a:defRPr>
            </a:pPr>
            <a:r>
              <a:t>+33 XX XX XX XX XX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5120640" cy="8229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2240"/>
                </a:solidFill>
                <a:latin typeface="Calibri"/>
              </a:defRPr>
            </a:pPr>
            <a:r>
              <a:t>PROCHAINE ÉTAPE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A2D50"/>
                </a:solidFill>
                <a:latin typeface="Calibri"/>
              </a:defRPr>
            </a:pPr>
            <a:r>
              <a:t>Planifier un appel de cadrage pour affiner le devis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972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124712"/>
            <a:ext cx="5486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 QUI EST INCLUS DANS LE DEVIS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9164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Maquettes UI/UX complètes (Figma)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29968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Développement frontend &amp;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68296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Intégration CRM &amp; paiements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06624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Système de gestion des formations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4495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Espace membre &amp; dashboard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38328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Sécurité renforcée (SSL, 2FA, RGPD)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21608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SEO technique &amp; référencement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059935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Déploiement &amp; mise en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398264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Formation de l'équipe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36592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3 mois de maintenance inclus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74920"/>
            <a:ext cx="50292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0C0D0"/>
                </a:solidFill>
                <a:latin typeface="Calibri"/>
              </a:defRPr>
            </a:pPr>
            <a:r>
              <a:t>✓  Documentation technique complète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440680"/>
            <a:ext cx="5120640" cy="36576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548640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Devis détaillé sur demande après appel de cadrage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D4A438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1371600" cy="4572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ÉVOLUTIONS FUTURES</a:t>
            </a:r>
          </a:p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&amp;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0C75E"/>
                </a:solidFill>
                <a:latin typeface="Georgia"/>
              </a:defRPr>
            </a:pPr>
            <a:r>
              <a:t>Un plan de livraison structuré et des engagements qualité mesurables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PLAN DE LIVRAISON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63040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rPr dirty="0"/>
              <a:t>Fondation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Maquettes UI/UX Figma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Charte graphique validee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Setup technique 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Design system complet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43400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rPr dirty="0"/>
              <a:t>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0440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Site vitrine complet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Espace membre &amp;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Cours enregistrés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Paiement en ligne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60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0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rPr dirty="0" err="1"/>
              <a:t>Avancee</a:t>
            </a:r>
            <a:endParaRPr dirty="0"/>
          </a:p>
        </p:txBody>
      </p:sp>
      <p:sp>
        <p:nvSpPr>
          <p:cNvPr id="34" name="Rectangle 33"/>
          <p:cNvSpPr/>
          <p:nvPr/>
        </p:nvSpPr>
        <p:spPr>
          <a:xfrm>
            <a:off x="6858000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Sessions live Zoom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Forum communautaire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CRM &amp; analytics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Certificats auto PDF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1051560"/>
            <a:ext cx="26974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104119" y="1143000"/>
            <a:ext cx="594360" cy="594360"/>
          </a:xfrm>
          <a:prstGeom prst="ellipse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19" y="1188720"/>
            <a:ext cx="594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D224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18288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224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214884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A438"/>
                </a:solidFill>
                <a:latin typeface="Calibri"/>
              </a:defRPr>
            </a:pPr>
            <a:r>
              <a:rPr dirty="0" err="1"/>
              <a:t>Lancement</a:t>
            </a:r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9738359" y="2468880"/>
            <a:ext cx="1371600" cy="2743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81159" y="2606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Tests &amp; audit sécurité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9" y="30632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Déploiement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59" y="35204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Formation équipe 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9" y="3977639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  SEO &amp; marketing launch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12064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2240"/>
                </a:solidFill>
                <a:latin typeface="Calibri"/>
              </a:defRPr>
            </a:pPr>
            <a:r>
              <a:t>ENGAGEMENTS :   Lighthouse &gt; 90   |   &lt; 2s chargement   |   99.9% uptime   |   100% responsive   |   Tous navigateurs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B0C0D0"/>
                </a:solidFill>
                <a:latin typeface="Calibri"/>
              </a:defRPr>
            </a:pPr>
            <a:r>
              <a:t>LORD LOMBO ACADEMIE  |  Proposition de Solution Digitale  |  Confidentiel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VALEUR AJOUTEE MESSIYA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777240"/>
            <a:ext cx="137160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0C75E"/>
                </a:solidFill>
                <a:latin typeface="Calibri"/>
              </a:defRPr>
            </a:pPr>
            <a:r>
              <a:t>Ce que nous apportons en plus pour faire la différence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39903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41732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PWA (Progressive Web App)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78308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Application mobile sans telechargement, mode hors-ligne, notifications push pour une expérience native sur mobile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39903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41732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78308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Recommandations personnalisées de formations, sous-titres auto (Whisper AI), chatbot assistant spirituel 24/7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889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86207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8036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Multi-langue &amp; Accèssibilité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4612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Français, Anglais, Lingala + accèssibilité WCAG 2.1 AA pour une portee mondiale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889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78892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86207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88036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Programme de Fidélité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24612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Points de fidélité, badges gamifiés, parrainage avec récompenses automatiques pour les ambassadeurs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5196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432511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4340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Tableau de Bord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70916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Back-office complet : apprenants, formations, paiements, analytics temps réel, rapports de satisfaction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5196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4251960"/>
            <a:ext cx="73152" cy="1280160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325112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A43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34340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Maintenance &amp; Evolution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70916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B0C0D0"/>
                </a:solidFill>
                <a:latin typeface="Calibri"/>
              </a:defRPr>
            </a:pPr>
            <a:r>
              <a:t>Support technique continu, mises à jour sécurité, evolution fonctionnalités, SLA 99.9% garanti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-914400"/>
            <a:ext cx="3657600" cy="36576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029200" cy="50292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D4A43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-731520"/>
            <a:ext cx="2560320" cy="2560320"/>
          </a:xfrm>
          <a:prstGeom prst="ellipse">
            <a:avLst/>
          </a:prstGeom>
          <a:solidFill>
            <a:srgbClr val="F0C7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74320"/>
            <a:ext cx="393192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MERCI POUR</a:t>
            </a:r>
          </a:p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VOTRE CONFIANCE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446540"/>
            <a:ext cx="3017520" cy="36576"/>
          </a:xfrm>
          <a:prstGeom prst="rect">
            <a:avLst/>
          </a:prstGeom>
          <a:solidFill>
            <a:srgbClr val="D4A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D4A438"/>
                </a:solidFill>
                <a:latin typeface="Georgia"/>
              </a:defRPr>
            </a:pPr>
            <a:r>
              <a:t>Lord Lombo Académie x Messiya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0C0D0"/>
                </a:solidFill>
                <a:latin typeface="Calibri"/>
              </a:defRPr>
            </a:pPr>
            <a:r>
              <a:t>Ensemble, faisons de Lord Lombo Académie la référence</a:t>
            </a:r>
          </a:p>
          <a:p>
            <a:pPr algn="ctr">
              <a:defRPr sz="1400" b="0">
                <a:solidFill>
                  <a:srgbClr val="B0C0D0"/>
                </a:solidFill>
                <a:latin typeface="Calibri"/>
              </a:defRPr>
            </a:pPr>
            <a:r>
              <a:t>de la formation spirituelle et du leadership dans l'espace francophone.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76072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58064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Contact : Messiya Group</a:t>
            </a:r>
          </a:p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Division Digitale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651052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CONFIDENTIEL  |  Fevrier 2026  |  Version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3331</Words>
  <Application>Microsoft Macintosh PowerPoint</Application>
  <PresentationFormat>Grand écran</PresentationFormat>
  <Paragraphs>632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MESSIYA GROUP</cp:lastModifiedBy>
  <cp:revision>5</cp:revision>
  <dcterms:created xsi:type="dcterms:W3CDTF">2013-01-27T09:14:16Z</dcterms:created>
  <dcterms:modified xsi:type="dcterms:W3CDTF">2026-02-26T20:20:08Z</dcterms:modified>
  <cp:category/>
</cp:coreProperties>
</file>