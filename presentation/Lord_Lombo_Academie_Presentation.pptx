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D4A43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li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365760"/>
            <a:ext cx="3383280" cy="2468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D4A438"/>
                </a:solidFill>
                <a:latin typeface="Georgia"/>
              </a:defRPr>
            </a:pPr>
            <a:r>
              <a:t>LORD LOMBO ACADEMIE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ADCFC"/>
                </a:solidFill>
                <a:latin typeface="Georgia"/>
              </a:defRPr>
            </a:pPr>
            <a:r>
              <a:t>Plateforme de Formation Spirituelle, Leadership &amp; Developpement Personnel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Arial"/>
              </a:defRPr>
            </a:pPr>
            <a:r>
              <a:t>Proposition Technique &amp; Comprehension des Besoins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760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7788"/>
                </a:solidFill>
                <a:latin typeface="Arial"/>
              </a:defRPr>
            </a:pPr>
            <a:r>
              <a:t>Document Confidentiel  |  Fevrier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ol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Georgia"/>
              </a:defRPr>
            </a:pPr>
            <a:r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D4A43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D2240"/>
                </a:solidFill>
                <a:latin typeface="Calibri"/>
              </a:defRPr>
            </a:pPr>
            <a:r>
              <a:t>01.  Comprehension du Besoin</a:t>
            </a:r>
            <a:br/>
            <a:br/>
            <a:r>
              <a:t>02.  Vision &amp; Objectifs Strategiques</a:t>
            </a:r>
            <a:br/>
            <a:br/>
            <a:r>
              <a:t>03.  Architecture de la Plateforme</a:t>
            </a:r>
            <a:br/>
            <a:br/>
            <a:r>
              <a:t>04.  Modules Fonctionnels</a:t>
            </a:r>
            <a:br/>
            <a:br/>
            <a:r>
              <a:t>05.  Methodes Pedagogiques</a:t>
            </a:r>
            <a:br/>
            <a:br/>
            <a:r>
              <a:t>06.  Fonctionnalites Avancees</a:t>
            </a:r>
            <a:br/>
            <a:br/>
            <a:r>
              <a:t>07.  Securite &amp; Performance</a:t>
            </a:r>
            <a:br/>
            <a:br/>
            <a:r>
              <a:t>08.  Identite Visuelle &amp; Design</a:t>
            </a:r>
            <a:br/>
            <a:br/>
            <a:r>
              <a:t>09.  Technologies &amp; Stack Technique</a:t>
            </a:r>
            <a:br/>
            <a:br/>
            <a:r>
              <a:t>10.  Evolutions Futures &amp; Roadmap</a:t>
            </a:r>
          </a:p>
        </p:txBody>
      </p:sp>
      <p:pic>
        <p:nvPicPr>
          <p:cNvPr id="6" name="Picture 5" descr="logo-clien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828800"/>
            <a:ext cx="27432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4A43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D4A438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COMPREHENSION</a:t>
            </a:r>
            <a:br/>
            <a:r>
              <a:t>DU BESOIN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468880"/>
            <a:ext cx="2743200" cy="36576"/>
          </a:xfrm>
          <a:prstGeom prst="rect">
            <a:avLst/>
          </a:prstGeom>
          <a:solidFill>
            <a:srgbClr val="D4A43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8D0"/>
                </a:solidFill>
                <a:latin typeface="Arial"/>
              </a:defRPr>
            </a:pPr>
            <a:r>
              <a:t>Lord Lombo Academie est un projet de plateforme e-learning premium dediee a la transformation spirituelle, au leadership chretien et au developpement personnel.</a:t>
            </a:r>
            <a:br/>
            <a:br/>
            <a:r>
              <a:t>Elle s'adresse a des individus en quete de croissance interieure, desireux de renforcer leur influence en tant que leaders et d'impacter positivement leur environnement.</a:t>
            </a:r>
            <a:br/>
            <a:br/>
            <a:r>
              <a:t>La plateforme combinera formations video, coaching en direct, parcours personnalises et un systeme de suivi de progression complet.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914400"/>
            <a:ext cx="5029200" cy="4754880"/>
          </a:xfrm>
          <a:prstGeom prst="roundRect">
            <a:avLst/>
          </a:prstGeom>
          <a:solidFill>
            <a:srgbClr val="1A2D50"/>
          </a:solidFill>
          <a:ln>
            <a:solidFill>
              <a:srgbClr val="D4A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1887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438"/>
                </a:solidFill>
                <a:latin typeface="Arial"/>
              </a:defRPr>
            </a:pPr>
            <a:r>
              <a:t>BESOINS IDENTIFIES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82880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Arial"/>
              </a:defRPr>
            </a:pPr>
            <a:r>
              <a:t>  Plateforme d'apprentissage moderne</a:t>
            </a:r>
            <a:br/>
            <a:r>
              <a:t>  et inspirante</a:t>
            </a:r>
            <a:br/>
            <a:br/>
            <a:r>
              <a:t>  Formations spirituelles &amp; leadership</a:t>
            </a:r>
            <a:br/>
            <a:r>
              <a:t>  accessibles en ligne</a:t>
            </a:r>
            <a:br/>
            <a:br/>
            <a:r>
              <a:t>  Systeme d'inscription, paiement &amp;</a:t>
            </a:r>
            <a:br/>
            <a:r>
              <a:t>  suivi securise</a:t>
            </a:r>
            <a:br/>
            <a:br/>
            <a:r>
              <a:t>  Mesure de satisfaction &amp; impact</a:t>
            </a:r>
            <a:br/>
            <a:br/>
            <a:r>
              <a:t>  Communaute engagee autour de la</a:t>
            </a:r>
            <a:br/>
            <a:r>
              <a:t>  vision de Lord Lombo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ol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6B"/>
                </a:solidFill>
                <a:latin typeface="Georgia"/>
              </a:defRPr>
            </a:pPr>
            <a:r>
              <a:t>02  VISION &amp; OBJECTIFS STRATEGIQUES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45720"/>
          </a:xfrm>
          <a:prstGeom prst="rect">
            <a:avLst/>
          </a:prstGeom>
          <a:solidFill>
            <a:srgbClr val="D4A43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474720" cy="2286000"/>
          </a:xfrm>
          <a:prstGeom prst="roundRect">
            <a:avLst/>
          </a:prstGeom>
          <a:solidFill>
            <a:srgbClr val="0D22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438"/>
                </a:solidFill>
                <a:latin typeface="Arial"/>
              </a:defRPr>
            </a:pPr>
            <a:r>
              <a:t>FORMER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8D0"/>
                </a:solidFill>
                <a:latin typeface="Arial"/>
              </a:defRPr>
            </a:pPr>
            <a:r>
              <a:t>Offrir des parcours de formation structurees et certifiantes en croissance spirituelle et leadership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474720" cy="2286000"/>
          </a:xfrm>
          <a:prstGeom prst="roundRect">
            <a:avLst/>
          </a:prstGeom>
          <a:solidFill>
            <a:srgbClr val="0D22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438"/>
                </a:solidFill>
                <a:latin typeface="Arial"/>
              </a:defRPr>
            </a:pPr>
            <a:r>
              <a:t>TRANSFORMER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8D0"/>
                </a:solidFill>
                <a:latin typeface="Arial"/>
              </a:defRPr>
            </a:pPr>
            <a:r>
              <a:t>Accompagner chaque apprenant dans une transformation profonde et durable a travers un suivi personnalise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474720" cy="2286000"/>
          </a:xfrm>
          <a:prstGeom prst="roundRect">
            <a:avLst/>
          </a:prstGeom>
          <a:solidFill>
            <a:srgbClr val="0D22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438"/>
                </a:solidFill>
                <a:latin typeface="Arial"/>
              </a:defRPr>
            </a:pPr>
            <a:r>
              <a:t>IMPACTER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103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8D0"/>
                </a:solidFill>
                <a:latin typeface="Arial"/>
              </a:defRPr>
            </a:pPr>
            <a:r>
              <a:t>Creer une communaute de leaders influents qui impactent positivement leur environnement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114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B3A6B"/>
                </a:solidFill>
                <a:latin typeface="Georgia"/>
              </a:defRPr>
            </a:pPr>
            <a:r>
              <a:t>"Devenir une reference dans l'espace francophone pour la formation spirituelle, le leadership et le developpement personnel."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303520"/>
            <a:ext cx="2103120" cy="36576"/>
          </a:xfrm>
          <a:prstGeom prst="rect">
            <a:avLst/>
          </a:prstGeom>
          <a:solidFill>
            <a:srgbClr val="D4A43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5486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5A5A"/>
                </a:solidFill>
                <a:latin typeface="Georgia"/>
              </a:defRPr>
            </a:pPr>
            <a:r>
              <a:t>Lord Lombo Academie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4A43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03  ARCHITECTURE DE LA PLATEFORME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2743200" cy="36576"/>
          </a:xfrm>
          <a:prstGeom prst="rect">
            <a:avLst/>
          </a:prstGeom>
          <a:solidFill>
            <a:srgbClr val="D4A43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3474720" cy="2286000"/>
          </a:xfrm>
          <a:prstGeom prst="roundRect">
            <a:avLst/>
          </a:prstGeom>
          <a:solidFill>
            <a:srgbClr val="1428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438"/>
                </a:solidFill>
                <a:latin typeface="Arial"/>
              </a:defRPr>
            </a:pPr>
            <a:r>
              <a:t>PAGE D'ACCUEIL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0"/>
                </a:solidFill>
                <a:latin typeface="Arial"/>
              </a:defRPr>
            </a:pPr>
            <a:r>
              <a:t>- Message de bienvenue &amp; vision</a:t>
            </a:r>
            <a:br/>
            <a:r>
              <a:t>- Video inspirante Lord Lombo</a:t>
            </a:r>
            <a:br/>
            <a:r>
              <a:t>- Formations principales</a:t>
            </a:r>
            <a:br/>
            <a:r>
              <a:t>- CTA: parcours transformation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280160"/>
            <a:ext cx="3474720" cy="2286000"/>
          </a:xfrm>
          <a:prstGeom prst="roundRect">
            <a:avLst/>
          </a:prstGeom>
          <a:solidFill>
            <a:srgbClr val="1428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438"/>
                </a:solidFill>
                <a:latin typeface="Arial"/>
              </a:defRPr>
            </a:pPr>
            <a:r>
              <a:t>A PROPOS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9202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0"/>
                </a:solidFill>
                <a:latin typeface="Arial"/>
              </a:defRPr>
            </a:pPr>
            <a:r>
              <a:t>- Presentation Lord Lombo</a:t>
            </a:r>
            <a:br/>
            <a:r>
              <a:t>- Mission &amp; vision</a:t>
            </a:r>
            <a:br/>
            <a:r>
              <a:t>- Histoire de l'academie</a:t>
            </a:r>
            <a:br/>
            <a:r>
              <a:t>- Temoignages apprenants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474720" cy="2286000"/>
          </a:xfrm>
          <a:prstGeom prst="roundRect">
            <a:avLst/>
          </a:prstGeom>
          <a:solidFill>
            <a:srgbClr val="1428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438"/>
                </a:solidFill>
                <a:latin typeface="Arial"/>
              </a:defRPr>
            </a:pPr>
            <a:r>
              <a:t>PROGRAMMES &amp; FORMATIONS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0"/>
                </a:solidFill>
                <a:latin typeface="Arial"/>
              </a:defRPr>
            </a:pPr>
            <a:r>
              <a:t>- Catalogue avec filtres</a:t>
            </a:r>
            <a:br/>
            <a:r>
              <a:t>- Pages detaillees</a:t>
            </a:r>
            <a:br/>
            <a:r>
              <a:t>- Formateur, duree, prix</a:t>
            </a:r>
            <a:br/>
            <a:r>
              <a:t>- Avis &amp; notations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931920"/>
            <a:ext cx="3474720" cy="2286000"/>
          </a:xfrm>
          <a:prstGeom prst="roundRect">
            <a:avLst/>
          </a:prstGeom>
          <a:solidFill>
            <a:srgbClr val="1428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438"/>
                </a:solidFill>
                <a:latin typeface="Arial"/>
              </a:defRPr>
            </a:pPr>
            <a:r>
              <a:t>ESPACE MEMBRE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0"/>
                </a:solidFill>
                <a:latin typeface="Arial"/>
              </a:defRPr>
            </a:pPr>
            <a:r>
              <a:t>- Dashboard personnel</a:t>
            </a:r>
            <a:br/>
            <a:r>
              <a:t>- Suivi progression (%)</a:t>
            </a:r>
            <a:br/>
            <a:r>
              <a:t>- Certificats &amp; attestations</a:t>
            </a:r>
            <a:br/>
            <a:r>
              <a:t>- Espace Defis pratiques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931920"/>
            <a:ext cx="3474720" cy="2286000"/>
          </a:xfrm>
          <a:prstGeom prst="roundRect">
            <a:avLst/>
          </a:prstGeom>
          <a:solidFill>
            <a:srgbClr val="1428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438"/>
                </a:solidFill>
                <a:latin typeface="Arial"/>
              </a:defRPr>
            </a:pPr>
            <a:r>
              <a:t>PAIEMENT EN LIGNE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0"/>
                </a:solidFill>
                <a:latin typeface="Arial"/>
              </a:defRPr>
            </a:pPr>
            <a:r>
              <a:t>- Carte, PayPal, Mobile Money</a:t>
            </a:r>
            <a:br/>
            <a:r>
              <a:t>- Recus &amp; factures auto</a:t>
            </a:r>
            <a:br/>
            <a:r>
              <a:t>- Paiement unitaire</a:t>
            </a:r>
            <a:br/>
            <a:r>
              <a:t>- Abonnement mensuel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931920"/>
            <a:ext cx="3474720" cy="2286000"/>
          </a:xfrm>
          <a:prstGeom prst="roundRect">
            <a:avLst/>
          </a:prstGeom>
          <a:solidFill>
            <a:srgbClr val="1428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438"/>
                </a:solidFill>
                <a:latin typeface="Arial"/>
              </a:defRPr>
            </a:pPr>
            <a:r>
              <a:t>ESPACE ADMINISTRATEUR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0"/>
                </a:solidFill>
                <a:latin typeface="Arial"/>
              </a:defRPr>
            </a:pPr>
            <a:r>
              <a:t>- Gestion utilisateurs</a:t>
            </a:r>
            <a:br/>
            <a:r>
              <a:t>- Ajout/modif programmes</a:t>
            </a:r>
            <a:br/>
            <a:r>
              <a:t>- Statistiques &amp; rapports</a:t>
            </a:r>
            <a:br/>
            <a:r>
              <a:t>- Satisfaction &amp;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ol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6B"/>
                </a:solidFill>
                <a:latin typeface="Georgia"/>
              </a:defRPr>
            </a:pPr>
            <a:r>
              <a:t>04  METHODES PEDAGOGIQUES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45720"/>
          </a:xfrm>
          <a:prstGeom prst="rect">
            <a:avLst/>
          </a:prstGeom>
          <a:solidFill>
            <a:srgbClr val="D4A43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vid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463040"/>
            <a:ext cx="73152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2240"/>
                </a:solidFill>
                <a:latin typeface="Arial"/>
              </a:defRPr>
            </a:pPr>
            <a:r>
              <a:t>COURS ENREGISTRES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5A5A"/>
                </a:solidFill>
                <a:latin typeface="Arial"/>
              </a:defRPr>
            </a:pPr>
            <a:r>
              <a:t>Videos pre-enregistrees 24h/24</a:t>
            </a:r>
            <a:br/>
            <a:r>
              <a:t>Documents PDF, audio, quiz</a:t>
            </a:r>
            <a:br/>
            <a:r>
              <a:t>Acces illimite</a:t>
            </a:r>
            <a:br/>
            <a:r>
              <a:t>Suivi automatique progression</a:t>
            </a:r>
          </a:p>
        </p:txBody>
      </p:sp>
      <p:pic>
        <p:nvPicPr>
          <p:cNvPr id="8" name="Picture 7" descr="icon_l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463040"/>
            <a:ext cx="73152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2240"/>
                </a:solidFill>
                <a:latin typeface="Arial"/>
              </a:defRPr>
            </a:pPr>
            <a:r>
              <a:t>SESSIONS EN DIRECT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7432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5A5A"/>
                </a:solidFill>
                <a:latin typeface="Arial"/>
              </a:defRPr>
            </a:pPr>
            <a:r>
              <a:t>Zoom / Google Meet integre</a:t>
            </a:r>
            <a:br/>
            <a:r>
              <a:t>Notifications &amp; rappels auto</a:t>
            </a:r>
            <a:br/>
            <a:r>
              <a:t>Interaction temps reel</a:t>
            </a:r>
            <a:br/>
            <a:r>
              <a:t>Replays disponibles</a:t>
            </a:r>
          </a:p>
        </p:txBody>
      </p:sp>
      <p:pic>
        <p:nvPicPr>
          <p:cNvPr id="11" name="Picture 10" descr="icon_coach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1463040"/>
            <a:ext cx="731520" cy="731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6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2240"/>
                </a:solidFill>
                <a:latin typeface="Arial"/>
              </a:defRPr>
            </a:pPr>
            <a:r>
              <a:t>PARCOURS PERSONNALISE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7432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5A5A"/>
                </a:solidFill>
                <a:latin typeface="Arial"/>
              </a:defRPr>
            </a:pPr>
            <a:r>
              <a:t>Videos + sessions live</a:t>
            </a:r>
            <a:br/>
            <a:r>
              <a:t>Coaching individuel/groupe</a:t>
            </a:r>
            <a:br/>
            <a:r>
              <a:t>Defis pratiques</a:t>
            </a:r>
            <a:br/>
            <a:r>
              <a:t>Exercices d'application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54880"/>
            <a:ext cx="10332720" cy="1371600"/>
          </a:xfrm>
          <a:prstGeom prst="roundRect">
            <a:avLst/>
          </a:prstGeom>
          <a:solidFill>
            <a:srgbClr val="0D22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02920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0E0E0"/>
                </a:solidFill>
                <a:latin typeface="Arial"/>
              </a:defRPr>
            </a:pPr>
            <a:r>
              <a:t>MODELE HYBRIDE  |  La combinaison de ces 3 approches garantit une experience d'apprentissage complete, flexible et adaptee a chaque profil d'apprenant.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4A43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05  FONCTIONNALITES AVANCEES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2743200" cy="36576"/>
          </a:xfrm>
          <a:prstGeom prst="rect">
            <a:avLst/>
          </a:prstGeom>
          <a:solidFill>
            <a:srgbClr val="D4A43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438"/>
                </a:solidFill>
                <a:latin typeface="Arial"/>
              </a:defRPr>
            </a:pPr>
            <a:r>
              <a:t>Responsive &amp; Mobile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0"/>
                </a:solidFill>
                <a:latin typeface="Arial"/>
              </a:defRPr>
            </a:pPr>
            <a:r>
              <a:t>Interface optimisee tous ecrans</a:t>
            </a:r>
          </a:p>
        </p:txBody>
      </p:sp>
      <p:pic>
        <p:nvPicPr>
          <p:cNvPr id="8" name="Picture 7" descr="icon_c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0"/>
            <a:ext cx="640080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6888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438"/>
                </a:solidFill>
                <a:latin typeface="Arial"/>
              </a:defRPr>
            </a:pPr>
            <a:r>
              <a:t>Certificats Auto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0"/>
                </a:solidFill>
                <a:latin typeface="Arial"/>
              </a:defRPr>
            </a:pPr>
            <a:r>
              <a:t>Generation PDF automatique</a:t>
            </a:r>
          </a:p>
        </p:txBody>
      </p:sp>
      <p:pic>
        <p:nvPicPr>
          <p:cNvPr id="11" name="Picture 10" descr="icon_noti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371600"/>
            <a:ext cx="640080" cy="640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438"/>
                </a:solidFill>
                <a:latin typeface="Arial"/>
              </a:defRPr>
            </a:pPr>
            <a:r>
              <a:t>Notifications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0"/>
                </a:solidFill>
                <a:latin typeface="Arial"/>
              </a:defRPr>
            </a:pPr>
            <a:r>
              <a:t>Email, push, SMS auto</a:t>
            </a:r>
          </a:p>
        </p:txBody>
      </p:sp>
      <p:pic>
        <p:nvPicPr>
          <p:cNvPr id="14" name="Picture 13" descr="icon_foru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371600"/>
            <a:ext cx="640080" cy="6400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438"/>
                </a:solidFill>
                <a:latin typeface="Arial"/>
              </a:defRPr>
            </a:pPr>
            <a:r>
              <a:t>Forum Communaute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0"/>
                </a:solidFill>
                <a:latin typeface="Arial"/>
              </a:defRPr>
            </a:pPr>
            <a:r>
              <a:t>Echanges entre apprenants</a:t>
            </a:r>
          </a:p>
        </p:txBody>
      </p:sp>
      <p:pic>
        <p:nvPicPr>
          <p:cNvPr id="17" name="Picture 16" descr="icon_calend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0" y="1371600"/>
            <a:ext cx="640080" cy="640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77824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438"/>
                </a:solidFill>
                <a:latin typeface="Arial"/>
              </a:defRPr>
            </a:pPr>
            <a:r>
              <a:t>Calendrier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0"/>
                </a:solidFill>
                <a:latin typeface="Arial"/>
              </a:defRPr>
            </a:pPr>
            <a:r>
              <a:t>Sessions live &amp; evenements</a:t>
            </a:r>
          </a:p>
        </p:txBody>
      </p:sp>
      <p:pic>
        <p:nvPicPr>
          <p:cNvPr id="20" name="Picture 19" descr="icon_adm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3200400"/>
            <a:ext cx="640080" cy="6400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576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438"/>
                </a:solidFill>
                <a:latin typeface="Arial"/>
              </a:defRPr>
            </a:pPr>
            <a:r>
              <a:t>Dashboard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297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0"/>
                </a:solidFill>
                <a:latin typeface="Arial"/>
              </a:defRPr>
            </a:pPr>
            <a:r>
              <a:t>KPI, rapports, statistiques</a:t>
            </a:r>
          </a:p>
        </p:txBody>
      </p:sp>
      <p:pic>
        <p:nvPicPr>
          <p:cNvPr id="23" name="Picture 22" descr="icon_st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3200400"/>
            <a:ext cx="640080" cy="6400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46888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438"/>
                </a:solidFill>
                <a:latin typeface="Arial"/>
              </a:defRPr>
            </a:pPr>
            <a:r>
              <a:t>Evaluation &amp; Avis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297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0"/>
                </a:solidFill>
                <a:latin typeface="Arial"/>
              </a:defRPr>
            </a:pPr>
            <a:r>
              <a:t>Notation, questionnaires</a:t>
            </a:r>
          </a:p>
        </p:txBody>
      </p:sp>
      <p:pic>
        <p:nvPicPr>
          <p:cNvPr id="26" name="Picture 25" descr="icon_pa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0" y="3200400"/>
            <a:ext cx="640080" cy="6400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57200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438"/>
                </a:solidFill>
                <a:latin typeface="Arial"/>
              </a:defRPr>
            </a:pPr>
            <a:r>
              <a:t>Paiement Securise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297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0"/>
                </a:solidFill>
                <a:latin typeface="Arial"/>
              </a:defRPr>
            </a:pPr>
            <a:r>
              <a:t>Carte, PayPal, Mobile Money</a:t>
            </a:r>
          </a:p>
        </p:txBody>
      </p:sp>
      <p:pic>
        <p:nvPicPr>
          <p:cNvPr id="29" name="Picture 28" descr="icon_secur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6640" y="3200400"/>
            <a:ext cx="640080" cy="6400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7512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438"/>
                </a:solidFill>
                <a:latin typeface="Arial"/>
              </a:defRPr>
            </a:pPr>
            <a:r>
              <a:t>Securite Renforcee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297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0"/>
                </a:solidFill>
                <a:latin typeface="Arial"/>
              </a:defRPr>
            </a:pPr>
            <a:r>
              <a:t>SSL, 2FA, RGPD compliant</a:t>
            </a:r>
          </a:p>
        </p:txBody>
      </p:sp>
      <p:pic>
        <p:nvPicPr>
          <p:cNvPr id="32" name="Picture 31" descr="icon_spiritu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09760" y="3200400"/>
            <a:ext cx="640080" cy="6400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77824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438"/>
                </a:solidFill>
                <a:latin typeface="Arial"/>
              </a:defRPr>
            </a:pPr>
            <a:r>
              <a:t>Defis Spirituels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4297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0"/>
                </a:solidFill>
                <a:latin typeface="Arial"/>
              </a:defRPr>
            </a:pPr>
            <a:r>
              <a:t>Exercices pratiques &amp; suivi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D4A438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Georgia"/>
              </a:defRPr>
            </a:pPr>
            <a:r>
              <a:t>SECURITE &amp;</a:t>
            </a:r>
            <a:br/>
            <a:r>
              <a:t>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560320"/>
            <a:ext cx="2743200" cy="36576"/>
          </a:xfrm>
          <a:prstGeom prst="rect">
            <a:avLst/>
          </a:prstGeom>
          <a:solidFill>
            <a:srgbClr val="D4A43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926080"/>
            <a:ext cx="5486400" cy="3474720"/>
          </a:xfrm>
          <a:prstGeom prst="roundRect">
            <a:avLst/>
          </a:prstGeom>
          <a:solidFill>
            <a:srgbClr val="0A16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438"/>
                </a:solidFill>
                <a:latin typeface="Arial"/>
              </a:defRPr>
            </a:pPr>
            <a:r>
              <a:t>SECURITE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0"/>
                </a:solidFill>
                <a:latin typeface="Arial"/>
              </a:defRPr>
            </a:pPr>
            <a:r>
              <a:t>  Certificat SSL / HTTPS obligatoire</a:t>
            </a:r>
            <a:br/>
            <a:r>
              <a:t>  Authentification 2FA</a:t>
            </a:r>
            <a:br/>
            <a:r>
              <a:t>  Chiffrement des donnees sensibles</a:t>
            </a:r>
            <a:br/>
            <a:r>
              <a:t>  Protection DDoS &amp; WAF</a:t>
            </a:r>
            <a:br/>
            <a:r>
              <a:t>  Conformite RGPD</a:t>
            </a:r>
            <a:br/>
            <a:r>
              <a:t>  Sauvegardes automatiques quotidiennes</a:t>
            </a:r>
            <a:br/>
            <a:r>
              <a:t>  Audit de securite regulier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926080"/>
            <a:ext cx="5486400" cy="3474720"/>
          </a:xfrm>
          <a:prstGeom prst="roundRect">
            <a:avLst/>
          </a:prstGeom>
          <a:solidFill>
            <a:srgbClr val="0A16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438"/>
                </a:solidFill>
                <a:latin typeface="Arial"/>
              </a:defRPr>
            </a:pPr>
            <a:r>
              <a:t>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657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0"/>
                </a:solidFill>
                <a:latin typeface="Arial"/>
              </a:defRPr>
            </a:pPr>
            <a:r>
              <a:t>  CDN global pour streaming video</a:t>
            </a:r>
            <a:br/>
            <a:r>
              <a:t>  Cache intelligent (Redis)</a:t>
            </a:r>
            <a:br/>
            <a:r>
              <a:t>  Temps de chargement &lt; 2 secondes</a:t>
            </a:r>
            <a:br/>
            <a:r>
              <a:t>  Architecture scalable (Cloud)</a:t>
            </a:r>
            <a:br/>
            <a:r>
              <a:t>  Base de donnees optimisee</a:t>
            </a:r>
            <a:br/>
            <a:r>
              <a:t>  Monitoring 24/7 &amp; alertes</a:t>
            </a:r>
            <a:br/>
            <a:r>
              <a:t>  99.9% de disponibilite garantie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ol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6B"/>
                </a:solidFill>
                <a:latin typeface="Georgia"/>
              </a:defRPr>
            </a:pPr>
            <a:r>
              <a:t>07  IDENTITE VISUELLE &amp;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45720"/>
          </a:xfrm>
          <a:prstGeom prst="rect">
            <a:avLst/>
          </a:prstGeom>
          <a:solidFill>
            <a:srgbClr val="D4A43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2240"/>
                </a:solidFill>
                <a:latin typeface="Arial"/>
              </a:defRPr>
            </a:pPr>
            <a:r>
              <a:t>PALETTE DE COULEURS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371600" cy="1371600"/>
          </a:xfrm>
          <a:prstGeom prst="roundRect">
            <a:avLst/>
          </a:prstGeom>
          <a:solidFill>
            <a:srgbClr val="1B3A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  <a:latin typeface="Arial"/>
              </a:defRPr>
            </a:pPr>
            <a:r>
              <a:t>Bleu Royal</a:t>
            </a:r>
            <a:br/>
            <a:r>
              <a:t>#1B3A6B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828800"/>
            <a:ext cx="1371600" cy="1371600"/>
          </a:xfrm>
          <a:prstGeom prst="roundRect">
            <a:avLst/>
          </a:prstGeom>
          <a:solidFill>
            <a:srgbClr val="D4A43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32918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  <a:latin typeface="Arial"/>
              </a:defRPr>
            </a:pPr>
            <a:r>
              <a:t>Or</a:t>
            </a:r>
            <a:br/>
            <a:r>
              <a:t>#D4A438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1828800"/>
            <a:ext cx="1371600" cy="1371600"/>
          </a:xfrm>
          <a:prstGeom prst="roundRect">
            <a:avLst/>
          </a:prstGeom>
          <a:solidFill>
            <a:srgbClr val="0D22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32918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  <a:latin typeface="Arial"/>
              </a:defRPr>
            </a:pPr>
            <a:r>
              <a:t>Marine</a:t>
            </a:r>
            <a:br/>
            <a:r>
              <a:t>#0D2240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828800"/>
            <a:ext cx="1371600" cy="1371600"/>
          </a:xfrm>
          <a:prstGeom prst="roundRect">
            <a:avLst/>
          </a:prstGeom>
          <a:solidFill>
            <a:srgbClr val="F0C7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32918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  <a:latin typeface="Arial"/>
              </a:defRPr>
            </a:pPr>
            <a:r>
              <a:t>Or Clair</a:t>
            </a:r>
            <a:br/>
            <a:r>
              <a:t>#F0C75E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828800"/>
            <a:ext cx="1371600" cy="1371600"/>
          </a:xfrm>
          <a:prstGeom prst="roundRect">
            <a:avLst/>
          </a:prstGeom>
          <a:solidFill>
            <a:srgbClr val="F8F6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32918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  <a:latin typeface="Arial"/>
              </a:defRPr>
            </a:pPr>
            <a:r>
              <a:t>Creme</a:t>
            </a:r>
            <a:br/>
            <a:r>
              <a:t>#F8F6F0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2240"/>
                </a:solidFill>
                <a:latin typeface="Arial"/>
              </a:defRPr>
            </a:pPr>
            <a:r>
              <a:t>TYPOGRAPHIES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5A"/>
                </a:solidFill>
                <a:latin typeface="Arial"/>
              </a:defRPr>
            </a:pPr>
            <a:r>
              <a:t>Titres: Georgia (serif elegant, inspiration classique)</a:t>
            </a:r>
            <a:br/>
            <a:r>
              <a:t>Corps: Calibri / Inter (lisibilite moderne)</a:t>
            </a:r>
            <a:br/>
            <a:r>
              <a:t>Accents: Italic serif pour citations inspirantes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2240"/>
                </a:solidFill>
                <a:latin typeface="Arial"/>
              </a:defRPr>
            </a:pPr>
            <a:r>
              <a:t>PRINCIPES DE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72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5A"/>
                </a:solidFill>
                <a:latin typeface="Arial"/>
              </a:defRPr>
            </a:pPr>
            <a:r>
              <a:t>Design professionnel, sobre et inspirant</a:t>
            </a:r>
            <a:br/>
            <a:r>
              <a:t>Interface claire et intuitive</a:t>
            </a:r>
            <a:br/>
            <a:r>
              <a:t>Integration citations inspirantes</a:t>
            </a:r>
            <a:br/>
            <a:r>
              <a:t>Responsive design (mobile-first)</a:t>
            </a:r>
            <a:br/>
            <a:r>
              <a:t>Accessibilite WCAG 2.1 AA</a:t>
            </a:r>
          </a:p>
        </p:txBody>
      </p:sp>
      <p:pic>
        <p:nvPicPr>
          <p:cNvPr id="20" name="Picture 19" descr="logo-clien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371600"/>
            <a:ext cx="22860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4A43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08  TECHNOLOGIES &amp; STACK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2743200" cy="36576"/>
          </a:xfrm>
          <a:prstGeom prst="rect">
            <a:avLst/>
          </a:prstGeom>
          <a:solidFill>
            <a:srgbClr val="D4A43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3657600" cy="2286000"/>
          </a:xfrm>
          <a:prstGeom prst="roundRect">
            <a:avLst/>
          </a:prstGeom>
          <a:solidFill>
            <a:srgbClr val="1428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438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Arial"/>
              </a:defRPr>
            </a:pPr>
            <a:r>
              <a:t>Next.js 14+ (React)</a:t>
            </a:r>
            <a:br/>
            <a:r>
              <a:t>TypeScript</a:t>
            </a:r>
            <a:br/>
            <a:r>
              <a:t>Tailwind CSS</a:t>
            </a:r>
            <a:br/>
            <a:r>
              <a:t>Framer Motion (animations)</a:t>
            </a:r>
            <a:br/>
            <a:r>
              <a:t>PWA Ready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657600" cy="2286000"/>
          </a:xfrm>
          <a:prstGeom prst="roundRect">
            <a:avLst/>
          </a:prstGeom>
          <a:solidFill>
            <a:srgbClr val="1428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438"/>
                </a:solidFill>
                <a:latin typeface="Arial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Arial"/>
              </a:defRPr>
            </a:pPr>
            <a:r>
              <a:t>Node.js / NestJS</a:t>
            </a:r>
            <a:br/>
            <a:r>
              <a:t>PostgreSQL + Redis</a:t>
            </a:r>
            <a:br/>
            <a:r>
              <a:t>Prisma ORM</a:t>
            </a:r>
            <a:br/>
            <a:r>
              <a:t>API REST &amp; GraphQL</a:t>
            </a:r>
            <a:br/>
            <a:r>
              <a:t>WebSocket (temps reel)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657600" cy="2286000"/>
          </a:xfrm>
          <a:prstGeom prst="roundRect">
            <a:avLst/>
          </a:prstGeom>
          <a:solidFill>
            <a:srgbClr val="1428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438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92024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Arial"/>
              </a:defRPr>
            </a:pPr>
            <a:r>
              <a:t>AWS / Vercel (Cloud)</a:t>
            </a:r>
            <a:br/>
            <a:r>
              <a:t>Docker &amp; CI/CD</a:t>
            </a:r>
            <a:br/>
            <a:r>
              <a:t>Cloudflare CDN</a:t>
            </a:r>
            <a:br/>
            <a:r>
              <a:t>S3 (stockage media)</a:t>
            </a:r>
            <a:br/>
            <a:r>
              <a:t>Monitoring Datadog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931920"/>
            <a:ext cx="3657600" cy="2286000"/>
          </a:xfrm>
          <a:prstGeom prst="roundRect">
            <a:avLst/>
          </a:prstGeom>
          <a:solidFill>
            <a:srgbClr val="1428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438"/>
                </a:solidFill>
                <a:latin typeface="Arial"/>
              </a:defRPr>
            </a:pPr>
            <a:r>
              <a:t>PAIEMENTS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720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Arial"/>
              </a:defRPr>
            </a:pPr>
            <a:r>
              <a:t>Stripe (Carte bancaire)</a:t>
            </a:r>
            <a:br/>
            <a:r>
              <a:t>PayPal Business</a:t>
            </a:r>
            <a:br/>
            <a:r>
              <a:t>Mobile Money API</a:t>
            </a:r>
            <a:br/>
            <a:r>
              <a:t>Facturation automatique</a:t>
            </a:r>
            <a:br/>
            <a:r>
              <a:t>Webhooks securises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931920"/>
            <a:ext cx="3657600" cy="2286000"/>
          </a:xfrm>
          <a:prstGeom prst="roundRect">
            <a:avLst/>
          </a:prstGeom>
          <a:solidFill>
            <a:srgbClr val="1428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114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438"/>
                </a:solidFill>
                <a:latin typeface="Arial"/>
              </a:defRPr>
            </a:pPr>
            <a:r>
              <a:t>SEO &amp; REFERENCEMENT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5720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Arial"/>
              </a:defRPr>
            </a:pPr>
            <a:r>
              <a:t>SSR &amp; SSG (Next.js)</a:t>
            </a:r>
            <a:br/>
            <a:r>
              <a:t>Schema.org structuree</a:t>
            </a:r>
            <a:br/>
            <a:r>
              <a:t>Sitemap &amp; robots.txt</a:t>
            </a:r>
            <a:br/>
            <a:r>
              <a:t>Open Graph &amp; Twitter Cards</a:t>
            </a:r>
            <a:br/>
            <a:r>
              <a:t>Google Analytics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931920"/>
            <a:ext cx="3657600" cy="2286000"/>
          </a:xfrm>
          <a:prstGeom prst="roundRect">
            <a:avLst/>
          </a:prstGeom>
          <a:solidFill>
            <a:srgbClr val="1428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114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438"/>
                </a:solidFill>
                <a:latin typeface="Arial"/>
              </a:defRPr>
            </a:pPr>
            <a:r>
              <a:t>VIDEO &amp; STREAMING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5720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Arial"/>
              </a:defRPr>
            </a:pPr>
            <a:r>
              <a:t>Mux / Cloudflare Stream</a:t>
            </a:r>
            <a:br/>
            <a:r>
              <a:t>HLS adaptive bitrate</a:t>
            </a:r>
            <a:br/>
            <a:r>
              <a:t>Protection DRM contenu</a:t>
            </a:r>
            <a:br/>
            <a:r>
              <a:t>Zoom SDK integration</a:t>
            </a:r>
            <a:br/>
            <a:r>
              <a:t>Transcodage automatique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ol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6B"/>
                </a:solidFill>
                <a:latin typeface="Georgia"/>
              </a:defRPr>
            </a:pPr>
            <a:r>
              <a:t>09  EVOLUTIONS FUTURES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45720"/>
          </a:xfrm>
          <a:prstGeom prst="rect">
            <a:avLst/>
          </a:prstGeom>
          <a:solidFill>
            <a:srgbClr val="D4A43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743200" cy="3657600"/>
          </a:xfrm>
          <a:prstGeom prst="roundRect">
            <a:avLst/>
          </a:prstGeom>
          <a:solidFill>
            <a:srgbClr val="0D22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438"/>
                </a:solidFill>
                <a:latin typeface="Arial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MVP &amp; Lancement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8D0"/>
                </a:solidFill>
                <a:latin typeface="Arial"/>
              </a:defRPr>
            </a:pPr>
            <a:r>
              <a:t>Site web complet</a:t>
            </a:r>
            <a:br/>
            <a:r>
              <a:t>Espace membre</a:t>
            </a:r>
            <a:br/>
            <a:r>
              <a:t>Paiement en ligne</a:t>
            </a:r>
            <a:br/>
            <a:r>
              <a:t>Cours enregistres</a:t>
            </a:r>
            <a:br/>
            <a:r>
              <a:t>Dashboard 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71600"/>
            <a:ext cx="2743200" cy="3657600"/>
          </a:xfrm>
          <a:prstGeom prst="roundRect">
            <a:avLst/>
          </a:prstGeom>
          <a:solidFill>
            <a:srgbClr val="0D22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438"/>
                </a:solidFill>
                <a:latin typeface="Arial"/>
              </a:defRPr>
            </a:pPr>
            <a: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Enrichissement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5603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8D0"/>
                </a:solidFill>
                <a:latin typeface="Arial"/>
              </a:defRPr>
            </a:pPr>
            <a:r>
              <a:t>Sessions live Zoom</a:t>
            </a:r>
            <a:br/>
            <a:r>
              <a:t>Forum communautaire</a:t>
            </a:r>
            <a:br/>
            <a:r>
              <a:t>Certificats auto</a:t>
            </a:r>
            <a:br/>
            <a:r>
              <a:t>Notifications avancees</a:t>
            </a:r>
            <a:br/>
            <a:r>
              <a:t>Calendrier events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371600"/>
            <a:ext cx="2743200" cy="3657600"/>
          </a:xfrm>
          <a:prstGeom prst="roundRect">
            <a:avLst/>
          </a:prstGeom>
          <a:solidFill>
            <a:srgbClr val="0D22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438"/>
                </a:solidFill>
                <a:latin typeface="Arial"/>
              </a:defRPr>
            </a:pPr>
            <a: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Expansion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5603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C8D0"/>
                </a:solidFill>
                <a:latin typeface="Arial"/>
              </a:defRPr>
            </a:pPr>
            <a:r>
              <a:t>App mobile iOS/Android</a:t>
            </a:r>
            <a:br/>
            <a:r>
              <a:t>Programme mentorat</a:t>
            </a:r>
            <a:br/>
            <a:r>
              <a:t>Systeme affiliation</a:t>
            </a:r>
            <a:br/>
            <a:r>
              <a:t>IA recommandations</a:t>
            </a:r>
            <a:br/>
            <a:r>
              <a:t>Multi-langue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371600"/>
            <a:ext cx="2286000" cy="3657600"/>
          </a:xfrm>
          <a:prstGeom prst="roundRect">
            <a:avLst/>
          </a:prstGeom>
          <a:solidFill>
            <a:srgbClr val="D4A43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2240"/>
                </a:solidFill>
                <a:latin typeface="Arial"/>
              </a:defRPr>
            </a:pPr>
            <a:r>
              <a:t>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2240"/>
                </a:solidFill>
                <a:latin typeface="Arial"/>
              </a:defRPr>
            </a:pPr>
            <a:r>
              <a:t>Reference</a:t>
            </a:r>
            <a:br/>
            <a:r>
              <a:t>Francophone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651760"/>
            <a:ext cx="2103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2D50"/>
                </a:solidFill>
                <a:latin typeface="Arial"/>
              </a:defRPr>
            </a:pPr>
            <a:r>
              <a:t>Ecosysteme complet de formation spirituelle &amp; leadership en Afrique et dans la diaspora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D4A43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li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457200"/>
            <a:ext cx="3383280" cy="2468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438"/>
                </a:solidFill>
                <a:latin typeface="Georgia"/>
              </a:defRPr>
            </a:pPr>
            <a:r>
              <a:t>LORD LOMBO ACADEMIE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ADCFC"/>
                </a:solidFill>
                <a:latin typeface="Georgia"/>
              </a:defRPr>
            </a:pPr>
            <a:r>
              <a:t>Transformation  -  Leadership  - 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D4A43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8463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B0C0"/>
                </a:solidFill>
                <a:latin typeface="Arial"/>
              </a:defRPr>
            </a:pPr>
            <a:r>
              <a:t>Prets a batir ensemble une plateforme d'excellence</a:t>
            </a:r>
            <a:br/>
            <a:r>
              <a:t>qui transformera des vies.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760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438"/>
                </a:solidFill>
                <a:latin typeface="Arial"/>
              </a:defRPr>
            </a:pPr>
            <a:r>
              <a:t>MERCI POUR VOTRE CONFIANCE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