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14.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9.png"/><Relationship Id="rId8" Type="http://schemas.openxmlformats.org/officeDocument/2006/relationships/image" Target="../media/image23.png"/><Relationship Id="rId9" Type="http://schemas.openxmlformats.org/officeDocument/2006/relationships/image" Target="../media/image14.png"/><Relationship Id="rId10" Type="http://schemas.openxmlformats.org/officeDocument/2006/relationships/image" Target="../media/image8.png"/><Relationship Id="rId11"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lient.jpeg"/>
          <p:cNvPicPr>
            <a:picLocks noChangeAspect="1"/>
          </p:cNvPicPr>
          <p:nvPr/>
        </p:nvPicPr>
        <p:blipFill>
          <a:blip r:embed="rId2"/>
          <a:stretch>
            <a:fillRect/>
          </a:stretch>
        </p:blipFill>
        <p:spPr>
          <a:xfrm>
            <a:off x="4114800" y="274320"/>
            <a:ext cx="3931920" cy="2834640"/>
          </a:xfrm>
          <a:prstGeom prst="rect">
            <a:avLst/>
          </a:prstGeom>
        </p:spPr>
      </p:pic>
      <p:sp>
        <p:nvSpPr>
          <p:cNvPr id="4" name="Rectangle 3"/>
          <p:cNvSpPr/>
          <p:nvPr/>
        </p:nvSpPr>
        <p:spPr>
          <a:xfrm>
            <a:off x="914400" y="3200400"/>
            <a:ext cx="10332720"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474720"/>
            <a:ext cx="11247120" cy="914400"/>
          </a:xfrm>
          <a:prstGeom prst="rect">
            <a:avLst/>
          </a:prstGeom>
          <a:noFill/>
        </p:spPr>
        <p:txBody>
          <a:bodyPr wrap="square">
            <a:spAutoFit/>
          </a:bodyPr>
          <a:lstStyle/>
          <a:p>
            <a:pPr algn="ctr">
              <a:defRPr sz="4400" b="1">
                <a:solidFill>
                  <a:srgbClr val="D4A438"/>
                </a:solidFill>
                <a:latin typeface="Georgia"/>
              </a:defRPr>
            </a:pPr>
            <a:r>
              <a:t>LORD LOMBO ACADEMIE</a:t>
            </a:r>
          </a:p>
        </p:txBody>
      </p:sp>
      <p:sp>
        <p:nvSpPr>
          <p:cNvPr id="6" name="TextBox 5"/>
          <p:cNvSpPr txBox="1"/>
          <p:nvPr/>
        </p:nvSpPr>
        <p:spPr>
          <a:xfrm>
            <a:off x="1371600" y="4389120"/>
            <a:ext cx="9418320" cy="822960"/>
          </a:xfrm>
          <a:prstGeom prst="rect">
            <a:avLst/>
          </a:prstGeom>
          <a:noFill/>
        </p:spPr>
        <p:txBody>
          <a:bodyPr wrap="square">
            <a:spAutoFit/>
          </a:bodyPr>
          <a:lstStyle/>
          <a:p>
            <a:pPr algn="ctr">
              <a:defRPr sz="1800" b="0">
                <a:solidFill>
                  <a:srgbClr val="CADCFC"/>
                </a:solidFill>
                <a:latin typeface="Georgia"/>
              </a:defRPr>
            </a:pPr>
            <a:r>
              <a:t>Plateforme de Formation Spirituelle, Leadership</a:t>
            </a:r>
            <a:br/>
            <a:r>
              <a:t>&amp; Developpement Personnel</a:t>
            </a:r>
          </a:p>
        </p:txBody>
      </p:sp>
      <p:sp>
        <p:nvSpPr>
          <p:cNvPr id="7" name="Rectangle 6"/>
          <p:cNvSpPr/>
          <p:nvPr/>
        </p:nvSpPr>
        <p:spPr>
          <a:xfrm>
            <a:off x="4572000" y="5394960"/>
            <a:ext cx="301752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577840"/>
            <a:ext cx="10332720" cy="457200"/>
          </a:xfrm>
          <a:prstGeom prst="rect">
            <a:avLst/>
          </a:prstGeom>
          <a:noFill/>
        </p:spPr>
        <p:txBody>
          <a:bodyPr wrap="square">
            <a:spAutoFit/>
          </a:bodyPr>
          <a:lstStyle/>
          <a:p>
            <a:pPr algn="ctr">
              <a:defRPr sz="1300" b="0">
                <a:solidFill>
                  <a:srgbClr val="8899AA"/>
                </a:solidFill>
                <a:latin typeface="Arial"/>
              </a:defRPr>
            </a:pPr>
            <a:r>
              <a:t>PROPOSITION TECHNIQUE &amp; COMPREHENSION DES BESOINS</a:t>
            </a:r>
          </a:p>
        </p:txBody>
      </p:sp>
      <p:sp>
        <p:nvSpPr>
          <p:cNvPr id="9" name="TextBox 8"/>
          <p:cNvSpPr txBox="1"/>
          <p:nvPr/>
        </p:nvSpPr>
        <p:spPr>
          <a:xfrm>
            <a:off x="914400" y="6126480"/>
            <a:ext cx="10332720" cy="365760"/>
          </a:xfrm>
          <a:prstGeom prst="rect">
            <a:avLst/>
          </a:prstGeom>
          <a:noFill/>
        </p:spPr>
        <p:txBody>
          <a:bodyPr wrap="square">
            <a:spAutoFit/>
          </a:bodyPr>
          <a:lstStyle/>
          <a:p>
            <a:pPr algn="ctr">
              <a:defRPr sz="1100" b="0">
                <a:solidFill>
                  <a:srgbClr val="667788"/>
                </a:solidFill>
                <a:latin typeface="Arial"/>
              </a:defRPr>
            </a:pPr>
            <a:r>
              <a:t>Document Confidentiel  |  Fevrier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old_line_v2.png"/>
          <p:cNvPicPr>
            <a:picLocks noChangeAspect="1"/>
          </p:cNvPicPr>
          <p:nvPr/>
        </p:nvPicPr>
        <p:blipFill>
          <a:blip r:embed="rId2"/>
          <a:stretch>
            <a:fillRect/>
          </a:stretch>
        </p:blipFill>
        <p:spPr>
          <a:xfrm>
            <a:off x="0" y="0"/>
            <a:ext cx="12191695" cy="54864"/>
          </a:xfrm>
          <a:prstGeom prst="rect">
            <a:avLst/>
          </a:prstGeom>
        </p:spPr>
      </p:pic>
      <p:sp>
        <p:nvSpPr>
          <p:cNvPr id="3" name="Rectangle 2"/>
          <p:cNvSpPr/>
          <p:nvPr/>
        </p:nvSpPr>
        <p:spPr>
          <a:xfrm>
            <a:off x="0" y="6803136"/>
            <a:ext cx="12191695"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731520"/>
          </a:xfrm>
          <a:prstGeom prst="rect">
            <a:avLst/>
          </a:prstGeom>
          <a:noFill/>
        </p:spPr>
        <p:txBody>
          <a:bodyPr wrap="square">
            <a:spAutoFit/>
          </a:bodyPr>
          <a:lstStyle/>
          <a:p>
            <a:pPr algn="l">
              <a:defRPr sz="3400" b="1">
                <a:solidFill>
                  <a:srgbClr val="D4A438"/>
                </a:solidFill>
                <a:latin typeface="Georgia"/>
              </a:defRPr>
            </a:pPr>
            <a:r>
              <a:t>SOMMAIRE</a:t>
            </a:r>
          </a:p>
        </p:txBody>
      </p:sp>
      <p:sp>
        <p:nvSpPr>
          <p:cNvPr id="5" name="Rectangle 4"/>
          <p:cNvSpPr/>
          <p:nvPr/>
        </p:nvSpPr>
        <p:spPr>
          <a:xfrm>
            <a:off x="731520" y="960120"/>
            <a:ext cx="2286000" cy="4572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45920"/>
            <a:ext cx="4572000" cy="4389120"/>
          </a:xfrm>
          <a:prstGeom prst="rect">
            <a:avLst/>
          </a:prstGeom>
          <a:noFill/>
        </p:spPr>
        <p:txBody>
          <a:bodyPr wrap="square">
            <a:spAutoFit/>
          </a:bodyPr>
          <a:lstStyle/>
          <a:p>
            <a:pPr algn="l">
              <a:defRPr sz="1500" b="0">
                <a:solidFill>
                  <a:srgbClr val="C8D0D8"/>
                </a:solidFill>
                <a:latin typeface="Arial"/>
              </a:defRPr>
            </a:pPr>
            <a:r>
              <a:t>01   Comprehension du Besoin</a:t>
            </a:r>
            <a:br/>
            <a:br/>
            <a:r>
              <a:t>02   Vision &amp; Objectifs Strategiques</a:t>
            </a:r>
            <a:br/>
            <a:br/>
            <a:r>
              <a:t>03   Valeurs Ajoutees de Notre Solution</a:t>
            </a:r>
            <a:br/>
            <a:br/>
            <a:r>
              <a:t>04   Architecture de la Plateforme</a:t>
            </a:r>
            <a:br/>
            <a:br/>
            <a:r>
              <a:t>05   Modules Fonctionnels Detailles</a:t>
            </a:r>
            <a:br/>
            <a:br/>
            <a:r>
              <a:t>06   Methodes Pedagogiques</a:t>
            </a:r>
            <a:br/>
            <a:br/>
            <a:r>
              <a:t>07   Fonctionnalites Avancees</a:t>
            </a:r>
          </a:p>
        </p:txBody>
      </p:sp>
      <p:sp>
        <p:nvSpPr>
          <p:cNvPr id="8" name="Rounded Rectangle 7"/>
          <p:cNvSpPr/>
          <p:nvPr/>
        </p:nvSpPr>
        <p:spPr>
          <a:xfrm>
            <a:off x="6217920" y="1371600"/>
            <a:ext cx="5303520" cy="484632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645920"/>
            <a:ext cx="4572000" cy="4389120"/>
          </a:xfrm>
          <a:prstGeom prst="rect">
            <a:avLst/>
          </a:prstGeom>
          <a:noFill/>
        </p:spPr>
        <p:txBody>
          <a:bodyPr wrap="square">
            <a:spAutoFit/>
          </a:bodyPr>
          <a:lstStyle/>
          <a:p>
            <a:pPr algn="l">
              <a:defRPr sz="1500" b="0">
                <a:solidFill>
                  <a:srgbClr val="C8D0D8"/>
                </a:solidFill>
                <a:latin typeface="Arial"/>
              </a:defRPr>
            </a:pPr>
            <a:r>
              <a:t>08   Securite &amp; Performance</a:t>
            </a:r>
            <a:br/>
            <a:br/>
            <a:r>
              <a:t>09   Identite Visuelle &amp; Design</a:t>
            </a:r>
            <a:br/>
            <a:br/>
            <a:r>
              <a:t>10   Technologies &amp; Stack Technique</a:t>
            </a:r>
            <a:br/>
            <a:br/>
            <a:r>
              <a:t>11   SEO &amp; Referencement</a:t>
            </a:r>
            <a:br/>
            <a:br/>
            <a:r>
              <a:t>12   Parcours Utilisateur (UX)</a:t>
            </a:r>
            <a:br/>
            <a:br/>
            <a:r>
              <a:t>13   Evolutions Futures &amp; Roadmap</a:t>
            </a:r>
            <a:br/>
            <a:br/>
            <a:r>
              <a:t>14   Pourquoi Nous Choisir</a:t>
            </a:r>
          </a:p>
        </p:txBody>
      </p:sp>
      <p:pic>
        <p:nvPicPr>
          <p:cNvPr id="10" name="Picture 9" descr="logo-client.jpeg"/>
          <p:cNvPicPr>
            <a:picLocks noChangeAspect="1"/>
          </p:cNvPicPr>
          <p:nvPr/>
        </p:nvPicPr>
        <p:blipFill>
          <a:blip r:embed="rId3"/>
          <a:stretch>
            <a:fillRect/>
          </a:stretch>
        </p:blipFill>
        <p:spPr>
          <a:xfrm>
            <a:off x="4937760" y="5029200"/>
            <a:ext cx="2286000" cy="10972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371600" cy="731520"/>
          </a:xfrm>
          <a:prstGeom prst="rect">
            <a:avLst/>
          </a:prstGeom>
          <a:noFill/>
        </p:spPr>
        <p:txBody>
          <a:bodyPr wrap="square">
            <a:spAutoFit/>
          </a:bodyPr>
          <a:lstStyle/>
          <a:p>
            <a:pPr algn="l">
              <a:defRPr sz="4800" b="1">
                <a:solidFill>
                  <a:srgbClr val="D4A438"/>
                </a:solidFill>
                <a:latin typeface="Georgia"/>
              </a:defRPr>
            </a:pPr>
            <a:r>
              <a:t>01</a:t>
            </a:r>
          </a:p>
        </p:txBody>
      </p:sp>
      <p:sp>
        <p:nvSpPr>
          <p:cNvPr id="4" name="TextBox 3"/>
          <p:cNvSpPr txBox="1"/>
          <p:nvPr/>
        </p:nvSpPr>
        <p:spPr>
          <a:xfrm>
            <a:off x="1828800" y="274320"/>
            <a:ext cx="9144000" cy="640080"/>
          </a:xfrm>
          <a:prstGeom prst="rect">
            <a:avLst/>
          </a:prstGeom>
          <a:noFill/>
        </p:spPr>
        <p:txBody>
          <a:bodyPr wrap="square">
            <a:spAutoFit/>
          </a:bodyPr>
          <a:lstStyle/>
          <a:p>
            <a:pPr algn="l">
              <a:defRPr sz="2600" b="1">
                <a:solidFill>
                  <a:srgbClr val="FFFFFF"/>
                </a:solidFill>
                <a:latin typeface="Georgia"/>
              </a:defRPr>
            </a:pPr>
            <a:r>
              <a:t>COMPREHENSION DU BESOIN</a:t>
            </a:r>
          </a:p>
        </p:txBody>
      </p:sp>
      <p:sp>
        <p:nvSpPr>
          <p:cNvPr id="5" name="Rectangle 4"/>
          <p:cNvSpPr/>
          <p:nvPr/>
        </p:nvSpPr>
        <p:spPr>
          <a:xfrm>
            <a:off x="1828800" y="86868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188720"/>
            <a:ext cx="5669280" cy="27432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1828800" cy="365760"/>
          </a:xfrm>
          <a:prstGeom prst="rect">
            <a:avLst/>
          </a:prstGeom>
          <a:noFill/>
        </p:spPr>
        <p:txBody>
          <a:bodyPr wrap="square">
            <a:spAutoFit/>
          </a:bodyPr>
          <a:lstStyle/>
          <a:p>
            <a:pPr algn="l">
              <a:defRPr sz="1400" b="1">
                <a:solidFill>
                  <a:srgbClr val="D4A438"/>
                </a:solidFill>
                <a:latin typeface="Arial"/>
              </a:defRPr>
            </a:pPr>
            <a:r>
              <a:t>LE PROJET</a:t>
            </a:r>
          </a:p>
        </p:txBody>
      </p:sp>
      <p:sp>
        <p:nvSpPr>
          <p:cNvPr id="8" name="TextBox 7"/>
          <p:cNvSpPr txBox="1"/>
          <p:nvPr/>
        </p:nvSpPr>
        <p:spPr>
          <a:xfrm>
            <a:off x="548640" y="1828800"/>
            <a:ext cx="5120640" cy="1828800"/>
          </a:xfrm>
          <a:prstGeom prst="rect">
            <a:avLst/>
          </a:prstGeom>
          <a:noFill/>
        </p:spPr>
        <p:txBody>
          <a:bodyPr wrap="square">
            <a:spAutoFit/>
          </a:bodyPr>
          <a:lstStyle/>
          <a:p>
            <a:pPr algn="l">
              <a:defRPr sz="1200" b="0">
                <a:solidFill>
                  <a:srgbClr val="B0B8C0"/>
                </a:solidFill>
                <a:latin typeface="Arial"/>
              </a:defRPr>
            </a:pPr>
            <a:r>
              <a:t>Lord Lombo Academie est une plateforme e-learning premium dediee a la transformation spirituelle, au leadership chretien et au developpement personnel. Elle accompagne des individus dans leur croissance interieure, renforce leur influence en tant que leaders et leur permet d'impacter positivement leur environnement.</a:t>
            </a:r>
          </a:p>
        </p:txBody>
      </p:sp>
      <p:sp>
        <p:nvSpPr>
          <p:cNvPr id="9" name="Rounded Rectangle 8"/>
          <p:cNvSpPr/>
          <p:nvPr/>
        </p:nvSpPr>
        <p:spPr>
          <a:xfrm>
            <a:off x="6217920" y="1188720"/>
            <a:ext cx="5669280" cy="27432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371600"/>
            <a:ext cx="1828800" cy="365760"/>
          </a:xfrm>
          <a:prstGeom prst="rect">
            <a:avLst/>
          </a:prstGeom>
          <a:noFill/>
        </p:spPr>
        <p:txBody>
          <a:bodyPr wrap="square">
            <a:spAutoFit/>
          </a:bodyPr>
          <a:lstStyle/>
          <a:p>
            <a:pPr algn="l">
              <a:defRPr sz="1400" b="1">
                <a:solidFill>
                  <a:srgbClr val="D4A438"/>
                </a:solidFill>
                <a:latin typeface="Arial"/>
              </a:defRPr>
            </a:pPr>
            <a:r>
              <a:t>LA CIBLE</a:t>
            </a:r>
          </a:p>
        </p:txBody>
      </p:sp>
      <p:sp>
        <p:nvSpPr>
          <p:cNvPr id="11" name="TextBox 10"/>
          <p:cNvSpPr txBox="1"/>
          <p:nvPr/>
        </p:nvSpPr>
        <p:spPr>
          <a:xfrm>
            <a:off x="6492240" y="1828800"/>
            <a:ext cx="5120640" cy="1828800"/>
          </a:xfrm>
          <a:prstGeom prst="rect">
            <a:avLst/>
          </a:prstGeom>
          <a:noFill/>
        </p:spPr>
        <p:txBody>
          <a:bodyPr wrap="square">
            <a:spAutoFit/>
          </a:bodyPr>
          <a:lstStyle/>
          <a:p>
            <a:pPr algn="l">
              <a:defRPr sz="1200" b="0">
                <a:solidFill>
                  <a:srgbClr val="B0B8C0"/>
                </a:solidFill>
                <a:latin typeface="Arial"/>
              </a:defRPr>
            </a:pPr>
            <a:r>
              <a:t>- Leaders en quete de croissance interieure</a:t>
            </a:r>
            <a:br/>
            <a:r>
              <a:t>- Chretiens desireux de se former</a:t>
            </a:r>
            <a:br/>
            <a:r>
              <a:t>- Jeunes leaders en developpement</a:t>
            </a:r>
            <a:br/>
            <a:r>
              <a:t>- Communaute francophone mondiale</a:t>
            </a:r>
            <a:br/>
            <a:r>
              <a:t>- Pasteurs et responsables d'eglise</a:t>
            </a:r>
            <a:br/>
            <a:r>
              <a:t>- Professionnels en reconversion</a:t>
            </a:r>
          </a:p>
        </p:txBody>
      </p:sp>
      <p:sp>
        <p:nvSpPr>
          <p:cNvPr id="12" name="Rounded Rectangle 11"/>
          <p:cNvSpPr/>
          <p:nvPr/>
        </p:nvSpPr>
        <p:spPr>
          <a:xfrm>
            <a:off x="274320" y="4114800"/>
            <a:ext cx="1161288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297680"/>
            <a:ext cx="4572000" cy="365760"/>
          </a:xfrm>
          <a:prstGeom prst="rect">
            <a:avLst/>
          </a:prstGeom>
          <a:noFill/>
        </p:spPr>
        <p:txBody>
          <a:bodyPr wrap="square">
            <a:spAutoFit/>
          </a:bodyPr>
          <a:lstStyle/>
          <a:p>
            <a:pPr algn="l">
              <a:defRPr sz="1400" b="1">
                <a:solidFill>
                  <a:srgbClr val="D4A438"/>
                </a:solidFill>
                <a:latin typeface="Arial"/>
              </a:defRPr>
            </a:pPr>
            <a:r>
              <a:t>BESOINS IDENTIFIES &amp; EXIGENCES</a:t>
            </a:r>
          </a:p>
        </p:txBody>
      </p:sp>
      <p:pic>
        <p:nvPicPr>
          <p:cNvPr id="14" name="Picture 13" descr="ic_check.png"/>
          <p:cNvPicPr>
            <a:picLocks noChangeAspect="1"/>
          </p:cNvPicPr>
          <p:nvPr/>
        </p:nvPicPr>
        <p:blipFill>
          <a:blip r:embed="rId2"/>
          <a:stretch>
            <a:fillRect/>
          </a:stretch>
        </p:blipFill>
        <p:spPr>
          <a:xfrm>
            <a:off x="640080" y="4846320"/>
            <a:ext cx="320040" cy="320040"/>
          </a:xfrm>
          <a:prstGeom prst="rect">
            <a:avLst/>
          </a:prstGeom>
        </p:spPr>
      </p:pic>
      <p:sp>
        <p:nvSpPr>
          <p:cNvPr id="15" name="TextBox 14"/>
          <p:cNvSpPr txBox="1"/>
          <p:nvPr/>
        </p:nvSpPr>
        <p:spPr>
          <a:xfrm>
            <a:off x="1097280" y="4846320"/>
            <a:ext cx="2743200" cy="320040"/>
          </a:xfrm>
          <a:prstGeom prst="rect">
            <a:avLst/>
          </a:prstGeom>
          <a:noFill/>
        </p:spPr>
        <p:txBody>
          <a:bodyPr wrap="square">
            <a:spAutoFit/>
          </a:bodyPr>
          <a:lstStyle/>
          <a:p>
            <a:pPr algn="l">
              <a:defRPr sz="1100" b="0">
                <a:solidFill>
                  <a:srgbClr val="C8D0D8"/>
                </a:solidFill>
                <a:latin typeface="Arial"/>
              </a:defRPr>
            </a:pPr>
            <a:r>
              <a:t>Plateforme moderne &amp; inspirante</a:t>
            </a:r>
          </a:p>
        </p:txBody>
      </p:sp>
      <p:pic>
        <p:nvPicPr>
          <p:cNvPr id="16" name="Picture 15" descr="ic_check.png"/>
          <p:cNvPicPr>
            <a:picLocks noChangeAspect="1"/>
          </p:cNvPicPr>
          <p:nvPr/>
        </p:nvPicPr>
        <p:blipFill>
          <a:blip r:embed="rId2"/>
          <a:stretch>
            <a:fillRect/>
          </a:stretch>
        </p:blipFill>
        <p:spPr>
          <a:xfrm>
            <a:off x="640080" y="5257800"/>
            <a:ext cx="320040" cy="320040"/>
          </a:xfrm>
          <a:prstGeom prst="rect">
            <a:avLst/>
          </a:prstGeom>
        </p:spPr>
      </p:pic>
      <p:sp>
        <p:nvSpPr>
          <p:cNvPr id="17" name="TextBox 16"/>
          <p:cNvSpPr txBox="1"/>
          <p:nvPr/>
        </p:nvSpPr>
        <p:spPr>
          <a:xfrm>
            <a:off x="1097280" y="5257800"/>
            <a:ext cx="2743200" cy="320040"/>
          </a:xfrm>
          <a:prstGeom prst="rect">
            <a:avLst/>
          </a:prstGeom>
          <a:noFill/>
        </p:spPr>
        <p:txBody>
          <a:bodyPr wrap="square">
            <a:spAutoFit/>
          </a:bodyPr>
          <a:lstStyle/>
          <a:p>
            <a:pPr algn="l">
              <a:defRPr sz="1100" b="0">
                <a:solidFill>
                  <a:srgbClr val="C8D0D8"/>
                </a:solidFill>
                <a:latin typeface="Arial"/>
              </a:defRPr>
            </a:pPr>
            <a:r>
              <a:t>Formations spirituelles accessibles</a:t>
            </a:r>
          </a:p>
        </p:txBody>
      </p:sp>
      <p:pic>
        <p:nvPicPr>
          <p:cNvPr id="18" name="Picture 17" descr="ic_check.png"/>
          <p:cNvPicPr>
            <a:picLocks noChangeAspect="1"/>
          </p:cNvPicPr>
          <p:nvPr/>
        </p:nvPicPr>
        <p:blipFill>
          <a:blip r:embed="rId2"/>
          <a:stretch>
            <a:fillRect/>
          </a:stretch>
        </p:blipFill>
        <p:spPr>
          <a:xfrm>
            <a:off x="640080" y="5669280"/>
            <a:ext cx="320040" cy="320040"/>
          </a:xfrm>
          <a:prstGeom prst="rect">
            <a:avLst/>
          </a:prstGeom>
        </p:spPr>
      </p:pic>
      <p:sp>
        <p:nvSpPr>
          <p:cNvPr id="19" name="TextBox 18"/>
          <p:cNvSpPr txBox="1"/>
          <p:nvPr/>
        </p:nvSpPr>
        <p:spPr>
          <a:xfrm>
            <a:off x="1097280" y="5669280"/>
            <a:ext cx="2743200" cy="320040"/>
          </a:xfrm>
          <a:prstGeom prst="rect">
            <a:avLst/>
          </a:prstGeom>
          <a:noFill/>
        </p:spPr>
        <p:txBody>
          <a:bodyPr wrap="square">
            <a:spAutoFit/>
          </a:bodyPr>
          <a:lstStyle/>
          <a:p>
            <a:pPr algn="l">
              <a:defRPr sz="1100" b="0">
                <a:solidFill>
                  <a:srgbClr val="C8D0D8"/>
                </a:solidFill>
                <a:latin typeface="Arial"/>
              </a:defRPr>
            </a:pPr>
            <a:r>
              <a:t>Inscription, paiement &amp; suivi securise</a:t>
            </a:r>
          </a:p>
        </p:txBody>
      </p:sp>
      <p:pic>
        <p:nvPicPr>
          <p:cNvPr id="20" name="Picture 19" descr="ic_check.png"/>
          <p:cNvPicPr>
            <a:picLocks noChangeAspect="1"/>
          </p:cNvPicPr>
          <p:nvPr/>
        </p:nvPicPr>
        <p:blipFill>
          <a:blip r:embed="rId2"/>
          <a:stretch>
            <a:fillRect/>
          </a:stretch>
        </p:blipFill>
        <p:spPr>
          <a:xfrm>
            <a:off x="4114800" y="4846320"/>
            <a:ext cx="320040" cy="320040"/>
          </a:xfrm>
          <a:prstGeom prst="rect">
            <a:avLst/>
          </a:prstGeom>
        </p:spPr>
      </p:pic>
      <p:sp>
        <p:nvSpPr>
          <p:cNvPr id="21" name="TextBox 20"/>
          <p:cNvSpPr txBox="1"/>
          <p:nvPr/>
        </p:nvSpPr>
        <p:spPr>
          <a:xfrm>
            <a:off x="4572000" y="4846320"/>
            <a:ext cx="2743200" cy="320040"/>
          </a:xfrm>
          <a:prstGeom prst="rect">
            <a:avLst/>
          </a:prstGeom>
          <a:noFill/>
        </p:spPr>
        <p:txBody>
          <a:bodyPr wrap="square">
            <a:spAutoFit/>
          </a:bodyPr>
          <a:lstStyle/>
          <a:p>
            <a:pPr algn="l">
              <a:defRPr sz="1100" b="0">
                <a:solidFill>
                  <a:srgbClr val="C8D0D8"/>
                </a:solidFill>
                <a:latin typeface="Arial"/>
              </a:defRPr>
            </a:pPr>
            <a:r>
              <a:t>Mesure satisfaction &amp; impact</a:t>
            </a:r>
          </a:p>
        </p:txBody>
      </p:sp>
      <p:pic>
        <p:nvPicPr>
          <p:cNvPr id="22" name="Picture 21" descr="ic_check.png"/>
          <p:cNvPicPr>
            <a:picLocks noChangeAspect="1"/>
          </p:cNvPicPr>
          <p:nvPr/>
        </p:nvPicPr>
        <p:blipFill>
          <a:blip r:embed="rId2"/>
          <a:stretch>
            <a:fillRect/>
          </a:stretch>
        </p:blipFill>
        <p:spPr>
          <a:xfrm>
            <a:off x="4114800" y="5257800"/>
            <a:ext cx="320040" cy="320040"/>
          </a:xfrm>
          <a:prstGeom prst="rect">
            <a:avLst/>
          </a:prstGeom>
        </p:spPr>
      </p:pic>
      <p:sp>
        <p:nvSpPr>
          <p:cNvPr id="23" name="TextBox 22"/>
          <p:cNvSpPr txBox="1"/>
          <p:nvPr/>
        </p:nvSpPr>
        <p:spPr>
          <a:xfrm>
            <a:off x="4572000" y="5257800"/>
            <a:ext cx="2743200" cy="320040"/>
          </a:xfrm>
          <a:prstGeom prst="rect">
            <a:avLst/>
          </a:prstGeom>
          <a:noFill/>
        </p:spPr>
        <p:txBody>
          <a:bodyPr wrap="square">
            <a:spAutoFit/>
          </a:bodyPr>
          <a:lstStyle/>
          <a:p>
            <a:pPr algn="l">
              <a:defRPr sz="1100" b="0">
                <a:solidFill>
                  <a:srgbClr val="C8D0D8"/>
                </a:solidFill>
                <a:latin typeface="Arial"/>
              </a:defRPr>
            </a:pPr>
            <a:r>
              <a:t>Communaute engagee</a:t>
            </a:r>
          </a:p>
        </p:txBody>
      </p:sp>
      <p:pic>
        <p:nvPicPr>
          <p:cNvPr id="24" name="Picture 23" descr="ic_check.png"/>
          <p:cNvPicPr>
            <a:picLocks noChangeAspect="1"/>
          </p:cNvPicPr>
          <p:nvPr/>
        </p:nvPicPr>
        <p:blipFill>
          <a:blip r:embed="rId2"/>
          <a:stretch>
            <a:fillRect/>
          </a:stretch>
        </p:blipFill>
        <p:spPr>
          <a:xfrm>
            <a:off x="4114800" y="5669280"/>
            <a:ext cx="320040" cy="320040"/>
          </a:xfrm>
          <a:prstGeom prst="rect">
            <a:avLst/>
          </a:prstGeom>
        </p:spPr>
      </p:pic>
      <p:sp>
        <p:nvSpPr>
          <p:cNvPr id="25" name="TextBox 24"/>
          <p:cNvSpPr txBox="1"/>
          <p:nvPr/>
        </p:nvSpPr>
        <p:spPr>
          <a:xfrm>
            <a:off x="4572000" y="5669280"/>
            <a:ext cx="2743200" cy="320040"/>
          </a:xfrm>
          <a:prstGeom prst="rect">
            <a:avLst/>
          </a:prstGeom>
          <a:noFill/>
        </p:spPr>
        <p:txBody>
          <a:bodyPr wrap="square">
            <a:spAutoFit/>
          </a:bodyPr>
          <a:lstStyle/>
          <a:p>
            <a:pPr algn="l">
              <a:defRPr sz="1100" b="0">
                <a:solidFill>
                  <a:srgbClr val="C8D0D8"/>
                </a:solidFill>
                <a:latin typeface="Arial"/>
              </a:defRPr>
            </a:pPr>
            <a:r>
              <a:t>Design haut de gamme responsive</a:t>
            </a:r>
          </a:p>
        </p:txBody>
      </p:sp>
      <p:pic>
        <p:nvPicPr>
          <p:cNvPr id="26" name="Picture 25" descr="ic_check.png"/>
          <p:cNvPicPr>
            <a:picLocks noChangeAspect="1"/>
          </p:cNvPicPr>
          <p:nvPr/>
        </p:nvPicPr>
        <p:blipFill>
          <a:blip r:embed="rId2"/>
          <a:stretch>
            <a:fillRect/>
          </a:stretch>
        </p:blipFill>
        <p:spPr>
          <a:xfrm>
            <a:off x="7772400" y="4846320"/>
            <a:ext cx="320040" cy="320040"/>
          </a:xfrm>
          <a:prstGeom prst="rect">
            <a:avLst/>
          </a:prstGeom>
        </p:spPr>
      </p:pic>
      <p:sp>
        <p:nvSpPr>
          <p:cNvPr id="27" name="TextBox 26"/>
          <p:cNvSpPr txBox="1"/>
          <p:nvPr/>
        </p:nvSpPr>
        <p:spPr>
          <a:xfrm>
            <a:off x="8229600" y="4846320"/>
            <a:ext cx="3200400" cy="320040"/>
          </a:xfrm>
          <a:prstGeom prst="rect">
            <a:avLst/>
          </a:prstGeom>
          <a:noFill/>
        </p:spPr>
        <p:txBody>
          <a:bodyPr wrap="square">
            <a:spAutoFit/>
          </a:bodyPr>
          <a:lstStyle/>
          <a:p>
            <a:pPr algn="l">
              <a:defRPr sz="1100" b="0">
                <a:solidFill>
                  <a:srgbClr val="C8D0D8"/>
                </a:solidFill>
                <a:latin typeface="Arial"/>
              </a:defRPr>
            </a:pPr>
            <a:r>
              <a:t>Coaching live &amp; enregistre</a:t>
            </a:r>
          </a:p>
        </p:txBody>
      </p:sp>
      <p:pic>
        <p:nvPicPr>
          <p:cNvPr id="28" name="Picture 27" descr="ic_check.png"/>
          <p:cNvPicPr>
            <a:picLocks noChangeAspect="1"/>
          </p:cNvPicPr>
          <p:nvPr/>
        </p:nvPicPr>
        <p:blipFill>
          <a:blip r:embed="rId2"/>
          <a:stretch>
            <a:fillRect/>
          </a:stretch>
        </p:blipFill>
        <p:spPr>
          <a:xfrm>
            <a:off x="7772400" y="5257800"/>
            <a:ext cx="320040" cy="320040"/>
          </a:xfrm>
          <a:prstGeom prst="rect">
            <a:avLst/>
          </a:prstGeom>
        </p:spPr>
      </p:pic>
      <p:sp>
        <p:nvSpPr>
          <p:cNvPr id="29" name="TextBox 28"/>
          <p:cNvSpPr txBox="1"/>
          <p:nvPr/>
        </p:nvSpPr>
        <p:spPr>
          <a:xfrm>
            <a:off x="8229600" y="5257800"/>
            <a:ext cx="3200400" cy="320040"/>
          </a:xfrm>
          <a:prstGeom prst="rect">
            <a:avLst/>
          </a:prstGeom>
          <a:noFill/>
        </p:spPr>
        <p:txBody>
          <a:bodyPr wrap="square">
            <a:spAutoFit/>
          </a:bodyPr>
          <a:lstStyle/>
          <a:p>
            <a:pPr algn="l">
              <a:defRPr sz="1100" b="0">
                <a:solidFill>
                  <a:srgbClr val="C8D0D8"/>
                </a:solidFill>
                <a:latin typeface="Arial"/>
              </a:defRPr>
            </a:pPr>
            <a:r>
              <a:t>Certificats &amp; attestations auto</a:t>
            </a:r>
          </a:p>
        </p:txBody>
      </p:sp>
      <p:pic>
        <p:nvPicPr>
          <p:cNvPr id="30" name="Picture 29" descr="ic_check.png"/>
          <p:cNvPicPr>
            <a:picLocks noChangeAspect="1"/>
          </p:cNvPicPr>
          <p:nvPr/>
        </p:nvPicPr>
        <p:blipFill>
          <a:blip r:embed="rId2"/>
          <a:stretch>
            <a:fillRect/>
          </a:stretch>
        </p:blipFill>
        <p:spPr>
          <a:xfrm>
            <a:off x="7772400" y="5669280"/>
            <a:ext cx="320040" cy="320040"/>
          </a:xfrm>
          <a:prstGeom prst="rect">
            <a:avLst/>
          </a:prstGeom>
        </p:spPr>
      </p:pic>
      <p:sp>
        <p:nvSpPr>
          <p:cNvPr id="31" name="TextBox 30"/>
          <p:cNvSpPr txBox="1"/>
          <p:nvPr/>
        </p:nvSpPr>
        <p:spPr>
          <a:xfrm>
            <a:off x="8229600" y="5669280"/>
            <a:ext cx="3200400" cy="320040"/>
          </a:xfrm>
          <a:prstGeom prst="rect">
            <a:avLst/>
          </a:prstGeom>
          <a:noFill/>
        </p:spPr>
        <p:txBody>
          <a:bodyPr wrap="square">
            <a:spAutoFit/>
          </a:bodyPr>
          <a:lstStyle/>
          <a:p>
            <a:pPr algn="l">
              <a:defRPr sz="1100" b="0">
                <a:solidFill>
                  <a:srgbClr val="C8D0D8"/>
                </a:solidFill>
                <a:latin typeface="Arial"/>
              </a:defRPr>
            </a:pPr>
            <a:r>
              <a:t>Multi-paiement (Carte, PayPal, MoMo)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old_line_v2.png"/>
          <p:cNvPicPr>
            <a:picLocks noChangeAspect="1"/>
          </p:cNvPicPr>
          <p:nvPr/>
        </p:nvPicPr>
        <p:blipFill>
          <a:blip r:embed="rId2"/>
          <a:stretch>
            <a:fillRect/>
          </a:stretch>
        </p:blipFill>
        <p:spPr>
          <a:xfrm>
            <a:off x="0" y="0"/>
            <a:ext cx="12191695" cy="54864"/>
          </a:xfrm>
          <a:prstGeom prst="rect">
            <a:avLst/>
          </a:prstGeom>
        </p:spPr>
      </p:pic>
      <p:sp>
        <p:nvSpPr>
          <p:cNvPr id="3" name="Rectangle 2"/>
          <p:cNvSpPr/>
          <p:nvPr/>
        </p:nvSpPr>
        <p:spPr>
          <a:xfrm>
            <a:off x="0" y="6803136"/>
            <a:ext cx="12191695"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l">
              <a:defRPr sz="2600" b="1">
                <a:solidFill>
                  <a:srgbClr val="FFFFFF"/>
                </a:solidFill>
                <a:latin typeface="Georgia"/>
              </a:defRPr>
            </a:pPr>
            <a:r>
              <a:t>02  VISION &amp; OBJECTIFS STRATEGIQUES</a:t>
            </a:r>
          </a:p>
        </p:txBody>
      </p:sp>
      <p:sp>
        <p:nvSpPr>
          <p:cNvPr id="5" name="Rectangle 4"/>
          <p:cNvSpPr/>
          <p:nvPr/>
        </p:nvSpPr>
        <p:spPr>
          <a:xfrm>
            <a:off x="457200" y="77724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097280"/>
            <a:ext cx="3657600" cy="29260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form.png"/>
          <p:cNvPicPr>
            <a:picLocks noChangeAspect="1"/>
          </p:cNvPicPr>
          <p:nvPr/>
        </p:nvPicPr>
        <p:blipFill>
          <a:blip r:embed="rId3"/>
          <a:stretch>
            <a:fillRect/>
          </a:stretch>
        </p:blipFill>
        <p:spPr>
          <a:xfrm>
            <a:off x="1645920" y="1280160"/>
            <a:ext cx="640080" cy="640080"/>
          </a:xfrm>
          <a:prstGeom prst="rect">
            <a:avLst/>
          </a:prstGeom>
        </p:spPr>
      </p:pic>
      <p:sp>
        <p:nvSpPr>
          <p:cNvPr id="8" name="TextBox 7"/>
          <p:cNvSpPr txBox="1"/>
          <p:nvPr/>
        </p:nvSpPr>
        <p:spPr>
          <a:xfrm>
            <a:off x="457200" y="2011680"/>
            <a:ext cx="3291840" cy="365760"/>
          </a:xfrm>
          <a:prstGeom prst="rect">
            <a:avLst/>
          </a:prstGeom>
          <a:noFill/>
        </p:spPr>
        <p:txBody>
          <a:bodyPr wrap="square">
            <a:spAutoFit/>
          </a:bodyPr>
          <a:lstStyle/>
          <a:p>
            <a:pPr algn="ctr">
              <a:defRPr sz="2000" b="1">
                <a:solidFill>
                  <a:srgbClr val="D4A438"/>
                </a:solidFill>
                <a:latin typeface="Arial"/>
              </a:defRPr>
            </a:pPr>
            <a:r>
              <a:t>FORMER</a:t>
            </a:r>
          </a:p>
        </p:txBody>
      </p:sp>
      <p:sp>
        <p:nvSpPr>
          <p:cNvPr id="9" name="TextBox 8"/>
          <p:cNvSpPr txBox="1"/>
          <p:nvPr/>
        </p:nvSpPr>
        <p:spPr>
          <a:xfrm>
            <a:off x="457200" y="2468880"/>
            <a:ext cx="3291840" cy="1280160"/>
          </a:xfrm>
          <a:prstGeom prst="rect">
            <a:avLst/>
          </a:prstGeom>
          <a:noFill/>
        </p:spPr>
        <p:txBody>
          <a:bodyPr wrap="square">
            <a:spAutoFit/>
          </a:bodyPr>
          <a:lstStyle/>
          <a:p>
            <a:pPr algn="ctr">
              <a:defRPr sz="1200" b="0">
                <a:solidFill>
                  <a:srgbClr val="B0B8C0"/>
                </a:solidFill>
                <a:latin typeface="Arial"/>
              </a:defRPr>
            </a:pPr>
            <a:r>
              <a:t>Offrir des parcours de formation structurees et certifiantes en croissance spirituelle, leadership et influence</a:t>
            </a:r>
          </a:p>
        </p:txBody>
      </p:sp>
      <p:sp>
        <p:nvSpPr>
          <p:cNvPr id="10" name="Rounded Rectangle 9"/>
          <p:cNvSpPr/>
          <p:nvPr/>
        </p:nvSpPr>
        <p:spPr>
          <a:xfrm>
            <a:off x="4206240" y="1097280"/>
            <a:ext cx="3657600" cy="29260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heart.png"/>
          <p:cNvPicPr>
            <a:picLocks noChangeAspect="1"/>
          </p:cNvPicPr>
          <p:nvPr/>
        </p:nvPicPr>
        <p:blipFill>
          <a:blip r:embed="rId4"/>
          <a:stretch>
            <a:fillRect/>
          </a:stretch>
        </p:blipFill>
        <p:spPr>
          <a:xfrm>
            <a:off x="5577840" y="1280160"/>
            <a:ext cx="640080" cy="640080"/>
          </a:xfrm>
          <a:prstGeom prst="rect">
            <a:avLst/>
          </a:prstGeom>
        </p:spPr>
      </p:pic>
      <p:sp>
        <p:nvSpPr>
          <p:cNvPr id="12" name="TextBox 11"/>
          <p:cNvSpPr txBox="1"/>
          <p:nvPr/>
        </p:nvSpPr>
        <p:spPr>
          <a:xfrm>
            <a:off x="4389120" y="2011680"/>
            <a:ext cx="3291840" cy="365760"/>
          </a:xfrm>
          <a:prstGeom prst="rect">
            <a:avLst/>
          </a:prstGeom>
          <a:noFill/>
        </p:spPr>
        <p:txBody>
          <a:bodyPr wrap="square">
            <a:spAutoFit/>
          </a:bodyPr>
          <a:lstStyle/>
          <a:p>
            <a:pPr algn="ctr">
              <a:defRPr sz="2000" b="1">
                <a:solidFill>
                  <a:srgbClr val="D4A438"/>
                </a:solidFill>
                <a:latin typeface="Arial"/>
              </a:defRPr>
            </a:pPr>
            <a:r>
              <a:t>TRANSFORMER</a:t>
            </a:r>
          </a:p>
        </p:txBody>
      </p:sp>
      <p:sp>
        <p:nvSpPr>
          <p:cNvPr id="13" name="TextBox 12"/>
          <p:cNvSpPr txBox="1"/>
          <p:nvPr/>
        </p:nvSpPr>
        <p:spPr>
          <a:xfrm>
            <a:off x="4389120" y="2468880"/>
            <a:ext cx="3291840" cy="1280160"/>
          </a:xfrm>
          <a:prstGeom prst="rect">
            <a:avLst/>
          </a:prstGeom>
          <a:noFill/>
        </p:spPr>
        <p:txBody>
          <a:bodyPr wrap="square">
            <a:spAutoFit/>
          </a:bodyPr>
          <a:lstStyle/>
          <a:p>
            <a:pPr algn="ctr">
              <a:defRPr sz="1200" b="0">
                <a:solidFill>
                  <a:srgbClr val="B0B8C0"/>
                </a:solidFill>
                <a:latin typeface="Arial"/>
              </a:defRPr>
            </a:pPr>
            <a:r>
              <a:t>Accompagner chaque apprenant dans une transformation profonde et durable a travers un suivi personnalise et du coaching</a:t>
            </a:r>
          </a:p>
        </p:txBody>
      </p:sp>
      <p:sp>
        <p:nvSpPr>
          <p:cNvPr id="14" name="Rounded Rectangle 13"/>
          <p:cNvSpPr/>
          <p:nvPr/>
        </p:nvSpPr>
        <p:spPr>
          <a:xfrm>
            <a:off x="8138160" y="1097280"/>
            <a:ext cx="3657600" cy="29260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globe.png"/>
          <p:cNvPicPr>
            <a:picLocks noChangeAspect="1"/>
          </p:cNvPicPr>
          <p:nvPr/>
        </p:nvPicPr>
        <p:blipFill>
          <a:blip r:embed="rId5"/>
          <a:stretch>
            <a:fillRect/>
          </a:stretch>
        </p:blipFill>
        <p:spPr>
          <a:xfrm>
            <a:off x="9509760" y="1280160"/>
            <a:ext cx="640080" cy="640080"/>
          </a:xfrm>
          <a:prstGeom prst="rect">
            <a:avLst/>
          </a:prstGeom>
        </p:spPr>
      </p:pic>
      <p:sp>
        <p:nvSpPr>
          <p:cNvPr id="16" name="TextBox 15"/>
          <p:cNvSpPr txBox="1"/>
          <p:nvPr/>
        </p:nvSpPr>
        <p:spPr>
          <a:xfrm>
            <a:off x="8321040" y="2011680"/>
            <a:ext cx="3291840" cy="365760"/>
          </a:xfrm>
          <a:prstGeom prst="rect">
            <a:avLst/>
          </a:prstGeom>
          <a:noFill/>
        </p:spPr>
        <p:txBody>
          <a:bodyPr wrap="square">
            <a:spAutoFit/>
          </a:bodyPr>
          <a:lstStyle/>
          <a:p>
            <a:pPr algn="ctr">
              <a:defRPr sz="2000" b="1">
                <a:solidFill>
                  <a:srgbClr val="D4A438"/>
                </a:solidFill>
                <a:latin typeface="Arial"/>
              </a:defRPr>
            </a:pPr>
            <a:r>
              <a:t>IMPACTER</a:t>
            </a:r>
          </a:p>
        </p:txBody>
      </p:sp>
      <p:sp>
        <p:nvSpPr>
          <p:cNvPr id="17" name="TextBox 16"/>
          <p:cNvSpPr txBox="1"/>
          <p:nvPr/>
        </p:nvSpPr>
        <p:spPr>
          <a:xfrm>
            <a:off x="8321040" y="2468880"/>
            <a:ext cx="3291840" cy="1280160"/>
          </a:xfrm>
          <a:prstGeom prst="rect">
            <a:avLst/>
          </a:prstGeom>
          <a:noFill/>
        </p:spPr>
        <p:txBody>
          <a:bodyPr wrap="square">
            <a:spAutoFit/>
          </a:bodyPr>
          <a:lstStyle/>
          <a:p>
            <a:pPr algn="ctr">
              <a:defRPr sz="1200" b="0">
                <a:solidFill>
                  <a:srgbClr val="B0B8C0"/>
                </a:solidFill>
                <a:latin typeface="Arial"/>
              </a:defRPr>
            </a:pPr>
            <a:r>
              <a:t>Creer une communaute de leaders influents qui impactent positivement leur environnement, en Afrique et dans la diaspora</a:t>
            </a:r>
          </a:p>
        </p:txBody>
      </p:sp>
      <p:sp>
        <p:nvSpPr>
          <p:cNvPr id="18" name="Rounded Rectangle 17"/>
          <p:cNvSpPr/>
          <p:nvPr/>
        </p:nvSpPr>
        <p:spPr>
          <a:xfrm>
            <a:off x="274320" y="4297680"/>
            <a:ext cx="11612880" cy="219456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72000"/>
            <a:ext cx="10332720" cy="1097280"/>
          </a:xfrm>
          <a:prstGeom prst="rect">
            <a:avLst/>
          </a:prstGeom>
          <a:noFill/>
        </p:spPr>
        <p:txBody>
          <a:bodyPr wrap="square">
            <a:spAutoFit/>
          </a:bodyPr>
          <a:lstStyle/>
          <a:p>
            <a:pPr algn="ctr">
              <a:defRPr sz="1600" b="0">
                <a:solidFill>
                  <a:srgbClr val="D4A438"/>
                </a:solidFill>
                <a:latin typeface="Georgia"/>
              </a:defRPr>
            </a:pPr>
            <a:r>
              <a:t>"Devenir LA reference dans l'espace francophone pour la formation spirituelle,</a:t>
            </a:r>
            <a:br/>
            <a:r>
              <a:t>le leadership et le developpement personnel, en combinant technologie de pointe</a:t>
            </a:r>
            <a:br/>
            <a:r>
              <a:t>et accompagnement humain de qualite."</a:t>
            </a:r>
          </a:p>
        </p:txBody>
      </p:sp>
      <p:sp>
        <p:nvSpPr>
          <p:cNvPr id="20" name="Rectangle 19"/>
          <p:cNvSpPr/>
          <p:nvPr/>
        </p:nvSpPr>
        <p:spPr>
          <a:xfrm>
            <a:off x="5029200" y="5760720"/>
            <a:ext cx="210312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 y="5852160"/>
            <a:ext cx="6675120" cy="365760"/>
          </a:xfrm>
          <a:prstGeom prst="rect">
            <a:avLst/>
          </a:prstGeom>
          <a:noFill/>
        </p:spPr>
        <p:txBody>
          <a:bodyPr wrap="square">
            <a:spAutoFit/>
          </a:bodyPr>
          <a:lstStyle/>
          <a:p>
            <a:pPr algn="ctr">
              <a:defRPr sz="1200" b="0">
                <a:solidFill>
                  <a:srgbClr val="8899AA"/>
                </a:solidFill>
                <a:latin typeface="Arial"/>
              </a:defRPr>
            </a:pPr>
            <a:r>
              <a:t>Lord Lombo Academie - Vision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371600" cy="640080"/>
          </a:xfrm>
          <a:prstGeom prst="rect">
            <a:avLst/>
          </a:prstGeom>
          <a:noFill/>
        </p:spPr>
        <p:txBody>
          <a:bodyPr wrap="square">
            <a:spAutoFit/>
          </a:bodyPr>
          <a:lstStyle/>
          <a:p>
            <a:pPr algn="l">
              <a:defRPr sz="4800" b="1">
                <a:solidFill>
                  <a:srgbClr val="D4A438"/>
                </a:solidFill>
                <a:latin typeface="Georgia"/>
              </a:defRPr>
            </a:pPr>
            <a:r>
              <a:t>03</a:t>
            </a:r>
          </a:p>
        </p:txBody>
      </p:sp>
      <p:sp>
        <p:nvSpPr>
          <p:cNvPr id="4" name="TextBox 3"/>
          <p:cNvSpPr txBox="1"/>
          <p:nvPr/>
        </p:nvSpPr>
        <p:spPr>
          <a:xfrm>
            <a:off x="1828800" y="274320"/>
            <a:ext cx="9144000" cy="640080"/>
          </a:xfrm>
          <a:prstGeom prst="rect">
            <a:avLst/>
          </a:prstGeom>
          <a:noFill/>
        </p:spPr>
        <p:txBody>
          <a:bodyPr wrap="square">
            <a:spAutoFit/>
          </a:bodyPr>
          <a:lstStyle/>
          <a:p>
            <a:pPr algn="l">
              <a:defRPr sz="2600" b="1">
                <a:solidFill>
                  <a:srgbClr val="FFFFFF"/>
                </a:solidFill>
                <a:latin typeface="Georgia"/>
              </a:defRPr>
            </a:pPr>
            <a:r>
              <a:t>VALEURS AJOUTEES DE NOTRE SOLUTION</a:t>
            </a:r>
          </a:p>
        </p:txBody>
      </p:sp>
      <p:sp>
        <p:nvSpPr>
          <p:cNvPr id="5" name="Rectangle 4"/>
          <p:cNvSpPr/>
          <p:nvPr/>
        </p:nvSpPr>
        <p:spPr>
          <a:xfrm>
            <a:off x="1828800" y="86868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188720"/>
            <a:ext cx="3749039" cy="24688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rocket.png"/>
          <p:cNvPicPr>
            <a:picLocks noChangeAspect="1"/>
          </p:cNvPicPr>
          <p:nvPr/>
        </p:nvPicPr>
        <p:blipFill>
          <a:blip r:embed="rId2"/>
          <a:stretch>
            <a:fillRect/>
          </a:stretch>
        </p:blipFill>
        <p:spPr>
          <a:xfrm>
            <a:off x="1737360" y="1371600"/>
            <a:ext cx="548640" cy="548640"/>
          </a:xfrm>
          <a:prstGeom prst="rect">
            <a:avLst/>
          </a:prstGeom>
        </p:spPr>
      </p:pic>
      <p:sp>
        <p:nvSpPr>
          <p:cNvPr id="8" name="TextBox 7"/>
          <p:cNvSpPr txBox="1"/>
          <p:nvPr/>
        </p:nvSpPr>
        <p:spPr>
          <a:xfrm>
            <a:off x="457200" y="2011680"/>
            <a:ext cx="3383280" cy="365760"/>
          </a:xfrm>
          <a:prstGeom prst="rect">
            <a:avLst/>
          </a:prstGeom>
          <a:noFill/>
        </p:spPr>
        <p:txBody>
          <a:bodyPr wrap="square">
            <a:spAutoFit/>
          </a:bodyPr>
          <a:lstStyle/>
          <a:p>
            <a:pPr algn="ctr">
              <a:defRPr sz="1400" b="1">
                <a:solidFill>
                  <a:srgbClr val="D4A438"/>
                </a:solidFill>
                <a:latin typeface="Arial"/>
              </a:defRPr>
            </a:pPr>
            <a:r>
              <a:t>EXPERIENCE PREMIUM</a:t>
            </a:r>
          </a:p>
        </p:txBody>
      </p:sp>
      <p:sp>
        <p:nvSpPr>
          <p:cNvPr id="9" name="TextBox 8"/>
          <p:cNvSpPr txBox="1"/>
          <p:nvPr/>
        </p:nvSpPr>
        <p:spPr>
          <a:xfrm>
            <a:off x="457200" y="2468880"/>
            <a:ext cx="3383280" cy="1097280"/>
          </a:xfrm>
          <a:prstGeom prst="rect">
            <a:avLst/>
          </a:prstGeom>
          <a:noFill/>
        </p:spPr>
        <p:txBody>
          <a:bodyPr wrap="square">
            <a:spAutoFit/>
          </a:bodyPr>
          <a:lstStyle/>
          <a:p>
            <a:pPr algn="ctr">
              <a:defRPr sz="1100" b="0">
                <a:solidFill>
                  <a:srgbClr val="B0B8C0"/>
                </a:solidFill>
                <a:latin typeface="Arial"/>
              </a:defRPr>
            </a:pPr>
            <a:r>
              <a:t>Interface haut de gamme, design inspire, animations fluides. Chaque interaction reflete l'excellence et la vision de Lord Lombo.</a:t>
            </a:r>
          </a:p>
        </p:txBody>
      </p:sp>
      <p:sp>
        <p:nvSpPr>
          <p:cNvPr id="10" name="Rounded Rectangle 9"/>
          <p:cNvSpPr/>
          <p:nvPr/>
        </p:nvSpPr>
        <p:spPr>
          <a:xfrm>
            <a:off x="4206240" y="1188720"/>
            <a:ext cx="3749039" cy="24688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shield.png"/>
          <p:cNvPicPr>
            <a:picLocks noChangeAspect="1"/>
          </p:cNvPicPr>
          <p:nvPr/>
        </p:nvPicPr>
        <p:blipFill>
          <a:blip r:embed="rId3"/>
          <a:stretch>
            <a:fillRect/>
          </a:stretch>
        </p:blipFill>
        <p:spPr>
          <a:xfrm>
            <a:off x="5669280" y="1371600"/>
            <a:ext cx="548640" cy="548640"/>
          </a:xfrm>
          <a:prstGeom prst="rect">
            <a:avLst/>
          </a:prstGeom>
        </p:spPr>
      </p:pic>
      <p:sp>
        <p:nvSpPr>
          <p:cNvPr id="12" name="TextBox 11"/>
          <p:cNvSpPr txBox="1"/>
          <p:nvPr/>
        </p:nvSpPr>
        <p:spPr>
          <a:xfrm>
            <a:off x="4389120" y="2011680"/>
            <a:ext cx="3383280" cy="365760"/>
          </a:xfrm>
          <a:prstGeom prst="rect">
            <a:avLst/>
          </a:prstGeom>
          <a:noFill/>
        </p:spPr>
        <p:txBody>
          <a:bodyPr wrap="square">
            <a:spAutoFit/>
          </a:bodyPr>
          <a:lstStyle/>
          <a:p>
            <a:pPr algn="ctr">
              <a:defRPr sz="1400" b="1">
                <a:solidFill>
                  <a:srgbClr val="D4A438"/>
                </a:solidFill>
                <a:latin typeface="Arial"/>
              </a:defRPr>
            </a:pPr>
            <a:r>
              <a:t>SECURITE SANS FAILLE</a:t>
            </a:r>
          </a:p>
        </p:txBody>
      </p:sp>
      <p:sp>
        <p:nvSpPr>
          <p:cNvPr id="13" name="TextBox 12"/>
          <p:cNvSpPr txBox="1"/>
          <p:nvPr/>
        </p:nvSpPr>
        <p:spPr>
          <a:xfrm>
            <a:off x="4389120" y="2468880"/>
            <a:ext cx="3383280" cy="1097280"/>
          </a:xfrm>
          <a:prstGeom prst="rect">
            <a:avLst/>
          </a:prstGeom>
          <a:noFill/>
        </p:spPr>
        <p:txBody>
          <a:bodyPr wrap="square">
            <a:spAutoFit/>
          </a:bodyPr>
          <a:lstStyle/>
          <a:p>
            <a:pPr algn="ctr">
              <a:defRPr sz="1100" b="0">
                <a:solidFill>
                  <a:srgbClr val="B0B8C0"/>
                </a:solidFill>
                <a:latin typeface="Arial"/>
              </a:defRPr>
            </a:pPr>
            <a:r>
              <a:t>Chiffrement SSL, 2FA, protection DDoS, conformite RGPD, paiements securises PCI-DSS. Vos donnees sont sacrees.</a:t>
            </a:r>
          </a:p>
        </p:txBody>
      </p:sp>
      <p:sp>
        <p:nvSpPr>
          <p:cNvPr id="14" name="Rounded Rectangle 13"/>
          <p:cNvSpPr/>
          <p:nvPr/>
        </p:nvSpPr>
        <p:spPr>
          <a:xfrm>
            <a:off x="8138160" y="1188720"/>
            <a:ext cx="3749039" cy="24688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hart.png"/>
          <p:cNvPicPr>
            <a:picLocks noChangeAspect="1"/>
          </p:cNvPicPr>
          <p:nvPr/>
        </p:nvPicPr>
        <p:blipFill>
          <a:blip r:embed="rId4"/>
          <a:stretch>
            <a:fillRect/>
          </a:stretch>
        </p:blipFill>
        <p:spPr>
          <a:xfrm>
            <a:off x="9601200" y="1371600"/>
            <a:ext cx="548640" cy="548640"/>
          </a:xfrm>
          <a:prstGeom prst="rect">
            <a:avLst/>
          </a:prstGeom>
        </p:spPr>
      </p:pic>
      <p:sp>
        <p:nvSpPr>
          <p:cNvPr id="16" name="TextBox 15"/>
          <p:cNvSpPr txBox="1"/>
          <p:nvPr/>
        </p:nvSpPr>
        <p:spPr>
          <a:xfrm>
            <a:off x="8321040" y="2011680"/>
            <a:ext cx="3383280" cy="365760"/>
          </a:xfrm>
          <a:prstGeom prst="rect">
            <a:avLst/>
          </a:prstGeom>
          <a:noFill/>
        </p:spPr>
        <p:txBody>
          <a:bodyPr wrap="square">
            <a:spAutoFit/>
          </a:bodyPr>
          <a:lstStyle/>
          <a:p>
            <a:pPr algn="ctr">
              <a:defRPr sz="1400" b="1">
                <a:solidFill>
                  <a:srgbClr val="D4A438"/>
                </a:solidFill>
                <a:latin typeface="Arial"/>
              </a:defRPr>
            </a:pPr>
            <a:r>
              <a:t>ANALYTICS PUISSANTS</a:t>
            </a:r>
          </a:p>
        </p:txBody>
      </p:sp>
      <p:sp>
        <p:nvSpPr>
          <p:cNvPr id="17" name="TextBox 16"/>
          <p:cNvSpPr txBox="1"/>
          <p:nvPr/>
        </p:nvSpPr>
        <p:spPr>
          <a:xfrm>
            <a:off x="8321040" y="2468880"/>
            <a:ext cx="3383280" cy="1097280"/>
          </a:xfrm>
          <a:prstGeom prst="rect">
            <a:avLst/>
          </a:prstGeom>
          <a:noFill/>
        </p:spPr>
        <p:txBody>
          <a:bodyPr wrap="square">
            <a:spAutoFit/>
          </a:bodyPr>
          <a:lstStyle/>
          <a:p>
            <a:pPr algn="ctr">
              <a:defRPr sz="1100" b="0">
                <a:solidFill>
                  <a:srgbClr val="B0B8C0"/>
                </a:solidFill>
                <a:latin typeface="Arial"/>
              </a:defRPr>
            </a:pPr>
            <a:r>
              <a:t>Tableaux de bord en temps reel, suivi de progression, rapports de satisfaction, KPI detailles pour piloter l'academie.</a:t>
            </a:r>
          </a:p>
        </p:txBody>
      </p:sp>
      <p:sp>
        <p:nvSpPr>
          <p:cNvPr id="18" name="Rounded Rectangle 17"/>
          <p:cNvSpPr/>
          <p:nvPr/>
        </p:nvSpPr>
        <p:spPr>
          <a:xfrm>
            <a:off x="274320" y="3840480"/>
            <a:ext cx="3749039" cy="24688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users.png"/>
          <p:cNvPicPr>
            <a:picLocks noChangeAspect="1"/>
          </p:cNvPicPr>
          <p:nvPr/>
        </p:nvPicPr>
        <p:blipFill>
          <a:blip r:embed="rId5"/>
          <a:stretch>
            <a:fillRect/>
          </a:stretch>
        </p:blipFill>
        <p:spPr>
          <a:xfrm>
            <a:off x="1737360" y="4023360"/>
            <a:ext cx="548640" cy="548640"/>
          </a:xfrm>
          <a:prstGeom prst="rect">
            <a:avLst/>
          </a:prstGeom>
        </p:spPr>
      </p:pic>
      <p:sp>
        <p:nvSpPr>
          <p:cNvPr id="20" name="TextBox 19"/>
          <p:cNvSpPr txBox="1"/>
          <p:nvPr/>
        </p:nvSpPr>
        <p:spPr>
          <a:xfrm>
            <a:off x="457200" y="4663440"/>
            <a:ext cx="3383280" cy="365760"/>
          </a:xfrm>
          <a:prstGeom prst="rect">
            <a:avLst/>
          </a:prstGeom>
          <a:noFill/>
        </p:spPr>
        <p:txBody>
          <a:bodyPr wrap="square">
            <a:spAutoFit/>
          </a:bodyPr>
          <a:lstStyle/>
          <a:p>
            <a:pPr algn="ctr">
              <a:defRPr sz="1400" b="1">
                <a:solidFill>
                  <a:srgbClr val="D4A438"/>
                </a:solidFill>
                <a:latin typeface="Arial"/>
              </a:defRPr>
            </a:pPr>
            <a:r>
              <a:t>COMMUNAUTE ENGAGEE</a:t>
            </a:r>
          </a:p>
        </p:txBody>
      </p:sp>
      <p:sp>
        <p:nvSpPr>
          <p:cNvPr id="21" name="TextBox 20"/>
          <p:cNvSpPr txBox="1"/>
          <p:nvPr/>
        </p:nvSpPr>
        <p:spPr>
          <a:xfrm>
            <a:off x="457200" y="5120640"/>
            <a:ext cx="3383280" cy="1097280"/>
          </a:xfrm>
          <a:prstGeom prst="rect">
            <a:avLst/>
          </a:prstGeom>
          <a:noFill/>
        </p:spPr>
        <p:txBody>
          <a:bodyPr wrap="square">
            <a:spAutoFit/>
          </a:bodyPr>
          <a:lstStyle/>
          <a:p>
            <a:pPr algn="ctr">
              <a:defRPr sz="1100" b="0">
                <a:solidFill>
                  <a:srgbClr val="B0B8C0"/>
                </a:solidFill>
                <a:latin typeface="Arial"/>
              </a:defRPr>
            </a:pPr>
            <a:r>
              <a:t>Forum, defis collectifs, temoignages, espace de priere. Une vraie famille spirituelle connectee autour de la vision.</a:t>
            </a:r>
          </a:p>
        </p:txBody>
      </p:sp>
      <p:sp>
        <p:nvSpPr>
          <p:cNvPr id="22" name="Rounded Rectangle 21"/>
          <p:cNvSpPr/>
          <p:nvPr/>
        </p:nvSpPr>
        <p:spPr>
          <a:xfrm>
            <a:off x="4206240" y="3840480"/>
            <a:ext cx="3749039" cy="24688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_mob.png"/>
          <p:cNvPicPr>
            <a:picLocks noChangeAspect="1"/>
          </p:cNvPicPr>
          <p:nvPr/>
        </p:nvPicPr>
        <p:blipFill>
          <a:blip r:embed="rId6"/>
          <a:stretch>
            <a:fillRect/>
          </a:stretch>
        </p:blipFill>
        <p:spPr>
          <a:xfrm>
            <a:off x="5669280" y="4023360"/>
            <a:ext cx="548640" cy="548640"/>
          </a:xfrm>
          <a:prstGeom prst="rect">
            <a:avLst/>
          </a:prstGeom>
        </p:spPr>
      </p:pic>
      <p:sp>
        <p:nvSpPr>
          <p:cNvPr id="24" name="TextBox 23"/>
          <p:cNvSpPr txBox="1"/>
          <p:nvPr/>
        </p:nvSpPr>
        <p:spPr>
          <a:xfrm>
            <a:off x="4389120" y="4663440"/>
            <a:ext cx="3383280" cy="365760"/>
          </a:xfrm>
          <a:prstGeom prst="rect">
            <a:avLst/>
          </a:prstGeom>
          <a:noFill/>
        </p:spPr>
        <p:txBody>
          <a:bodyPr wrap="square">
            <a:spAutoFit/>
          </a:bodyPr>
          <a:lstStyle/>
          <a:p>
            <a:pPr algn="ctr">
              <a:defRPr sz="1400" b="1">
                <a:solidFill>
                  <a:srgbClr val="D4A438"/>
                </a:solidFill>
                <a:latin typeface="Arial"/>
              </a:defRPr>
            </a:pPr>
            <a:r>
              <a:t>100% MOBILE READY</a:t>
            </a:r>
          </a:p>
        </p:txBody>
      </p:sp>
      <p:sp>
        <p:nvSpPr>
          <p:cNvPr id="25" name="TextBox 24"/>
          <p:cNvSpPr txBox="1"/>
          <p:nvPr/>
        </p:nvSpPr>
        <p:spPr>
          <a:xfrm>
            <a:off x="4389120" y="5120640"/>
            <a:ext cx="3383280" cy="1097280"/>
          </a:xfrm>
          <a:prstGeom prst="rect">
            <a:avLst/>
          </a:prstGeom>
          <a:noFill/>
        </p:spPr>
        <p:txBody>
          <a:bodyPr wrap="square">
            <a:spAutoFit/>
          </a:bodyPr>
          <a:lstStyle/>
          <a:p>
            <a:pPr algn="ctr">
              <a:defRPr sz="1100" b="0">
                <a:solidFill>
                  <a:srgbClr val="B0B8C0"/>
                </a:solidFill>
                <a:latin typeface="Arial"/>
              </a:defRPr>
            </a:pPr>
            <a:r>
              <a:t>Responsive design mobile-first, PWA installable, experience native sur tous les ecrans. Apprendre partout, tout le temps.</a:t>
            </a:r>
          </a:p>
        </p:txBody>
      </p:sp>
      <p:sp>
        <p:nvSpPr>
          <p:cNvPr id="26" name="Rounded Rectangle 25"/>
          <p:cNvSpPr/>
          <p:nvPr/>
        </p:nvSpPr>
        <p:spPr>
          <a:xfrm>
            <a:off x="8138160" y="3840480"/>
            <a:ext cx="3749039" cy="24688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_ai.png"/>
          <p:cNvPicPr>
            <a:picLocks noChangeAspect="1"/>
          </p:cNvPicPr>
          <p:nvPr/>
        </p:nvPicPr>
        <p:blipFill>
          <a:blip r:embed="rId7"/>
          <a:stretch>
            <a:fillRect/>
          </a:stretch>
        </p:blipFill>
        <p:spPr>
          <a:xfrm>
            <a:off x="9601200" y="4023360"/>
            <a:ext cx="548640" cy="548640"/>
          </a:xfrm>
          <a:prstGeom prst="rect">
            <a:avLst/>
          </a:prstGeom>
        </p:spPr>
      </p:pic>
      <p:sp>
        <p:nvSpPr>
          <p:cNvPr id="28" name="TextBox 27"/>
          <p:cNvSpPr txBox="1"/>
          <p:nvPr/>
        </p:nvSpPr>
        <p:spPr>
          <a:xfrm>
            <a:off x="8321040" y="4663440"/>
            <a:ext cx="3383280" cy="365760"/>
          </a:xfrm>
          <a:prstGeom prst="rect">
            <a:avLst/>
          </a:prstGeom>
          <a:noFill/>
        </p:spPr>
        <p:txBody>
          <a:bodyPr wrap="square">
            <a:spAutoFit/>
          </a:bodyPr>
          <a:lstStyle/>
          <a:p>
            <a:pPr algn="ctr">
              <a:defRPr sz="1400" b="1">
                <a:solidFill>
                  <a:srgbClr val="D4A438"/>
                </a:solidFill>
                <a:latin typeface="Arial"/>
              </a:defRPr>
            </a:pPr>
            <a:r>
              <a:t>TECHNOLOGIES DE POINTE</a:t>
            </a:r>
          </a:p>
        </p:txBody>
      </p:sp>
      <p:sp>
        <p:nvSpPr>
          <p:cNvPr id="29" name="TextBox 28"/>
          <p:cNvSpPr txBox="1"/>
          <p:nvPr/>
        </p:nvSpPr>
        <p:spPr>
          <a:xfrm>
            <a:off x="8321040" y="5120640"/>
            <a:ext cx="3383280" cy="1097280"/>
          </a:xfrm>
          <a:prstGeom prst="rect">
            <a:avLst/>
          </a:prstGeom>
          <a:noFill/>
        </p:spPr>
        <p:txBody>
          <a:bodyPr wrap="square">
            <a:spAutoFit/>
          </a:bodyPr>
          <a:lstStyle/>
          <a:p>
            <a:pPr algn="ctr">
              <a:defRPr sz="1100" b="0">
                <a:solidFill>
                  <a:srgbClr val="B0B8C0"/>
                </a:solidFill>
                <a:latin typeface="Arial"/>
              </a:defRPr>
            </a:pPr>
            <a:r>
              <a:t>Next.js, NestJS, PostgreSQL, Redis, CDN mondial, streaming HLS adaptatif. Le meilleur de la tech au service de la foi.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old_line_v2.png"/>
          <p:cNvPicPr>
            <a:picLocks noChangeAspect="1"/>
          </p:cNvPicPr>
          <p:nvPr/>
        </p:nvPicPr>
        <p:blipFill>
          <a:blip r:embed="rId2"/>
          <a:stretch>
            <a:fillRect/>
          </a:stretch>
        </p:blipFill>
        <p:spPr>
          <a:xfrm>
            <a:off x="0" y="0"/>
            <a:ext cx="12191695" cy="54864"/>
          </a:xfrm>
          <a:prstGeom prst="rect">
            <a:avLst/>
          </a:prstGeom>
        </p:spPr>
      </p:pic>
      <p:sp>
        <p:nvSpPr>
          <p:cNvPr id="3" name="Rectangle 2"/>
          <p:cNvSpPr/>
          <p:nvPr/>
        </p:nvSpPr>
        <p:spPr>
          <a:xfrm>
            <a:off x="0" y="6803136"/>
            <a:ext cx="12191695"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l">
              <a:defRPr sz="2600" b="1">
                <a:solidFill>
                  <a:srgbClr val="FFFFFF"/>
                </a:solidFill>
                <a:latin typeface="Georgia"/>
              </a:defRPr>
            </a:pPr>
            <a:r>
              <a:t>04  ARCHITECTURE DE LA PLATEFORME</a:t>
            </a:r>
          </a:p>
        </p:txBody>
      </p:sp>
      <p:sp>
        <p:nvSpPr>
          <p:cNvPr id="5" name="Rectangle 4"/>
          <p:cNvSpPr/>
          <p:nvPr/>
        </p:nvSpPr>
        <p:spPr>
          <a:xfrm>
            <a:off x="457200" y="77724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097280"/>
            <a:ext cx="3749039" cy="246888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book.png"/>
          <p:cNvPicPr>
            <a:picLocks noChangeAspect="1"/>
          </p:cNvPicPr>
          <p:nvPr/>
        </p:nvPicPr>
        <p:blipFill>
          <a:blip r:embed="rId3"/>
          <a:stretch>
            <a:fillRect/>
          </a:stretch>
        </p:blipFill>
        <p:spPr>
          <a:xfrm>
            <a:off x="548640" y="1280160"/>
            <a:ext cx="457200" cy="457200"/>
          </a:xfrm>
          <a:prstGeom prst="rect">
            <a:avLst/>
          </a:prstGeom>
        </p:spPr>
      </p:pic>
      <p:sp>
        <p:nvSpPr>
          <p:cNvPr id="8" name="TextBox 7"/>
          <p:cNvSpPr txBox="1"/>
          <p:nvPr/>
        </p:nvSpPr>
        <p:spPr>
          <a:xfrm>
            <a:off x="1097280" y="1325880"/>
            <a:ext cx="2743200" cy="365760"/>
          </a:xfrm>
          <a:prstGeom prst="rect">
            <a:avLst/>
          </a:prstGeom>
          <a:noFill/>
        </p:spPr>
        <p:txBody>
          <a:bodyPr wrap="square">
            <a:spAutoFit/>
          </a:bodyPr>
          <a:lstStyle/>
          <a:p>
            <a:pPr algn="l">
              <a:defRPr sz="1500" b="1">
                <a:solidFill>
                  <a:srgbClr val="D4A438"/>
                </a:solidFill>
                <a:latin typeface="Arial"/>
              </a:defRPr>
            </a:pPr>
            <a:r>
              <a:t>PAGE D'ACCUEIL</a:t>
            </a:r>
          </a:p>
        </p:txBody>
      </p:sp>
      <p:sp>
        <p:nvSpPr>
          <p:cNvPr id="9" name="TextBox 8"/>
          <p:cNvSpPr txBox="1"/>
          <p:nvPr/>
        </p:nvSpPr>
        <p:spPr>
          <a:xfrm>
            <a:off x="548640" y="1920240"/>
            <a:ext cx="3200400" cy="1554480"/>
          </a:xfrm>
          <a:prstGeom prst="rect">
            <a:avLst/>
          </a:prstGeom>
          <a:noFill/>
        </p:spPr>
        <p:txBody>
          <a:bodyPr wrap="square">
            <a:spAutoFit/>
          </a:bodyPr>
          <a:lstStyle/>
          <a:p>
            <a:pPr algn="l">
              <a:defRPr sz="1100" b="0">
                <a:solidFill>
                  <a:srgbClr val="B0B8C0"/>
                </a:solidFill>
                <a:latin typeface="Arial"/>
              </a:defRPr>
            </a:pPr>
            <a:r>
              <a:t>- Message de bienvenue &amp; vision</a:t>
            </a:r>
            <a:br/>
            <a:r>
              <a:t>- Video inspirante de Lord Lombo</a:t>
            </a:r>
            <a:br/>
            <a:r>
              <a:t>- Apercu des formations phares</a:t>
            </a:r>
            <a:br/>
            <a:r>
              <a:t>- CTA : Commence ta transformation</a:t>
            </a:r>
            <a:br/>
            <a:r>
              <a:t>- Temoignages en avant-premiere</a:t>
            </a:r>
          </a:p>
        </p:txBody>
      </p:sp>
      <p:sp>
        <p:nvSpPr>
          <p:cNvPr id="10" name="Rounded Rectangle 9"/>
          <p:cNvSpPr/>
          <p:nvPr/>
        </p:nvSpPr>
        <p:spPr>
          <a:xfrm>
            <a:off x="4206240" y="1097280"/>
            <a:ext cx="3749039" cy="246888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heart.png"/>
          <p:cNvPicPr>
            <a:picLocks noChangeAspect="1"/>
          </p:cNvPicPr>
          <p:nvPr/>
        </p:nvPicPr>
        <p:blipFill>
          <a:blip r:embed="rId4"/>
          <a:stretch>
            <a:fillRect/>
          </a:stretch>
        </p:blipFill>
        <p:spPr>
          <a:xfrm>
            <a:off x="4480560" y="1280160"/>
            <a:ext cx="457200" cy="457200"/>
          </a:xfrm>
          <a:prstGeom prst="rect">
            <a:avLst/>
          </a:prstGeom>
        </p:spPr>
      </p:pic>
      <p:sp>
        <p:nvSpPr>
          <p:cNvPr id="12" name="TextBox 11"/>
          <p:cNvSpPr txBox="1"/>
          <p:nvPr/>
        </p:nvSpPr>
        <p:spPr>
          <a:xfrm>
            <a:off x="5029200" y="1325880"/>
            <a:ext cx="2743200" cy="365760"/>
          </a:xfrm>
          <a:prstGeom prst="rect">
            <a:avLst/>
          </a:prstGeom>
          <a:noFill/>
        </p:spPr>
        <p:txBody>
          <a:bodyPr wrap="square">
            <a:spAutoFit/>
          </a:bodyPr>
          <a:lstStyle/>
          <a:p>
            <a:pPr algn="l">
              <a:defRPr sz="1500" b="1">
                <a:solidFill>
                  <a:srgbClr val="D4A438"/>
                </a:solidFill>
                <a:latin typeface="Arial"/>
              </a:defRPr>
            </a:pPr>
            <a:r>
              <a:t>A PROPOS</a:t>
            </a:r>
          </a:p>
        </p:txBody>
      </p:sp>
      <p:sp>
        <p:nvSpPr>
          <p:cNvPr id="13" name="TextBox 12"/>
          <p:cNvSpPr txBox="1"/>
          <p:nvPr/>
        </p:nvSpPr>
        <p:spPr>
          <a:xfrm>
            <a:off x="4480560" y="1920240"/>
            <a:ext cx="3200400" cy="1554480"/>
          </a:xfrm>
          <a:prstGeom prst="rect">
            <a:avLst/>
          </a:prstGeom>
          <a:noFill/>
        </p:spPr>
        <p:txBody>
          <a:bodyPr wrap="square">
            <a:spAutoFit/>
          </a:bodyPr>
          <a:lstStyle/>
          <a:p>
            <a:pPr algn="l">
              <a:defRPr sz="1100" b="0">
                <a:solidFill>
                  <a:srgbClr val="B0B8C0"/>
                </a:solidFill>
                <a:latin typeface="Arial"/>
              </a:defRPr>
            </a:pPr>
            <a:r>
              <a:t>- Presentation Lord Lombo</a:t>
            </a:r>
            <a:br/>
            <a:r>
              <a:t>- Mission, vision &amp; fondements</a:t>
            </a:r>
            <a:br/>
            <a:r>
              <a:t>- Histoire de l'academie</a:t>
            </a:r>
            <a:br/>
            <a:r>
              <a:t>- Temoignages d'apprenants</a:t>
            </a:r>
            <a:br/>
            <a:r>
              <a:t>- Equipe pedagogique</a:t>
            </a:r>
          </a:p>
        </p:txBody>
      </p:sp>
      <p:sp>
        <p:nvSpPr>
          <p:cNvPr id="14" name="Rounded Rectangle 13"/>
          <p:cNvSpPr/>
          <p:nvPr/>
        </p:nvSpPr>
        <p:spPr>
          <a:xfrm>
            <a:off x="8138160" y="1097280"/>
            <a:ext cx="3749039" cy="246888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form.png"/>
          <p:cNvPicPr>
            <a:picLocks noChangeAspect="1"/>
          </p:cNvPicPr>
          <p:nvPr/>
        </p:nvPicPr>
        <p:blipFill>
          <a:blip r:embed="rId5"/>
          <a:stretch>
            <a:fillRect/>
          </a:stretch>
        </p:blipFill>
        <p:spPr>
          <a:xfrm>
            <a:off x="8412480" y="1280160"/>
            <a:ext cx="457200" cy="457200"/>
          </a:xfrm>
          <a:prstGeom prst="rect">
            <a:avLst/>
          </a:prstGeom>
        </p:spPr>
      </p:pic>
      <p:sp>
        <p:nvSpPr>
          <p:cNvPr id="16" name="TextBox 15"/>
          <p:cNvSpPr txBox="1"/>
          <p:nvPr/>
        </p:nvSpPr>
        <p:spPr>
          <a:xfrm>
            <a:off x="8961120" y="1325880"/>
            <a:ext cx="2743200" cy="365760"/>
          </a:xfrm>
          <a:prstGeom prst="rect">
            <a:avLst/>
          </a:prstGeom>
          <a:noFill/>
        </p:spPr>
        <p:txBody>
          <a:bodyPr wrap="square">
            <a:spAutoFit/>
          </a:bodyPr>
          <a:lstStyle/>
          <a:p>
            <a:pPr algn="l">
              <a:defRPr sz="1500" b="1">
                <a:solidFill>
                  <a:srgbClr val="D4A438"/>
                </a:solidFill>
                <a:latin typeface="Arial"/>
              </a:defRPr>
            </a:pPr>
            <a:r>
              <a:t>PROGRAMMES &amp; FORMATIONS</a:t>
            </a:r>
          </a:p>
        </p:txBody>
      </p:sp>
      <p:sp>
        <p:nvSpPr>
          <p:cNvPr id="17" name="TextBox 16"/>
          <p:cNvSpPr txBox="1"/>
          <p:nvPr/>
        </p:nvSpPr>
        <p:spPr>
          <a:xfrm>
            <a:off x="8412480" y="1920240"/>
            <a:ext cx="3200400" cy="1554480"/>
          </a:xfrm>
          <a:prstGeom prst="rect">
            <a:avLst/>
          </a:prstGeom>
          <a:noFill/>
        </p:spPr>
        <p:txBody>
          <a:bodyPr wrap="square">
            <a:spAutoFit/>
          </a:bodyPr>
          <a:lstStyle/>
          <a:p>
            <a:pPr algn="l">
              <a:defRPr sz="1100" b="0">
                <a:solidFill>
                  <a:srgbClr val="B0B8C0"/>
                </a:solidFill>
                <a:latin typeface="Arial"/>
              </a:defRPr>
            </a:pPr>
            <a:r>
              <a:t>- Catalogue avec filtres par theme</a:t>
            </a:r>
            <a:br/>
            <a:r>
              <a:t>- Fiche detaillee par formation</a:t>
            </a:r>
            <a:br/>
            <a:r>
              <a:t>- Formateur, duree, prix, avis</a:t>
            </a:r>
            <a:br/>
            <a:r>
              <a:t>- Prerequis &amp; objectifs</a:t>
            </a:r>
            <a:br/>
            <a:r>
              <a:t>- Module de recherche avancee</a:t>
            </a:r>
          </a:p>
        </p:txBody>
      </p:sp>
      <p:sp>
        <p:nvSpPr>
          <p:cNvPr id="18" name="Rounded Rectangle 17"/>
          <p:cNvSpPr/>
          <p:nvPr/>
        </p:nvSpPr>
        <p:spPr>
          <a:xfrm>
            <a:off x="274320" y="3749039"/>
            <a:ext cx="3749039" cy="265176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users.png"/>
          <p:cNvPicPr>
            <a:picLocks noChangeAspect="1"/>
          </p:cNvPicPr>
          <p:nvPr/>
        </p:nvPicPr>
        <p:blipFill>
          <a:blip r:embed="rId6"/>
          <a:stretch>
            <a:fillRect/>
          </a:stretch>
        </p:blipFill>
        <p:spPr>
          <a:xfrm>
            <a:off x="548640" y="3931920"/>
            <a:ext cx="457200" cy="457200"/>
          </a:xfrm>
          <a:prstGeom prst="rect">
            <a:avLst/>
          </a:prstGeom>
        </p:spPr>
      </p:pic>
      <p:sp>
        <p:nvSpPr>
          <p:cNvPr id="20" name="TextBox 19"/>
          <p:cNvSpPr txBox="1"/>
          <p:nvPr/>
        </p:nvSpPr>
        <p:spPr>
          <a:xfrm>
            <a:off x="1097280" y="3977639"/>
            <a:ext cx="2743200" cy="365760"/>
          </a:xfrm>
          <a:prstGeom prst="rect">
            <a:avLst/>
          </a:prstGeom>
          <a:noFill/>
        </p:spPr>
        <p:txBody>
          <a:bodyPr wrap="square">
            <a:spAutoFit/>
          </a:bodyPr>
          <a:lstStyle/>
          <a:p>
            <a:pPr algn="l">
              <a:defRPr sz="1500" b="1">
                <a:solidFill>
                  <a:srgbClr val="D4A438"/>
                </a:solidFill>
                <a:latin typeface="Arial"/>
              </a:defRPr>
            </a:pPr>
            <a:r>
              <a:t>ESPACE MEMBRE</a:t>
            </a:r>
          </a:p>
        </p:txBody>
      </p:sp>
      <p:sp>
        <p:nvSpPr>
          <p:cNvPr id="21" name="TextBox 20"/>
          <p:cNvSpPr txBox="1"/>
          <p:nvPr/>
        </p:nvSpPr>
        <p:spPr>
          <a:xfrm>
            <a:off x="548640" y="4572000"/>
            <a:ext cx="3200400" cy="1645920"/>
          </a:xfrm>
          <a:prstGeom prst="rect">
            <a:avLst/>
          </a:prstGeom>
          <a:noFill/>
        </p:spPr>
        <p:txBody>
          <a:bodyPr wrap="square">
            <a:spAutoFit/>
          </a:bodyPr>
          <a:lstStyle/>
          <a:p>
            <a:pPr algn="l">
              <a:defRPr sz="1100" b="0">
                <a:solidFill>
                  <a:srgbClr val="B0B8C0"/>
                </a:solidFill>
                <a:latin typeface="Arial"/>
              </a:defRPr>
            </a:pPr>
            <a:r>
              <a:t>- Dashboard personnel</a:t>
            </a:r>
            <a:br/>
            <a:r>
              <a:t>- Suivi progression (barre %)</a:t>
            </a:r>
            <a:br/>
            <a:r>
              <a:t>- Certificats &amp; attestations PDF</a:t>
            </a:r>
            <a:br/>
            <a:r>
              <a:t>- Historique des formations</a:t>
            </a:r>
            <a:br/>
            <a:r>
              <a:t>- Espace Defis pratiques</a:t>
            </a:r>
            <a:br/>
            <a:r>
              <a:t>- Profil &amp; parametres</a:t>
            </a:r>
          </a:p>
        </p:txBody>
      </p:sp>
      <p:sp>
        <p:nvSpPr>
          <p:cNvPr id="22" name="Rounded Rectangle 21"/>
          <p:cNvSpPr/>
          <p:nvPr/>
        </p:nvSpPr>
        <p:spPr>
          <a:xfrm>
            <a:off x="4206240" y="3749039"/>
            <a:ext cx="3749039" cy="265176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_pay.png"/>
          <p:cNvPicPr>
            <a:picLocks noChangeAspect="1"/>
          </p:cNvPicPr>
          <p:nvPr/>
        </p:nvPicPr>
        <p:blipFill>
          <a:blip r:embed="rId7"/>
          <a:stretch>
            <a:fillRect/>
          </a:stretch>
        </p:blipFill>
        <p:spPr>
          <a:xfrm>
            <a:off x="4480560" y="3931920"/>
            <a:ext cx="457200" cy="457200"/>
          </a:xfrm>
          <a:prstGeom prst="rect">
            <a:avLst/>
          </a:prstGeom>
        </p:spPr>
      </p:pic>
      <p:sp>
        <p:nvSpPr>
          <p:cNvPr id="24" name="TextBox 23"/>
          <p:cNvSpPr txBox="1"/>
          <p:nvPr/>
        </p:nvSpPr>
        <p:spPr>
          <a:xfrm>
            <a:off x="5029200" y="3977639"/>
            <a:ext cx="2743200" cy="365760"/>
          </a:xfrm>
          <a:prstGeom prst="rect">
            <a:avLst/>
          </a:prstGeom>
          <a:noFill/>
        </p:spPr>
        <p:txBody>
          <a:bodyPr wrap="square">
            <a:spAutoFit/>
          </a:bodyPr>
          <a:lstStyle/>
          <a:p>
            <a:pPr algn="l">
              <a:defRPr sz="1500" b="1">
                <a:solidFill>
                  <a:srgbClr val="D4A438"/>
                </a:solidFill>
                <a:latin typeface="Arial"/>
              </a:defRPr>
            </a:pPr>
            <a:r>
              <a:t>PAIEMENT EN LIGNE</a:t>
            </a:r>
          </a:p>
        </p:txBody>
      </p:sp>
      <p:sp>
        <p:nvSpPr>
          <p:cNvPr id="25" name="TextBox 24"/>
          <p:cNvSpPr txBox="1"/>
          <p:nvPr/>
        </p:nvSpPr>
        <p:spPr>
          <a:xfrm>
            <a:off x="4480560" y="4572000"/>
            <a:ext cx="3200400" cy="1645920"/>
          </a:xfrm>
          <a:prstGeom prst="rect">
            <a:avLst/>
          </a:prstGeom>
          <a:noFill/>
        </p:spPr>
        <p:txBody>
          <a:bodyPr wrap="square">
            <a:spAutoFit/>
          </a:bodyPr>
          <a:lstStyle/>
          <a:p>
            <a:pPr algn="l">
              <a:defRPr sz="1100" b="0">
                <a:solidFill>
                  <a:srgbClr val="B0B8C0"/>
                </a:solidFill>
                <a:latin typeface="Arial"/>
              </a:defRPr>
            </a:pPr>
            <a:r>
              <a:t>- Carte bancaire (Stripe)</a:t>
            </a:r>
            <a:br/>
            <a:r>
              <a:t>- PayPal Business</a:t>
            </a:r>
            <a:br/>
            <a:r>
              <a:t>- Mobile Money (MTN, Orange, Airtel)</a:t>
            </a:r>
            <a:br/>
            <a:r>
              <a:t>- Recus &amp; factures automatiques</a:t>
            </a:r>
            <a:br/>
            <a:r>
              <a:t>- Abonnement mensuel/annuel</a:t>
            </a:r>
            <a:br/>
            <a:r>
              <a:t>- Codes promo &amp; reductions</a:t>
            </a:r>
          </a:p>
        </p:txBody>
      </p:sp>
      <p:sp>
        <p:nvSpPr>
          <p:cNvPr id="26" name="Rounded Rectangle 25"/>
          <p:cNvSpPr/>
          <p:nvPr/>
        </p:nvSpPr>
        <p:spPr>
          <a:xfrm>
            <a:off x="8138160" y="3749039"/>
            <a:ext cx="3749039" cy="265176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_admin.png"/>
          <p:cNvPicPr>
            <a:picLocks noChangeAspect="1"/>
          </p:cNvPicPr>
          <p:nvPr/>
        </p:nvPicPr>
        <p:blipFill>
          <a:blip r:embed="rId8"/>
          <a:stretch>
            <a:fillRect/>
          </a:stretch>
        </p:blipFill>
        <p:spPr>
          <a:xfrm>
            <a:off x="8412480" y="3931920"/>
            <a:ext cx="457200" cy="457200"/>
          </a:xfrm>
          <a:prstGeom prst="rect">
            <a:avLst/>
          </a:prstGeom>
        </p:spPr>
      </p:pic>
      <p:sp>
        <p:nvSpPr>
          <p:cNvPr id="28" name="TextBox 27"/>
          <p:cNvSpPr txBox="1"/>
          <p:nvPr/>
        </p:nvSpPr>
        <p:spPr>
          <a:xfrm>
            <a:off x="8961120" y="3977639"/>
            <a:ext cx="2743200" cy="365760"/>
          </a:xfrm>
          <a:prstGeom prst="rect">
            <a:avLst/>
          </a:prstGeom>
          <a:noFill/>
        </p:spPr>
        <p:txBody>
          <a:bodyPr wrap="square">
            <a:spAutoFit/>
          </a:bodyPr>
          <a:lstStyle/>
          <a:p>
            <a:pPr algn="l">
              <a:defRPr sz="1500" b="1">
                <a:solidFill>
                  <a:srgbClr val="D4A438"/>
                </a:solidFill>
                <a:latin typeface="Arial"/>
              </a:defRPr>
            </a:pPr>
            <a:r>
              <a:t>ESPACE ADMINISTRATEUR</a:t>
            </a:r>
          </a:p>
        </p:txBody>
      </p:sp>
      <p:sp>
        <p:nvSpPr>
          <p:cNvPr id="29" name="TextBox 28"/>
          <p:cNvSpPr txBox="1"/>
          <p:nvPr/>
        </p:nvSpPr>
        <p:spPr>
          <a:xfrm>
            <a:off x="8412480" y="4572000"/>
            <a:ext cx="3200400" cy="1645920"/>
          </a:xfrm>
          <a:prstGeom prst="rect">
            <a:avLst/>
          </a:prstGeom>
          <a:noFill/>
        </p:spPr>
        <p:txBody>
          <a:bodyPr wrap="square">
            <a:spAutoFit/>
          </a:bodyPr>
          <a:lstStyle/>
          <a:p>
            <a:pPr algn="l">
              <a:defRPr sz="1100" b="0">
                <a:solidFill>
                  <a:srgbClr val="B0B8C0"/>
                </a:solidFill>
                <a:latin typeface="Arial"/>
              </a:defRPr>
            </a:pPr>
            <a:r>
              <a:t>- Gestion utilisateurs &amp; roles</a:t>
            </a:r>
            <a:br/>
            <a:r>
              <a:t>- Ajout/modification programmes</a:t>
            </a:r>
            <a:br/>
            <a:r>
              <a:t>- Statistiques en temps reel</a:t>
            </a:r>
            <a:br/>
            <a:r>
              <a:t>- Rapports satisfaction</a:t>
            </a:r>
            <a:br/>
            <a:r>
              <a:t>- Gestion paiements &amp; refunds</a:t>
            </a:r>
            <a:br/>
            <a:r>
              <a:t>- Moderation forum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371600" cy="640080"/>
          </a:xfrm>
          <a:prstGeom prst="rect">
            <a:avLst/>
          </a:prstGeom>
          <a:noFill/>
        </p:spPr>
        <p:txBody>
          <a:bodyPr wrap="square">
            <a:spAutoFit/>
          </a:bodyPr>
          <a:lstStyle/>
          <a:p>
            <a:pPr algn="l">
              <a:defRPr sz="4800" b="1">
                <a:solidFill>
                  <a:srgbClr val="D4A438"/>
                </a:solidFill>
                <a:latin typeface="Georgia"/>
              </a:defRPr>
            </a:pPr>
            <a:r>
              <a:t>05</a:t>
            </a:r>
          </a:p>
        </p:txBody>
      </p:sp>
      <p:sp>
        <p:nvSpPr>
          <p:cNvPr id="4" name="TextBox 3"/>
          <p:cNvSpPr txBox="1"/>
          <p:nvPr/>
        </p:nvSpPr>
        <p:spPr>
          <a:xfrm>
            <a:off x="1828800" y="274320"/>
            <a:ext cx="9144000" cy="640080"/>
          </a:xfrm>
          <a:prstGeom prst="rect">
            <a:avLst/>
          </a:prstGeom>
          <a:noFill/>
        </p:spPr>
        <p:txBody>
          <a:bodyPr wrap="square">
            <a:spAutoFit/>
          </a:bodyPr>
          <a:lstStyle/>
          <a:p>
            <a:pPr algn="l">
              <a:defRPr sz="2600" b="1">
                <a:solidFill>
                  <a:srgbClr val="FFFFFF"/>
                </a:solidFill>
                <a:latin typeface="Georgia"/>
              </a:defRPr>
            </a:pPr>
            <a:r>
              <a:t>EVALUATION &amp; SATISFACTION</a:t>
            </a:r>
          </a:p>
        </p:txBody>
      </p:sp>
      <p:sp>
        <p:nvSpPr>
          <p:cNvPr id="5" name="Rectangle 4"/>
          <p:cNvSpPr/>
          <p:nvPr/>
        </p:nvSpPr>
        <p:spPr>
          <a:xfrm>
            <a:off x="1828800" y="86868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188720"/>
            <a:ext cx="5669280" cy="521208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4572000" cy="365760"/>
          </a:xfrm>
          <a:prstGeom prst="rect">
            <a:avLst/>
          </a:prstGeom>
          <a:noFill/>
        </p:spPr>
        <p:txBody>
          <a:bodyPr wrap="square">
            <a:spAutoFit/>
          </a:bodyPr>
          <a:lstStyle/>
          <a:p>
            <a:pPr algn="l">
              <a:defRPr sz="1500" b="1">
                <a:solidFill>
                  <a:srgbClr val="D4A438"/>
                </a:solidFill>
                <a:latin typeface="Arial"/>
              </a:defRPr>
            </a:pPr>
            <a:r>
              <a:t>SYSTEME D'EVALUATION</a:t>
            </a:r>
          </a:p>
        </p:txBody>
      </p:sp>
      <p:sp>
        <p:nvSpPr>
          <p:cNvPr id="8" name="TextBox 7"/>
          <p:cNvSpPr txBox="1"/>
          <p:nvPr/>
        </p:nvSpPr>
        <p:spPr>
          <a:xfrm>
            <a:off x="548640" y="1828800"/>
            <a:ext cx="5120640" cy="4389120"/>
          </a:xfrm>
          <a:prstGeom prst="rect">
            <a:avLst/>
          </a:prstGeom>
          <a:noFill/>
        </p:spPr>
        <p:txBody>
          <a:bodyPr wrap="square">
            <a:spAutoFit/>
          </a:bodyPr>
          <a:lstStyle/>
          <a:p>
            <a:pPr algn="l">
              <a:defRPr sz="1200" b="0">
                <a:solidFill>
                  <a:srgbClr val="B0B8C0"/>
                </a:solidFill>
                <a:latin typeface="Arial"/>
              </a:defRPr>
            </a:pPr>
            <a:r>
              <a:t>Questionnaire automatique</a:t>
            </a:r>
            <a:br/>
            <a:r>
              <a:t>Apres chaque module et chaque formation, un questionnaire de satisfaction est automatiquement envoye a l'apprenant.</a:t>
            </a:r>
            <a:br/>
            <a:br/>
            <a:r>
              <a:t>Notation par etoiles (1 a 5)</a:t>
            </a:r>
            <a:br/>
            <a:r>
              <a:t>Chaque formation, formateur et module peut etre note individuellement avec un systeme d'etoiles intuitif.</a:t>
            </a:r>
            <a:br/>
            <a:br/>
            <a:r>
              <a:t>Commentaires detailles</a:t>
            </a:r>
            <a:br/>
            <a:r>
              <a:t>Les apprenants peuvent laisser des avis textuels visibles par les futurs inscrits, creant un effet de confiance.</a:t>
            </a:r>
            <a:br/>
            <a:br/>
            <a:r>
              <a:t>Rapport de satisfaction</a:t>
            </a:r>
            <a:br/>
            <a:r>
              <a:t>L'equipe admin dispose d'un dashboard dedie avec taux de satisfaction, NPS, tendances et alertes automatiques.</a:t>
            </a:r>
          </a:p>
        </p:txBody>
      </p:sp>
      <p:sp>
        <p:nvSpPr>
          <p:cNvPr id="9" name="Rounded Rectangle 8"/>
          <p:cNvSpPr/>
          <p:nvPr/>
        </p:nvSpPr>
        <p:spPr>
          <a:xfrm>
            <a:off x="6217920" y="1188720"/>
            <a:ext cx="566928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371600"/>
            <a:ext cx="4572000" cy="365760"/>
          </a:xfrm>
          <a:prstGeom prst="rect">
            <a:avLst/>
          </a:prstGeom>
          <a:noFill/>
        </p:spPr>
        <p:txBody>
          <a:bodyPr wrap="square">
            <a:spAutoFit/>
          </a:bodyPr>
          <a:lstStyle/>
          <a:p>
            <a:pPr algn="l">
              <a:defRPr sz="1500" b="1">
                <a:solidFill>
                  <a:srgbClr val="D4A438"/>
                </a:solidFill>
                <a:latin typeface="Arial"/>
              </a:defRPr>
            </a:pPr>
            <a:r>
              <a:t>INDICATEURS CLES (KPI)</a:t>
            </a:r>
          </a:p>
        </p:txBody>
      </p:sp>
      <p:sp>
        <p:nvSpPr>
          <p:cNvPr id="11" name="TextBox 10"/>
          <p:cNvSpPr txBox="1"/>
          <p:nvPr/>
        </p:nvSpPr>
        <p:spPr>
          <a:xfrm>
            <a:off x="6492240" y="1828800"/>
            <a:ext cx="5120640" cy="1554480"/>
          </a:xfrm>
          <a:prstGeom prst="rect">
            <a:avLst/>
          </a:prstGeom>
          <a:noFill/>
        </p:spPr>
        <p:txBody>
          <a:bodyPr wrap="square">
            <a:spAutoFit/>
          </a:bodyPr>
          <a:lstStyle/>
          <a:p>
            <a:pPr algn="l">
              <a:defRPr sz="1200" b="0">
                <a:solidFill>
                  <a:srgbClr val="B0B8C0"/>
                </a:solidFill>
                <a:latin typeface="Arial"/>
              </a:defRPr>
            </a:pPr>
            <a:r>
              <a:t>- Taux de completion des formations</a:t>
            </a:r>
            <a:br/>
            <a:r>
              <a:t>- Score moyen de satisfaction</a:t>
            </a:r>
            <a:br/>
            <a:r>
              <a:t>- Net Promoter Score (NPS)</a:t>
            </a:r>
            <a:br/>
            <a:r>
              <a:t>- Taux de retention des abonnes</a:t>
            </a:r>
            <a:br/>
            <a:r>
              <a:t>- Nombre d'inscriptions / mois</a:t>
            </a:r>
            <a:br/>
            <a:r>
              <a:t>- Revenus par formation</a:t>
            </a:r>
          </a:p>
        </p:txBody>
      </p:sp>
      <p:sp>
        <p:nvSpPr>
          <p:cNvPr id="12" name="Rounded Rectangle 11"/>
          <p:cNvSpPr/>
          <p:nvPr/>
        </p:nvSpPr>
        <p:spPr>
          <a:xfrm>
            <a:off x="6217920" y="3749039"/>
            <a:ext cx="5669280" cy="265176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931920"/>
            <a:ext cx="4572000" cy="365760"/>
          </a:xfrm>
          <a:prstGeom prst="rect">
            <a:avLst/>
          </a:prstGeom>
          <a:noFill/>
        </p:spPr>
        <p:txBody>
          <a:bodyPr wrap="square">
            <a:spAutoFit/>
          </a:bodyPr>
          <a:lstStyle/>
          <a:p>
            <a:pPr algn="l">
              <a:defRPr sz="1500" b="1">
                <a:solidFill>
                  <a:srgbClr val="D4A438"/>
                </a:solidFill>
                <a:latin typeface="Arial"/>
              </a:defRPr>
            </a:pPr>
            <a:r>
              <a:t>SUIVI DE PROGRESSION</a:t>
            </a:r>
          </a:p>
        </p:txBody>
      </p:sp>
      <p:sp>
        <p:nvSpPr>
          <p:cNvPr id="14" name="TextBox 13"/>
          <p:cNvSpPr txBox="1"/>
          <p:nvPr/>
        </p:nvSpPr>
        <p:spPr>
          <a:xfrm>
            <a:off x="6492240" y="4389120"/>
            <a:ext cx="5120640" cy="1645920"/>
          </a:xfrm>
          <a:prstGeom prst="rect">
            <a:avLst/>
          </a:prstGeom>
          <a:noFill/>
        </p:spPr>
        <p:txBody>
          <a:bodyPr wrap="square">
            <a:spAutoFit/>
          </a:bodyPr>
          <a:lstStyle/>
          <a:p>
            <a:pPr algn="l">
              <a:defRPr sz="1200" b="0">
                <a:solidFill>
                  <a:srgbClr val="B0B8C0"/>
                </a:solidFill>
                <a:latin typeface="Arial"/>
              </a:defRPr>
            </a:pPr>
            <a:r>
              <a:t>- Barre de progression visuelle (%)</a:t>
            </a:r>
            <a:br/>
            <a:r>
              <a:t>- Historique complet des formations</a:t>
            </a:r>
            <a:br/>
            <a:r>
              <a:t>- Badges &amp; recompenses gamifiees</a:t>
            </a:r>
            <a:br/>
            <a:r>
              <a:t>- Rappels automatiques (email/push)</a:t>
            </a:r>
            <a:br/>
            <a:r>
              <a:t>- Tableaux comparatifs avant/apres</a:t>
            </a:r>
            <a:br/>
            <a:r>
              <a:t>- Export des resultats en 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old_line_v2.png"/>
          <p:cNvPicPr>
            <a:picLocks noChangeAspect="1"/>
          </p:cNvPicPr>
          <p:nvPr/>
        </p:nvPicPr>
        <p:blipFill>
          <a:blip r:embed="rId2"/>
          <a:stretch>
            <a:fillRect/>
          </a:stretch>
        </p:blipFill>
        <p:spPr>
          <a:xfrm>
            <a:off x="0" y="0"/>
            <a:ext cx="12191695" cy="54864"/>
          </a:xfrm>
          <a:prstGeom prst="rect">
            <a:avLst/>
          </a:prstGeom>
        </p:spPr>
      </p:pic>
      <p:sp>
        <p:nvSpPr>
          <p:cNvPr id="3" name="Rectangle 2"/>
          <p:cNvSpPr/>
          <p:nvPr/>
        </p:nvSpPr>
        <p:spPr>
          <a:xfrm>
            <a:off x="0" y="6803136"/>
            <a:ext cx="12191695"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l">
              <a:defRPr sz="2600" b="1">
                <a:solidFill>
                  <a:srgbClr val="FFFFFF"/>
                </a:solidFill>
                <a:latin typeface="Georgia"/>
              </a:defRPr>
            </a:pPr>
            <a:r>
              <a:t>06  METHODES PEDAGOGIQUES</a:t>
            </a:r>
          </a:p>
        </p:txBody>
      </p:sp>
      <p:sp>
        <p:nvSpPr>
          <p:cNvPr id="5" name="Rectangle 4"/>
          <p:cNvSpPr/>
          <p:nvPr/>
        </p:nvSpPr>
        <p:spPr>
          <a:xfrm>
            <a:off x="457200" y="77724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097280"/>
            <a:ext cx="3749039" cy="3657600"/>
          </a:xfrm>
          <a:prstGeom prst="roundRect">
            <a:avLst/>
          </a:prstGeom>
          <a:solidFill>
            <a:srgbClr val="0C152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vid.png"/>
          <p:cNvPicPr>
            <a:picLocks noChangeAspect="1"/>
          </p:cNvPicPr>
          <p:nvPr/>
        </p:nvPicPr>
        <p:blipFill>
          <a:blip r:embed="rId3"/>
          <a:stretch>
            <a:fillRect/>
          </a:stretch>
        </p:blipFill>
        <p:spPr>
          <a:xfrm>
            <a:off x="1737360" y="1280160"/>
            <a:ext cx="640080" cy="640080"/>
          </a:xfrm>
          <a:prstGeom prst="rect">
            <a:avLst/>
          </a:prstGeom>
        </p:spPr>
      </p:pic>
      <p:sp>
        <p:nvSpPr>
          <p:cNvPr id="8" name="TextBox 7"/>
          <p:cNvSpPr txBox="1"/>
          <p:nvPr/>
        </p:nvSpPr>
        <p:spPr>
          <a:xfrm>
            <a:off x="457200" y="2011680"/>
            <a:ext cx="3383280" cy="365760"/>
          </a:xfrm>
          <a:prstGeom prst="rect">
            <a:avLst/>
          </a:prstGeom>
          <a:noFill/>
        </p:spPr>
        <p:txBody>
          <a:bodyPr wrap="square">
            <a:spAutoFit/>
          </a:bodyPr>
          <a:lstStyle/>
          <a:p>
            <a:pPr algn="ctr">
              <a:defRPr sz="1600" b="1">
                <a:solidFill>
                  <a:srgbClr val="D4A438"/>
                </a:solidFill>
                <a:latin typeface="Arial"/>
              </a:defRPr>
            </a:pPr>
            <a:r>
              <a:t>COURS ENREGISTRES</a:t>
            </a:r>
          </a:p>
        </p:txBody>
      </p:sp>
      <p:sp>
        <p:nvSpPr>
          <p:cNvPr id="9" name="TextBox 8"/>
          <p:cNvSpPr txBox="1"/>
          <p:nvPr/>
        </p:nvSpPr>
        <p:spPr>
          <a:xfrm>
            <a:off x="457200" y="2468880"/>
            <a:ext cx="3383280" cy="2103120"/>
          </a:xfrm>
          <a:prstGeom prst="rect">
            <a:avLst/>
          </a:prstGeom>
          <a:noFill/>
        </p:spPr>
        <p:txBody>
          <a:bodyPr wrap="square">
            <a:spAutoFit/>
          </a:bodyPr>
          <a:lstStyle/>
          <a:p>
            <a:pPr algn="ctr">
              <a:defRPr sz="1100" b="0">
                <a:solidFill>
                  <a:srgbClr val="B0B8C0"/>
                </a:solidFill>
                <a:latin typeface="Arial"/>
              </a:defRPr>
            </a:pPr>
            <a:r>
              <a:t>- Videos HD pre-enregistrees 24h/24</a:t>
            </a:r>
            <a:br/>
            <a:r>
              <a:t>- Documents PDF complementaires</a:t>
            </a:r>
            <a:br/>
            <a:r>
              <a:t>- Fichiers audio (podcasts)</a:t>
            </a:r>
            <a:br/>
            <a:r>
              <a:t>- Quiz interactifs par module</a:t>
            </a:r>
            <a:br/>
            <a:r>
              <a:t>- Acces illimite a vie</a:t>
            </a:r>
            <a:br/>
            <a:r>
              <a:t>- Suivi automatique progression</a:t>
            </a:r>
            <a:br/>
            <a:r>
              <a:t>- Sous-titres multilingues</a:t>
            </a:r>
          </a:p>
        </p:txBody>
      </p:sp>
      <p:sp>
        <p:nvSpPr>
          <p:cNvPr id="10" name="Rounded Rectangle 9"/>
          <p:cNvSpPr/>
          <p:nvPr/>
        </p:nvSpPr>
        <p:spPr>
          <a:xfrm>
            <a:off x="4206240" y="1097280"/>
            <a:ext cx="3749039" cy="3657600"/>
          </a:xfrm>
          <a:prstGeom prst="roundRect">
            <a:avLst/>
          </a:prstGeom>
          <a:solidFill>
            <a:srgbClr val="0C152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live.png"/>
          <p:cNvPicPr>
            <a:picLocks noChangeAspect="1"/>
          </p:cNvPicPr>
          <p:nvPr/>
        </p:nvPicPr>
        <p:blipFill>
          <a:blip r:embed="rId4"/>
          <a:stretch>
            <a:fillRect/>
          </a:stretch>
        </p:blipFill>
        <p:spPr>
          <a:xfrm>
            <a:off x="5669280" y="1280160"/>
            <a:ext cx="640080" cy="640080"/>
          </a:xfrm>
          <a:prstGeom prst="rect">
            <a:avLst/>
          </a:prstGeom>
        </p:spPr>
      </p:pic>
      <p:sp>
        <p:nvSpPr>
          <p:cNvPr id="12" name="TextBox 11"/>
          <p:cNvSpPr txBox="1"/>
          <p:nvPr/>
        </p:nvSpPr>
        <p:spPr>
          <a:xfrm>
            <a:off x="4389120" y="2011680"/>
            <a:ext cx="3383280" cy="365760"/>
          </a:xfrm>
          <a:prstGeom prst="rect">
            <a:avLst/>
          </a:prstGeom>
          <a:noFill/>
        </p:spPr>
        <p:txBody>
          <a:bodyPr wrap="square">
            <a:spAutoFit/>
          </a:bodyPr>
          <a:lstStyle/>
          <a:p>
            <a:pPr algn="ctr">
              <a:defRPr sz="1600" b="1">
                <a:solidFill>
                  <a:srgbClr val="D4A438"/>
                </a:solidFill>
                <a:latin typeface="Arial"/>
              </a:defRPr>
            </a:pPr>
            <a:r>
              <a:t>SESSIONS EN DIRECT</a:t>
            </a:r>
          </a:p>
        </p:txBody>
      </p:sp>
      <p:sp>
        <p:nvSpPr>
          <p:cNvPr id="13" name="TextBox 12"/>
          <p:cNvSpPr txBox="1"/>
          <p:nvPr/>
        </p:nvSpPr>
        <p:spPr>
          <a:xfrm>
            <a:off x="4389120" y="2468880"/>
            <a:ext cx="3383280" cy="2103120"/>
          </a:xfrm>
          <a:prstGeom prst="rect">
            <a:avLst/>
          </a:prstGeom>
          <a:noFill/>
        </p:spPr>
        <p:txBody>
          <a:bodyPr wrap="square">
            <a:spAutoFit/>
          </a:bodyPr>
          <a:lstStyle/>
          <a:p>
            <a:pPr algn="ctr">
              <a:defRPr sz="1100" b="0">
                <a:solidFill>
                  <a:srgbClr val="B0B8C0"/>
                </a:solidFill>
                <a:latin typeface="Arial"/>
              </a:defRPr>
            </a:pPr>
            <a:r>
              <a:t>- Integration Zoom / Google Meet</a:t>
            </a:r>
            <a:br/>
            <a:r>
              <a:t>- Lien dans l'espace membre</a:t>
            </a:r>
            <a:br/>
            <a:r>
              <a:t>- Notifications &amp; rappels auto</a:t>
            </a:r>
            <a:br/>
            <a:r>
              <a:t>- Interaction en temps reel</a:t>
            </a:r>
            <a:br/>
            <a:r>
              <a:t>- Questions, priere, coaching</a:t>
            </a:r>
            <a:br/>
            <a:r>
              <a:t>- Replays pour les absents</a:t>
            </a:r>
            <a:br/>
            <a:r>
              <a:t>- Chat en direct</a:t>
            </a:r>
          </a:p>
        </p:txBody>
      </p:sp>
      <p:sp>
        <p:nvSpPr>
          <p:cNvPr id="14" name="Rounded Rectangle 13"/>
          <p:cNvSpPr/>
          <p:nvPr/>
        </p:nvSpPr>
        <p:spPr>
          <a:xfrm>
            <a:off x="8138160" y="1097280"/>
            <a:ext cx="3749039" cy="3657600"/>
          </a:xfrm>
          <a:prstGeom prst="roundRect">
            <a:avLst/>
          </a:prstGeom>
          <a:solidFill>
            <a:srgbClr val="0C152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oach.png"/>
          <p:cNvPicPr>
            <a:picLocks noChangeAspect="1"/>
          </p:cNvPicPr>
          <p:nvPr/>
        </p:nvPicPr>
        <p:blipFill>
          <a:blip r:embed="rId5"/>
          <a:stretch>
            <a:fillRect/>
          </a:stretch>
        </p:blipFill>
        <p:spPr>
          <a:xfrm>
            <a:off x="9601200" y="1280160"/>
            <a:ext cx="640080" cy="640080"/>
          </a:xfrm>
          <a:prstGeom prst="rect">
            <a:avLst/>
          </a:prstGeom>
        </p:spPr>
      </p:pic>
      <p:sp>
        <p:nvSpPr>
          <p:cNvPr id="16" name="TextBox 15"/>
          <p:cNvSpPr txBox="1"/>
          <p:nvPr/>
        </p:nvSpPr>
        <p:spPr>
          <a:xfrm>
            <a:off x="8321040" y="2011680"/>
            <a:ext cx="3383280" cy="365760"/>
          </a:xfrm>
          <a:prstGeom prst="rect">
            <a:avLst/>
          </a:prstGeom>
          <a:noFill/>
        </p:spPr>
        <p:txBody>
          <a:bodyPr wrap="square">
            <a:spAutoFit/>
          </a:bodyPr>
          <a:lstStyle/>
          <a:p>
            <a:pPr algn="ctr">
              <a:defRPr sz="1600" b="1">
                <a:solidFill>
                  <a:srgbClr val="D4A438"/>
                </a:solidFill>
                <a:latin typeface="Arial"/>
              </a:defRPr>
            </a:pPr>
            <a:r>
              <a:t>PARCOURS PERSONNALISE</a:t>
            </a:r>
          </a:p>
        </p:txBody>
      </p:sp>
      <p:sp>
        <p:nvSpPr>
          <p:cNvPr id="17" name="TextBox 16"/>
          <p:cNvSpPr txBox="1"/>
          <p:nvPr/>
        </p:nvSpPr>
        <p:spPr>
          <a:xfrm>
            <a:off x="8321040" y="2468880"/>
            <a:ext cx="3383280" cy="2103120"/>
          </a:xfrm>
          <a:prstGeom prst="rect">
            <a:avLst/>
          </a:prstGeom>
          <a:noFill/>
        </p:spPr>
        <p:txBody>
          <a:bodyPr wrap="square">
            <a:spAutoFit/>
          </a:bodyPr>
          <a:lstStyle/>
          <a:p>
            <a:pPr algn="ctr">
              <a:defRPr sz="1100" b="0">
                <a:solidFill>
                  <a:srgbClr val="B0B8C0"/>
                </a:solidFill>
                <a:latin typeface="Arial"/>
              </a:defRPr>
            </a:pPr>
            <a:r>
              <a:t>- Mix videos + sessions live</a:t>
            </a:r>
            <a:br/>
            <a:r>
              <a:t>- Coaching individuel premium</a:t>
            </a:r>
            <a:br/>
            <a:r>
              <a:t>- Coaching de groupe</a:t>
            </a:r>
            <a:br/>
            <a:r>
              <a:t>- Defis pratiques hebdomadaires</a:t>
            </a:r>
            <a:br/>
            <a:r>
              <a:t>- Exercices d'application</a:t>
            </a:r>
            <a:br/>
            <a:r>
              <a:t>- Mentorat personnalise</a:t>
            </a:r>
            <a:br/>
            <a:r>
              <a:t>- Suivi par formateur dedie</a:t>
            </a:r>
          </a:p>
        </p:txBody>
      </p:sp>
      <p:sp>
        <p:nvSpPr>
          <p:cNvPr id="18" name="Rounded Rectangle 17"/>
          <p:cNvSpPr/>
          <p:nvPr/>
        </p:nvSpPr>
        <p:spPr>
          <a:xfrm>
            <a:off x="274320" y="5029200"/>
            <a:ext cx="11612880" cy="1371600"/>
          </a:xfrm>
          <a:prstGeom prst="roundRect">
            <a:avLst/>
          </a:prstGeom>
          <a:solidFill>
            <a:srgbClr val="0C152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212080"/>
            <a:ext cx="3657600" cy="365760"/>
          </a:xfrm>
          <a:prstGeom prst="rect">
            <a:avLst/>
          </a:prstGeom>
          <a:noFill/>
        </p:spPr>
        <p:txBody>
          <a:bodyPr wrap="square">
            <a:spAutoFit/>
          </a:bodyPr>
          <a:lstStyle/>
          <a:p>
            <a:pPr algn="l">
              <a:defRPr sz="1400" b="1">
                <a:solidFill>
                  <a:srgbClr val="D4A438"/>
                </a:solidFill>
                <a:latin typeface="Arial"/>
              </a:defRPr>
            </a:pPr>
            <a:r>
              <a:t>MODELE HYBRIDE INNOVANT</a:t>
            </a:r>
          </a:p>
        </p:txBody>
      </p:sp>
      <p:sp>
        <p:nvSpPr>
          <p:cNvPr id="20" name="TextBox 19"/>
          <p:cNvSpPr txBox="1"/>
          <p:nvPr/>
        </p:nvSpPr>
        <p:spPr>
          <a:xfrm>
            <a:off x="548640" y="5623560"/>
            <a:ext cx="11064240" cy="731520"/>
          </a:xfrm>
          <a:prstGeom prst="rect">
            <a:avLst/>
          </a:prstGeom>
          <a:noFill/>
        </p:spPr>
        <p:txBody>
          <a:bodyPr wrap="square">
            <a:spAutoFit/>
          </a:bodyPr>
          <a:lstStyle/>
          <a:p>
            <a:pPr algn="l">
              <a:defRPr sz="1100" b="0">
                <a:solidFill>
                  <a:srgbClr val="B0B8C0"/>
                </a:solidFill>
                <a:latin typeface="Arial"/>
              </a:defRPr>
            </a:pPr>
            <a:r>
              <a:t>La combinaison strategique de ces 3 approches garantit une experience d'apprentissage complete, flexible et adaptee a chaque profil. L'apprenant choisit son rythme tout en beneficiant d'un accompagnement humain de qualite. Les defis pratiques ancrent les enseignements dans le quotidien.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371600" cy="640080"/>
          </a:xfrm>
          <a:prstGeom prst="rect">
            <a:avLst/>
          </a:prstGeom>
          <a:noFill/>
        </p:spPr>
        <p:txBody>
          <a:bodyPr wrap="square">
            <a:spAutoFit/>
          </a:bodyPr>
          <a:lstStyle/>
          <a:p>
            <a:pPr algn="l">
              <a:defRPr sz="4800" b="1">
                <a:solidFill>
                  <a:srgbClr val="D4A438"/>
                </a:solidFill>
                <a:latin typeface="Georgia"/>
              </a:defRPr>
            </a:pPr>
            <a:r>
              <a:t>07</a:t>
            </a:r>
          </a:p>
        </p:txBody>
      </p:sp>
      <p:sp>
        <p:nvSpPr>
          <p:cNvPr id="4" name="TextBox 3"/>
          <p:cNvSpPr txBox="1"/>
          <p:nvPr/>
        </p:nvSpPr>
        <p:spPr>
          <a:xfrm>
            <a:off x="1828800" y="274320"/>
            <a:ext cx="9144000" cy="640080"/>
          </a:xfrm>
          <a:prstGeom prst="rect">
            <a:avLst/>
          </a:prstGeom>
          <a:noFill/>
        </p:spPr>
        <p:txBody>
          <a:bodyPr wrap="square">
            <a:spAutoFit/>
          </a:bodyPr>
          <a:lstStyle/>
          <a:p>
            <a:pPr algn="l">
              <a:defRPr sz="2600" b="1">
                <a:solidFill>
                  <a:srgbClr val="FFFFFF"/>
                </a:solidFill>
                <a:latin typeface="Georgia"/>
              </a:defRPr>
            </a:pPr>
            <a:r>
              <a:t>FONCTIONNALITES AVANCEES</a:t>
            </a:r>
          </a:p>
        </p:txBody>
      </p:sp>
      <p:sp>
        <p:nvSpPr>
          <p:cNvPr id="5" name="Rectangle 4"/>
          <p:cNvSpPr/>
          <p:nvPr/>
        </p:nvSpPr>
        <p:spPr>
          <a:xfrm>
            <a:off x="1828800" y="86868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18872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mob.png"/>
          <p:cNvPicPr>
            <a:picLocks noChangeAspect="1"/>
          </p:cNvPicPr>
          <p:nvPr/>
        </p:nvPicPr>
        <p:blipFill>
          <a:blip r:embed="rId2"/>
          <a:stretch>
            <a:fillRect/>
          </a:stretch>
        </p:blipFill>
        <p:spPr>
          <a:xfrm>
            <a:off x="914400" y="1371600"/>
            <a:ext cx="457200" cy="457200"/>
          </a:xfrm>
          <a:prstGeom prst="rect">
            <a:avLst/>
          </a:prstGeom>
        </p:spPr>
      </p:pic>
      <p:sp>
        <p:nvSpPr>
          <p:cNvPr id="8" name="TextBox 7"/>
          <p:cNvSpPr txBox="1"/>
          <p:nvPr/>
        </p:nvSpPr>
        <p:spPr>
          <a:xfrm>
            <a:off x="274320" y="1920240"/>
            <a:ext cx="2011680" cy="457200"/>
          </a:xfrm>
          <a:prstGeom prst="rect">
            <a:avLst/>
          </a:prstGeom>
          <a:noFill/>
        </p:spPr>
        <p:txBody>
          <a:bodyPr wrap="square">
            <a:spAutoFit/>
          </a:bodyPr>
          <a:lstStyle/>
          <a:p>
            <a:pPr algn="ctr">
              <a:defRPr sz="1100" b="1">
                <a:solidFill>
                  <a:srgbClr val="D4A438"/>
                </a:solidFill>
                <a:latin typeface="Arial"/>
              </a:defRPr>
            </a:pPr>
            <a:r>
              <a:t>Responsive &amp;</a:t>
            </a:r>
            <a:br/>
            <a:r>
              <a:t>Mobile First</a:t>
            </a:r>
          </a:p>
        </p:txBody>
      </p:sp>
      <p:sp>
        <p:nvSpPr>
          <p:cNvPr id="9" name="TextBox 8"/>
          <p:cNvSpPr txBox="1"/>
          <p:nvPr/>
        </p:nvSpPr>
        <p:spPr>
          <a:xfrm>
            <a:off x="274320" y="2423160"/>
            <a:ext cx="2011680" cy="731520"/>
          </a:xfrm>
          <a:prstGeom prst="rect">
            <a:avLst/>
          </a:prstGeom>
          <a:noFill/>
        </p:spPr>
        <p:txBody>
          <a:bodyPr wrap="square">
            <a:spAutoFit/>
          </a:bodyPr>
          <a:lstStyle/>
          <a:p>
            <a:pPr algn="ctr">
              <a:defRPr sz="1000" b="0">
                <a:solidFill>
                  <a:srgbClr val="A0A8B0"/>
                </a:solidFill>
                <a:latin typeface="Arial"/>
              </a:defRPr>
            </a:pPr>
            <a:r>
              <a:t>PWA installable, experience native sur tous ecrans</a:t>
            </a:r>
          </a:p>
        </p:txBody>
      </p:sp>
      <p:sp>
        <p:nvSpPr>
          <p:cNvPr id="10" name="Rounded Rectangle 9"/>
          <p:cNvSpPr/>
          <p:nvPr/>
        </p:nvSpPr>
        <p:spPr>
          <a:xfrm>
            <a:off x="2560320" y="118872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cert.png"/>
          <p:cNvPicPr>
            <a:picLocks noChangeAspect="1"/>
          </p:cNvPicPr>
          <p:nvPr/>
        </p:nvPicPr>
        <p:blipFill>
          <a:blip r:embed="rId3"/>
          <a:stretch>
            <a:fillRect/>
          </a:stretch>
        </p:blipFill>
        <p:spPr>
          <a:xfrm>
            <a:off x="3291840" y="1371600"/>
            <a:ext cx="457200" cy="457200"/>
          </a:xfrm>
          <a:prstGeom prst="rect">
            <a:avLst/>
          </a:prstGeom>
        </p:spPr>
      </p:pic>
      <p:sp>
        <p:nvSpPr>
          <p:cNvPr id="12" name="TextBox 11"/>
          <p:cNvSpPr txBox="1"/>
          <p:nvPr/>
        </p:nvSpPr>
        <p:spPr>
          <a:xfrm>
            <a:off x="2651760" y="1920240"/>
            <a:ext cx="2011680" cy="457200"/>
          </a:xfrm>
          <a:prstGeom prst="rect">
            <a:avLst/>
          </a:prstGeom>
          <a:noFill/>
        </p:spPr>
        <p:txBody>
          <a:bodyPr wrap="square">
            <a:spAutoFit/>
          </a:bodyPr>
          <a:lstStyle/>
          <a:p>
            <a:pPr algn="ctr">
              <a:defRPr sz="1100" b="1">
                <a:solidFill>
                  <a:srgbClr val="D4A438"/>
                </a:solidFill>
                <a:latin typeface="Arial"/>
              </a:defRPr>
            </a:pPr>
            <a:r>
              <a:t>Certificats</a:t>
            </a:r>
            <a:br/>
            <a:r>
              <a:t>Automatiques</a:t>
            </a:r>
          </a:p>
        </p:txBody>
      </p:sp>
      <p:sp>
        <p:nvSpPr>
          <p:cNvPr id="13" name="TextBox 12"/>
          <p:cNvSpPr txBox="1"/>
          <p:nvPr/>
        </p:nvSpPr>
        <p:spPr>
          <a:xfrm>
            <a:off x="2651760" y="2423160"/>
            <a:ext cx="2011680" cy="731520"/>
          </a:xfrm>
          <a:prstGeom prst="rect">
            <a:avLst/>
          </a:prstGeom>
          <a:noFill/>
        </p:spPr>
        <p:txBody>
          <a:bodyPr wrap="square">
            <a:spAutoFit/>
          </a:bodyPr>
          <a:lstStyle/>
          <a:p>
            <a:pPr algn="ctr">
              <a:defRPr sz="1000" b="0">
                <a:solidFill>
                  <a:srgbClr val="A0A8B0"/>
                </a:solidFill>
                <a:latin typeface="Arial"/>
              </a:defRPr>
            </a:pPr>
            <a:r>
              <a:t>PDF personnalise avec QR de verification</a:t>
            </a:r>
          </a:p>
        </p:txBody>
      </p:sp>
      <p:sp>
        <p:nvSpPr>
          <p:cNvPr id="14" name="Rounded Rectangle 13"/>
          <p:cNvSpPr/>
          <p:nvPr/>
        </p:nvSpPr>
        <p:spPr>
          <a:xfrm>
            <a:off x="4937760" y="118872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notif.png"/>
          <p:cNvPicPr>
            <a:picLocks noChangeAspect="1"/>
          </p:cNvPicPr>
          <p:nvPr/>
        </p:nvPicPr>
        <p:blipFill>
          <a:blip r:embed="rId4"/>
          <a:stretch>
            <a:fillRect/>
          </a:stretch>
        </p:blipFill>
        <p:spPr>
          <a:xfrm>
            <a:off x="5669280" y="1371600"/>
            <a:ext cx="457200" cy="457200"/>
          </a:xfrm>
          <a:prstGeom prst="rect">
            <a:avLst/>
          </a:prstGeom>
        </p:spPr>
      </p:pic>
      <p:sp>
        <p:nvSpPr>
          <p:cNvPr id="16" name="TextBox 15"/>
          <p:cNvSpPr txBox="1"/>
          <p:nvPr/>
        </p:nvSpPr>
        <p:spPr>
          <a:xfrm>
            <a:off x="5029200" y="1920240"/>
            <a:ext cx="2011680" cy="457200"/>
          </a:xfrm>
          <a:prstGeom prst="rect">
            <a:avLst/>
          </a:prstGeom>
          <a:noFill/>
        </p:spPr>
        <p:txBody>
          <a:bodyPr wrap="square">
            <a:spAutoFit/>
          </a:bodyPr>
          <a:lstStyle/>
          <a:p>
            <a:pPr algn="ctr">
              <a:defRPr sz="1100" b="1">
                <a:solidFill>
                  <a:srgbClr val="D4A438"/>
                </a:solidFill>
                <a:latin typeface="Arial"/>
              </a:defRPr>
            </a:pPr>
            <a:r>
              <a:t>Notifications</a:t>
            </a:r>
            <a:br/>
            <a:r>
              <a:t>Intelligentes</a:t>
            </a:r>
          </a:p>
        </p:txBody>
      </p:sp>
      <p:sp>
        <p:nvSpPr>
          <p:cNvPr id="17" name="TextBox 16"/>
          <p:cNvSpPr txBox="1"/>
          <p:nvPr/>
        </p:nvSpPr>
        <p:spPr>
          <a:xfrm>
            <a:off x="5029200" y="2423160"/>
            <a:ext cx="2011680" cy="731520"/>
          </a:xfrm>
          <a:prstGeom prst="rect">
            <a:avLst/>
          </a:prstGeom>
          <a:noFill/>
        </p:spPr>
        <p:txBody>
          <a:bodyPr wrap="square">
            <a:spAutoFit/>
          </a:bodyPr>
          <a:lstStyle/>
          <a:p>
            <a:pPr algn="ctr">
              <a:defRPr sz="1000" b="0">
                <a:solidFill>
                  <a:srgbClr val="A0A8B0"/>
                </a:solidFill>
                <a:latin typeface="Arial"/>
              </a:defRPr>
            </a:pPr>
            <a:r>
              <a:t>Email, push, SMS rappels &amp; relances auto</a:t>
            </a:r>
          </a:p>
        </p:txBody>
      </p:sp>
      <p:sp>
        <p:nvSpPr>
          <p:cNvPr id="18" name="Rounded Rectangle 17"/>
          <p:cNvSpPr/>
          <p:nvPr/>
        </p:nvSpPr>
        <p:spPr>
          <a:xfrm>
            <a:off x="7315200" y="118872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forum.png"/>
          <p:cNvPicPr>
            <a:picLocks noChangeAspect="1"/>
          </p:cNvPicPr>
          <p:nvPr/>
        </p:nvPicPr>
        <p:blipFill>
          <a:blip r:embed="rId5"/>
          <a:stretch>
            <a:fillRect/>
          </a:stretch>
        </p:blipFill>
        <p:spPr>
          <a:xfrm>
            <a:off x="8046720" y="1371600"/>
            <a:ext cx="457200" cy="457200"/>
          </a:xfrm>
          <a:prstGeom prst="rect">
            <a:avLst/>
          </a:prstGeom>
        </p:spPr>
      </p:pic>
      <p:sp>
        <p:nvSpPr>
          <p:cNvPr id="20" name="TextBox 19"/>
          <p:cNvSpPr txBox="1"/>
          <p:nvPr/>
        </p:nvSpPr>
        <p:spPr>
          <a:xfrm>
            <a:off x="7406640" y="1920240"/>
            <a:ext cx="2011680" cy="457200"/>
          </a:xfrm>
          <a:prstGeom prst="rect">
            <a:avLst/>
          </a:prstGeom>
          <a:noFill/>
        </p:spPr>
        <p:txBody>
          <a:bodyPr wrap="square">
            <a:spAutoFit/>
          </a:bodyPr>
          <a:lstStyle/>
          <a:p>
            <a:pPr algn="ctr">
              <a:defRPr sz="1100" b="1">
                <a:solidFill>
                  <a:srgbClr val="D4A438"/>
                </a:solidFill>
                <a:latin typeface="Arial"/>
              </a:defRPr>
            </a:pPr>
            <a:r>
              <a:t>Forum</a:t>
            </a:r>
            <a:br/>
            <a:r>
              <a:t>Communautaire</a:t>
            </a:r>
          </a:p>
        </p:txBody>
      </p:sp>
      <p:sp>
        <p:nvSpPr>
          <p:cNvPr id="21" name="TextBox 20"/>
          <p:cNvSpPr txBox="1"/>
          <p:nvPr/>
        </p:nvSpPr>
        <p:spPr>
          <a:xfrm>
            <a:off x="7406640" y="2423160"/>
            <a:ext cx="2011680" cy="731520"/>
          </a:xfrm>
          <a:prstGeom prst="rect">
            <a:avLst/>
          </a:prstGeom>
          <a:noFill/>
        </p:spPr>
        <p:txBody>
          <a:bodyPr wrap="square">
            <a:spAutoFit/>
          </a:bodyPr>
          <a:lstStyle/>
          <a:p>
            <a:pPr algn="ctr">
              <a:defRPr sz="1000" b="0">
                <a:solidFill>
                  <a:srgbClr val="A0A8B0"/>
                </a:solidFill>
                <a:latin typeface="Arial"/>
              </a:defRPr>
            </a:pPr>
            <a:r>
              <a:t>Echanges, entraide, temoignages partages</a:t>
            </a:r>
          </a:p>
        </p:txBody>
      </p:sp>
      <p:sp>
        <p:nvSpPr>
          <p:cNvPr id="22" name="Rounded Rectangle 21"/>
          <p:cNvSpPr/>
          <p:nvPr/>
        </p:nvSpPr>
        <p:spPr>
          <a:xfrm>
            <a:off x="9692640" y="118872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_cal.png"/>
          <p:cNvPicPr>
            <a:picLocks noChangeAspect="1"/>
          </p:cNvPicPr>
          <p:nvPr/>
        </p:nvPicPr>
        <p:blipFill>
          <a:blip r:embed="rId6"/>
          <a:stretch>
            <a:fillRect/>
          </a:stretch>
        </p:blipFill>
        <p:spPr>
          <a:xfrm>
            <a:off x="10424160" y="1371600"/>
            <a:ext cx="457200" cy="457200"/>
          </a:xfrm>
          <a:prstGeom prst="rect">
            <a:avLst/>
          </a:prstGeom>
        </p:spPr>
      </p:pic>
      <p:sp>
        <p:nvSpPr>
          <p:cNvPr id="24" name="TextBox 23"/>
          <p:cNvSpPr txBox="1"/>
          <p:nvPr/>
        </p:nvSpPr>
        <p:spPr>
          <a:xfrm>
            <a:off x="9784080" y="1920240"/>
            <a:ext cx="2011680" cy="457200"/>
          </a:xfrm>
          <a:prstGeom prst="rect">
            <a:avLst/>
          </a:prstGeom>
          <a:noFill/>
        </p:spPr>
        <p:txBody>
          <a:bodyPr wrap="square">
            <a:spAutoFit/>
          </a:bodyPr>
          <a:lstStyle/>
          <a:p>
            <a:pPr algn="ctr">
              <a:defRPr sz="1100" b="1">
                <a:solidFill>
                  <a:srgbClr val="D4A438"/>
                </a:solidFill>
                <a:latin typeface="Arial"/>
              </a:defRPr>
            </a:pPr>
            <a:r>
              <a:t>Calendrier</a:t>
            </a:r>
            <a:br/>
            <a:r>
              <a:t>Evenements</a:t>
            </a:r>
          </a:p>
        </p:txBody>
      </p:sp>
      <p:sp>
        <p:nvSpPr>
          <p:cNvPr id="25" name="TextBox 24"/>
          <p:cNvSpPr txBox="1"/>
          <p:nvPr/>
        </p:nvSpPr>
        <p:spPr>
          <a:xfrm>
            <a:off x="9784080" y="2423160"/>
            <a:ext cx="2011680" cy="731520"/>
          </a:xfrm>
          <a:prstGeom prst="rect">
            <a:avLst/>
          </a:prstGeom>
          <a:noFill/>
        </p:spPr>
        <p:txBody>
          <a:bodyPr wrap="square">
            <a:spAutoFit/>
          </a:bodyPr>
          <a:lstStyle/>
          <a:p>
            <a:pPr algn="ctr">
              <a:defRPr sz="1000" b="0">
                <a:solidFill>
                  <a:srgbClr val="A0A8B0"/>
                </a:solidFill>
                <a:latin typeface="Arial"/>
              </a:defRPr>
            </a:pPr>
            <a:r>
              <a:t>Sessions live, webinaires, conferences</a:t>
            </a:r>
          </a:p>
        </p:txBody>
      </p:sp>
      <p:sp>
        <p:nvSpPr>
          <p:cNvPr id="26" name="Rounded Rectangle 25"/>
          <p:cNvSpPr/>
          <p:nvPr/>
        </p:nvSpPr>
        <p:spPr>
          <a:xfrm>
            <a:off x="182880" y="384048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_chart.png"/>
          <p:cNvPicPr>
            <a:picLocks noChangeAspect="1"/>
          </p:cNvPicPr>
          <p:nvPr/>
        </p:nvPicPr>
        <p:blipFill>
          <a:blip r:embed="rId7"/>
          <a:stretch>
            <a:fillRect/>
          </a:stretch>
        </p:blipFill>
        <p:spPr>
          <a:xfrm>
            <a:off x="914400" y="4023360"/>
            <a:ext cx="457200" cy="457200"/>
          </a:xfrm>
          <a:prstGeom prst="rect">
            <a:avLst/>
          </a:prstGeom>
        </p:spPr>
      </p:pic>
      <p:sp>
        <p:nvSpPr>
          <p:cNvPr id="28" name="TextBox 27"/>
          <p:cNvSpPr txBox="1"/>
          <p:nvPr/>
        </p:nvSpPr>
        <p:spPr>
          <a:xfrm>
            <a:off x="274320" y="4572000"/>
            <a:ext cx="2011680" cy="457200"/>
          </a:xfrm>
          <a:prstGeom prst="rect">
            <a:avLst/>
          </a:prstGeom>
          <a:noFill/>
        </p:spPr>
        <p:txBody>
          <a:bodyPr wrap="square">
            <a:spAutoFit/>
          </a:bodyPr>
          <a:lstStyle/>
          <a:p>
            <a:pPr algn="ctr">
              <a:defRPr sz="1100" b="1">
                <a:solidFill>
                  <a:srgbClr val="D4A438"/>
                </a:solidFill>
                <a:latin typeface="Arial"/>
              </a:defRPr>
            </a:pPr>
            <a:r>
              <a:t>Dashboard</a:t>
            </a:r>
            <a:br/>
            <a:r>
              <a:t>Analytics</a:t>
            </a:r>
          </a:p>
        </p:txBody>
      </p:sp>
      <p:sp>
        <p:nvSpPr>
          <p:cNvPr id="29" name="TextBox 28"/>
          <p:cNvSpPr txBox="1"/>
          <p:nvPr/>
        </p:nvSpPr>
        <p:spPr>
          <a:xfrm>
            <a:off x="274320" y="5074920"/>
            <a:ext cx="2011680" cy="731520"/>
          </a:xfrm>
          <a:prstGeom prst="rect">
            <a:avLst/>
          </a:prstGeom>
          <a:noFill/>
        </p:spPr>
        <p:txBody>
          <a:bodyPr wrap="square">
            <a:spAutoFit/>
          </a:bodyPr>
          <a:lstStyle/>
          <a:p>
            <a:pPr algn="ctr">
              <a:defRPr sz="1000" b="0">
                <a:solidFill>
                  <a:srgbClr val="A0A8B0"/>
                </a:solidFill>
                <a:latin typeface="Arial"/>
              </a:defRPr>
            </a:pPr>
            <a:r>
              <a:t>KPI, rapports, stats en temps reel</a:t>
            </a:r>
          </a:p>
        </p:txBody>
      </p:sp>
      <p:sp>
        <p:nvSpPr>
          <p:cNvPr id="30" name="Rounded Rectangle 29"/>
          <p:cNvSpPr/>
          <p:nvPr/>
        </p:nvSpPr>
        <p:spPr>
          <a:xfrm>
            <a:off x="2560320" y="384048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c_star.png"/>
          <p:cNvPicPr>
            <a:picLocks noChangeAspect="1"/>
          </p:cNvPicPr>
          <p:nvPr/>
        </p:nvPicPr>
        <p:blipFill>
          <a:blip r:embed="rId8"/>
          <a:stretch>
            <a:fillRect/>
          </a:stretch>
        </p:blipFill>
        <p:spPr>
          <a:xfrm>
            <a:off x="3291840" y="4023360"/>
            <a:ext cx="457200" cy="457200"/>
          </a:xfrm>
          <a:prstGeom prst="rect">
            <a:avLst/>
          </a:prstGeom>
        </p:spPr>
      </p:pic>
      <p:sp>
        <p:nvSpPr>
          <p:cNvPr id="32" name="TextBox 31"/>
          <p:cNvSpPr txBox="1"/>
          <p:nvPr/>
        </p:nvSpPr>
        <p:spPr>
          <a:xfrm>
            <a:off x="2651760" y="4572000"/>
            <a:ext cx="2011680" cy="457200"/>
          </a:xfrm>
          <a:prstGeom prst="rect">
            <a:avLst/>
          </a:prstGeom>
          <a:noFill/>
        </p:spPr>
        <p:txBody>
          <a:bodyPr wrap="square">
            <a:spAutoFit/>
          </a:bodyPr>
          <a:lstStyle/>
          <a:p>
            <a:pPr algn="ctr">
              <a:defRPr sz="1100" b="1">
                <a:solidFill>
                  <a:srgbClr val="D4A438"/>
                </a:solidFill>
                <a:latin typeface="Arial"/>
              </a:defRPr>
            </a:pPr>
            <a:r>
              <a:t>Evaluation</a:t>
            </a:r>
            <a:br/>
            <a:r>
              <a:t>&amp; Avis</a:t>
            </a:r>
          </a:p>
        </p:txBody>
      </p:sp>
      <p:sp>
        <p:nvSpPr>
          <p:cNvPr id="33" name="TextBox 32"/>
          <p:cNvSpPr txBox="1"/>
          <p:nvPr/>
        </p:nvSpPr>
        <p:spPr>
          <a:xfrm>
            <a:off x="2651760" y="5074920"/>
            <a:ext cx="2011680" cy="731520"/>
          </a:xfrm>
          <a:prstGeom prst="rect">
            <a:avLst/>
          </a:prstGeom>
          <a:noFill/>
        </p:spPr>
        <p:txBody>
          <a:bodyPr wrap="square">
            <a:spAutoFit/>
          </a:bodyPr>
          <a:lstStyle/>
          <a:p>
            <a:pPr algn="ctr">
              <a:defRPr sz="1000" b="0">
                <a:solidFill>
                  <a:srgbClr val="A0A8B0"/>
                </a:solidFill>
                <a:latin typeface="Arial"/>
              </a:defRPr>
            </a:pPr>
            <a:r>
              <a:t>Etoiles, questionnaires, NPS</a:t>
            </a:r>
          </a:p>
        </p:txBody>
      </p:sp>
      <p:sp>
        <p:nvSpPr>
          <p:cNvPr id="34" name="Rounded Rectangle 33"/>
          <p:cNvSpPr/>
          <p:nvPr/>
        </p:nvSpPr>
        <p:spPr>
          <a:xfrm>
            <a:off x="4937760" y="384048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c_pay.png"/>
          <p:cNvPicPr>
            <a:picLocks noChangeAspect="1"/>
          </p:cNvPicPr>
          <p:nvPr/>
        </p:nvPicPr>
        <p:blipFill>
          <a:blip r:embed="rId9"/>
          <a:stretch>
            <a:fillRect/>
          </a:stretch>
        </p:blipFill>
        <p:spPr>
          <a:xfrm>
            <a:off x="5669280" y="4023360"/>
            <a:ext cx="457200" cy="457200"/>
          </a:xfrm>
          <a:prstGeom prst="rect">
            <a:avLst/>
          </a:prstGeom>
        </p:spPr>
      </p:pic>
      <p:sp>
        <p:nvSpPr>
          <p:cNvPr id="36" name="TextBox 35"/>
          <p:cNvSpPr txBox="1"/>
          <p:nvPr/>
        </p:nvSpPr>
        <p:spPr>
          <a:xfrm>
            <a:off x="5029200" y="4572000"/>
            <a:ext cx="2011680" cy="457200"/>
          </a:xfrm>
          <a:prstGeom prst="rect">
            <a:avLst/>
          </a:prstGeom>
          <a:noFill/>
        </p:spPr>
        <p:txBody>
          <a:bodyPr wrap="square">
            <a:spAutoFit/>
          </a:bodyPr>
          <a:lstStyle/>
          <a:p>
            <a:pPr algn="ctr">
              <a:defRPr sz="1100" b="1">
                <a:solidFill>
                  <a:srgbClr val="D4A438"/>
                </a:solidFill>
                <a:latin typeface="Arial"/>
              </a:defRPr>
            </a:pPr>
            <a:r>
              <a:t>Multi-</a:t>
            </a:r>
            <a:br/>
            <a:r>
              <a:t>Paiement</a:t>
            </a:r>
          </a:p>
        </p:txBody>
      </p:sp>
      <p:sp>
        <p:nvSpPr>
          <p:cNvPr id="37" name="TextBox 36"/>
          <p:cNvSpPr txBox="1"/>
          <p:nvPr/>
        </p:nvSpPr>
        <p:spPr>
          <a:xfrm>
            <a:off x="5029200" y="5074920"/>
            <a:ext cx="2011680" cy="731520"/>
          </a:xfrm>
          <a:prstGeom prst="rect">
            <a:avLst/>
          </a:prstGeom>
          <a:noFill/>
        </p:spPr>
        <p:txBody>
          <a:bodyPr wrap="square">
            <a:spAutoFit/>
          </a:bodyPr>
          <a:lstStyle/>
          <a:p>
            <a:pPr algn="ctr">
              <a:defRPr sz="1000" b="0">
                <a:solidFill>
                  <a:srgbClr val="A0A8B0"/>
                </a:solidFill>
                <a:latin typeface="Arial"/>
              </a:defRPr>
            </a:pPr>
            <a:r>
              <a:t>Carte, PayPal, Mobile Money, codes promo</a:t>
            </a:r>
          </a:p>
        </p:txBody>
      </p:sp>
      <p:sp>
        <p:nvSpPr>
          <p:cNvPr id="38" name="Rounded Rectangle 37"/>
          <p:cNvSpPr/>
          <p:nvPr/>
        </p:nvSpPr>
        <p:spPr>
          <a:xfrm>
            <a:off x="7315200" y="384048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c_shield.png"/>
          <p:cNvPicPr>
            <a:picLocks noChangeAspect="1"/>
          </p:cNvPicPr>
          <p:nvPr/>
        </p:nvPicPr>
        <p:blipFill>
          <a:blip r:embed="rId10"/>
          <a:stretch>
            <a:fillRect/>
          </a:stretch>
        </p:blipFill>
        <p:spPr>
          <a:xfrm>
            <a:off x="8046720" y="4023360"/>
            <a:ext cx="457200" cy="457200"/>
          </a:xfrm>
          <a:prstGeom prst="rect">
            <a:avLst/>
          </a:prstGeom>
        </p:spPr>
      </p:pic>
      <p:sp>
        <p:nvSpPr>
          <p:cNvPr id="40" name="TextBox 39"/>
          <p:cNvSpPr txBox="1"/>
          <p:nvPr/>
        </p:nvSpPr>
        <p:spPr>
          <a:xfrm>
            <a:off x="7406640" y="4572000"/>
            <a:ext cx="2011680" cy="457200"/>
          </a:xfrm>
          <a:prstGeom prst="rect">
            <a:avLst/>
          </a:prstGeom>
          <a:noFill/>
        </p:spPr>
        <p:txBody>
          <a:bodyPr wrap="square">
            <a:spAutoFit/>
          </a:bodyPr>
          <a:lstStyle/>
          <a:p>
            <a:pPr algn="ctr">
              <a:defRPr sz="1100" b="1">
                <a:solidFill>
                  <a:srgbClr val="D4A438"/>
                </a:solidFill>
                <a:latin typeface="Arial"/>
              </a:defRPr>
            </a:pPr>
            <a:r>
              <a:t>Securite</a:t>
            </a:r>
            <a:br/>
            <a:r>
              <a:t>Renforcee</a:t>
            </a:r>
          </a:p>
        </p:txBody>
      </p:sp>
      <p:sp>
        <p:nvSpPr>
          <p:cNvPr id="41" name="TextBox 40"/>
          <p:cNvSpPr txBox="1"/>
          <p:nvPr/>
        </p:nvSpPr>
        <p:spPr>
          <a:xfrm>
            <a:off x="7406640" y="5074920"/>
            <a:ext cx="2011680" cy="731520"/>
          </a:xfrm>
          <a:prstGeom prst="rect">
            <a:avLst/>
          </a:prstGeom>
          <a:noFill/>
        </p:spPr>
        <p:txBody>
          <a:bodyPr wrap="square">
            <a:spAutoFit/>
          </a:bodyPr>
          <a:lstStyle/>
          <a:p>
            <a:pPr algn="ctr">
              <a:defRPr sz="1000" b="0">
                <a:solidFill>
                  <a:srgbClr val="A0A8B0"/>
                </a:solidFill>
                <a:latin typeface="Arial"/>
              </a:defRPr>
            </a:pPr>
            <a:r>
              <a:t>SSL, 2FA, RGPD, WAF, DDoS protect</a:t>
            </a:r>
          </a:p>
        </p:txBody>
      </p:sp>
      <p:sp>
        <p:nvSpPr>
          <p:cNvPr id="42" name="Rounded Rectangle 41"/>
          <p:cNvSpPr/>
          <p:nvPr/>
        </p:nvSpPr>
        <p:spPr>
          <a:xfrm>
            <a:off x="9692640" y="3840480"/>
            <a:ext cx="2194560" cy="237744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c_book.png"/>
          <p:cNvPicPr>
            <a:picLocks noChangeAspect="1"/>
          </p:cNvPicPr>
          <p:nvPr/>
        </p:nvPicPr>
        <p:blipFill>
          <a:blip r:embed="rId11"/>
          <a:stretch>
            <a:fillRect/>
          </a:stretch>
        </p:blipFill>
        <p:spPr>
          <a:xfrm>
            <a:off x="10424160" y="4023360"/>
            <a:ext cx="457200" cy="457200"/>
          </a:xfrm>
          <a:prstGeom prst="rect">
            <a:avLst/>
          </a:prstGeom>
        </p:spPr>
      </p:pic>
      <p:sp>
        <p:nvSpPr>
          <p:cNvPr id="44" name="TextBox 43"/>
          <p:cNvSpPr txBox="1"/>
          <p:nvPr/>
        </p:nvSpPr>
        <p:spPr>
          <a:xfrm>
            <a:off x="9784080" y="4572000"/>
            <a:ext cx="2011680" cy="457200"/>
          </a:xfrm>
          <a:prstGeom prst="rect">
            <a:avLst/>
          </a:prstGeom>
          <a:noFill/>
        </p:spPr>
        <p:txBody>
          <a:bodyPr wrap="square">
            <a:spAutoFit/>
          </a:bodyPr>
          <a:lstStyle/>
          <a:p>
            <a:pPr algn="ctr">
              <a:defRPr sz="1100" b="1">
                <a:solidFill>
                  <a:srgbClr val="D4A438"/>
                </a:solidFill>
                <a:latin typeface="Arial"/>
              </a:defRPr>
            </a:pPr>
            <a:r>
              <a:t>Defis</a:t>
            </a:r>
            <a:br/>
            <a:r>
              <a:t>Spirituels</a:t>
            </a:r>
          </a:p>
        </p:txBody>
      </p:sp>
      <p:sp>
        <p:nvSpPr>
          <p:cNvPr id="45" name="TextBox 44"/>
          <p:cNvSpPr txBox="1"/>
          <p:nvPr/>
        </p:nvSpPr>
        <p:spPr>
          <a:xfrm>
            <a:off x="9784080" y="5074920"/>
            <a:ext cx="2011680" cy="731520"/>
          </a:xfrm>
          <a:prstGeom prst="rect">
            <a:avLst/>
          </a:prstGeom>
          <a:noFill/>
        </p:spPr>
        <p:txBody>
          <a:bodyPr wrap="square">
            <a:spAutoFit/>
          </a:bodyPr>
          <a:lstStyle/>
          <a:p>
            <a:pPr algn="ctr">
              <a:defRPr sz="1000" b="0">
                <a:solidFill>
                  <a:srgbClr val="A0A8B0"/>
                </a:solidFill>
                <a:latin typeface="Arial"/>
              </a:defRPr>
            </a:pPr>
            <a:r>
              <a:t>Exercices pratiques quotidiens &amp; suivi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old_line_v2.png"/>
          <p:cNvPicPr>
            <a:picLocks noChangeAspect="1"/>
          </p:cNvPicPr>
          <p:nvPr/>
        </p:nvPicPr>
        <p:blipFill>
          <a:blip r:embed="rId2"/>
          <a:stretch>
            <a:fillRect/>
          </a:stretch>
        </p:blipFill>
        <p:spPr>
          <a:xfrm>
            <a:off x="0" y="0"/>
            <a:ext cx="12191695" cy="54864"/>
          </a:xfrm>
          <a:prstGeom prst="rect">
            <a:avLst/>
          </a:prstGeom>
        </p:spPr>
      </p:pic>
      <p:sp>
        <p:nvSpPr>
          <p:cNvPr id="3" name="Rectangle 2"/>
          <p:cNvSpPr/>
          <p:nvPr/>
        </p:nvSpPr>
        <p:spPr>
          <a:xfrm>
            <a:off x="0" y="6803136"/>
            <a:ext cx="12191695"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l">
              <a:defRPr sz="2600" b="1">
                <a:solidFill>
                  <a:srgbClr val="FFFFFF"/>
                </a:solidFill>
                <a:latin typeface="Georgia"/>
              </a:defRPr>
            </a:pPr>
            <a:r>
              <a:t>08  SECURITE &amp; PERFORMANCE</a:t>
            </a:r>
          </a:p>
        </p:txBody>
      </p:sp>
      <p:sp>
        <p:nvSpPr>
          <p:cNvPr id="5" name="Rectangle 4"/>
          <p:cNvSpPr/>
          <p:nvPr/>
        </p:nvSpPr>
        <p:spPr>
          <a:xfrm>
            <a:off x="457200" y="77724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097280"/>
            <a:ext cx="5669280" cy="5303520"/>
          </a:xfrm>
          <a:prstGeom prst="roundRect">
            <a:avLst/>
          </a:prstGeom>
          <a:solidFill>
            <a:srgbClr val="0A162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shield.png"/>
          <p:cNvPicPr>
            <a:picLocks noChangeAspect="1"/>
          </p:cNvPicPr>
          <p:nvPr/>
        </p:nvPicPr>
        <p:blipFill>
          <a:blip r:embed="rId3"/>
          <a:stretch>
            <a:fillRect/>
          </a:stretch>
        </p:blipFill>
        <p:spPr>
          <a:xfrm>
            <a:off x="548640" y="1280160"/>
            <a:ext cx="457200" cy="457200"/>
          </a:xfrm>
          <a:prstGeom prst="rect">
            <a:avLst/>
          </a:prstGeom>
        </p:spPr>
      </p:pic>
      <p:sp>
        <p:nvSpPr>
          <p:cNvPr id="8" name="TextBox 7"/>
          <p:cNvSpPr txBox="1"/>
          <p:nvPr/>
        </p:nvSpPr>
        <p:spPr>
          <a:xfrm>
            <a:off x="1097280" y="1325880"/>
            <a:ext cx="4572000" cy="365760"/>
          </a:xfrm>
          <a:prstGeom prst="rect">
            <a:avLst/>
          </a:prstGeom>
          <a:noFill/>
        </p:spPr>
        <p:txBody>
          <a:bodyPr wrap="square">
            <a:spAutoFit/>
          </a:bodyPr>
          <a:lstStyle/>
          <a:p>
            <a:pPr algn="l">
              <a:defRPr sz="1600" b="1">
                <a:solidFill>
                  <a:srgbClr val="D4A438"/>
                </a:solidFill>
                <a:latin typeface="Arial"/>
              </a:defRPr>
            </a:pPr>
            <a:r>
              <a:t>SECURITE DE NIVEAU BANCAIRE</a:t>
            </a:r>
          </a:p>
        </p:txBody>
      </p:sp>
      <p:sp>
        <p:nvSpPr>
          <p:cNvPr id="9" name="TextBox 8"/>
          <p:cNvSpPr txBox="1"/>
          <p:nvPr/>
        </p:nvSpPr>
        <p:spPr>
          <a:xfrm>
            <a:off x="548640" y="1920240"/>
            <a:ext cx="5120640" cy="4297680"/>
          </a:xfrm>
          <a:prstGeom prst="rect">
            <a:avLst/>
          </a:prstGeom>
          <a:noFill/>
        </p:spPr>
        <p:txBody>
          <a:bodyPr wrap="square">
            <a:spAutoFit/>
          </a:bodyPr>
          <a:lstStyle/>
          <a:p>
            <a:pPr algn="l">
              <a:defRPr sz="1200" b="0">
                <a:solidFill>
                  <a:srgbClr val="B0B8C0"/>
                </a:solidFill>
                <a:latin typeface="Arial"/>
              </a:defRPr>
            </a:pPr>
            <a:r>
              <a:t>Certificat SSL / HTTPS sur tout le site</a:t>
            </a:r>
            <a:br/>
            <a:r>
              <a:t>Authentification a 2 facteurs (2FA)</a:t>
            </a:r>
            <a:br/>
            <a:r>
              <a:t>Chiffrement AES-256 des donnees sensibles</a:t>
            </a:r>
            <a:br/>
            <a:r>
              <a:t>Protection anti-DDoS &amp; WAF (Web Application Firewall)</a:t>
            </a:r>
            <a:br/>
            <a:r>
              <a:t>Conformite RGPD totale</a:t>
            </a:r>
            <a:br/>
            <a:r>
              <a:t>Sauvegardes automatiques quotidiennes (3 sites)</a:t>
            </a:r>
            <a:br/>
            <a:r>
              <a:t>Audit de securite trimestriel par un tiers</a:t>
            </a:r>
            <a:br/>
            <a:r>
              <a:t>Paiements PCI-DSS compliant</a:t>
            </a:r>
            <a:br/>
            <a:r>
              <a:t>Protection contre injections SQL &amp; XSS</a:t>
            </a:r>
            <a:br/>
            <a:r>
              <a:t>Gestion fine des roles &amp; permissions</a:t>
            </a:r>
            <a:br/>
            <a:r>
              <a:t>Journalisation complete des acces (audit trail)</a:t>
            </a:r>
            <a:br/>
            <a:r>
              <a:t>Tokens JWT avec expiration courte</a:t>
            </a:r>
          </a:p>
        </p:txBody>
      </p:sp>
      <p:sp>
        <p:nvSpPr>
          <p:cNvPr id="10" name="Rounded Rectangle 9"/>
          <p:cNvSpPr/>
          <p:nvPr/>
        </p:nvSpPr>
        <p:spPr>
          <a:xfrm>
            <a:off x="6217920" y="1097280"/>
            <a:ext cx="5669280" cy="5303520"/>
          </a:xfrm>
          <a:prstGeom prst="roundRect">
            <a:avLst/>
          </a:prstGeom>
          <a:solidFill>
            <a:srgbClr val="0A162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rocket.png"/>
          <p:cNvPicPr>
            <a:picLocks noChangeAspect="1"/>
          </p:cNvPicPr>
          <p:nvPr/>
        </p:nvPicPr>
        <p:blipFill>
          <a:blip r:embed="rId4"/>
          <a:stretch>
            <a:fillRect/>
          </a:stretch>
        </p:blipFill>
        <p:spPr>
          <a:xfrm>
            <a:off x="6492240" y="1280160"/>
            <a:ext cx="457200" cy="457200"/>
          </a:xfrm>
          <a:prstGeom prst="rect">
            <a:avLst/>
          </a:prstGeom>
        </p:spPr>
      </p:pic>
      <p:sp>
        <p:nvSpPr>
          <p:cNvPr id="12" name="TextBox 11"/>
          <p:cNvSpPr txBox="1"/>
          <p:nvPr/>
        </p:nvSpPr>
        <p:spPr>
          <a:xfrm>
            <a:off x="7040880" y="1325880"/>
            <a:ext cx="4572000" cy="365760"/>
          </a:xfrm>
          <a:prstGeom prst="rect">
            <a:avLst/>
          </a:prstGeom>
          <a:noFill/>
        </p:spPr>
        <p:txBody>
          <a:bodyPr wrap="square">
            <a:spAutoFit/>
          </a:bodyPr>
          <a:lstStyle/>
          <a:p>
            <a:pPr algn="l">
              <a:defRPr sz="1600" b="1">
                <a:solidFill>
                  <a:srgbClr val="D4A438"/>
                </a:solidFill>
                <a:latin typeface="Arial"/>
              </a:defRPr>
            </a:pPr>
            <a:r>
              <a:t>PERFORMANCE OPTIMALE</a:t>
            </a:r>
          </a:p>
        </p:txBody>
      </p:sp>
      <p:sp>
        <p:nvSpPr>
          <p:cNvPr id="13" name="TextBox 12"/>
          <p:cNvSpPr txBox="1"/>
          <p:nvPr/>
        </p:nvSpPr>
        <p:spPr>
          <a:xfrm>
            <a:off x="6492240" y="1920240"/>
            <a:ext cx="5120640" cy="4297680"/>
          </a:xfrm>
          <a:prstGeom prst="rect">
            <a:avLst/>
          </a:prstGeom>
          <a:noFill/>
        </p:spPr>
        <p:txBody>
          <a:bodyPr wrap="square">
            <a:spAutoFit/>
          </a:bodyPr>
          <a:lstStyle/>
          <a:p>
            <a:pPr algn="l">
              <a:defRPr sz="1200" b="0">
                <a:solidFill>
                  <a:srgbClr val="B0B8C0"/>
                </a:solidFill>
                <a:latin typeface="Arial"/>
              </a:defRPr>
            </a:pPr>
            <a:r>
              <a:t>CDN mondial Cloudflare pour streaming video</a:t>
            </a:r>
            <a:br/>
            <a:r>
              <a:t>Cache intelligent Redis (sessions &amp; requetes)</a:t>
            </a:r>
            <a:br/>
            <a:r>
              <a:t>Temps de chargement &lt; 2 secondes garanti</a:t>
            </a:r>
            <a:br/>
            <a:r>
              <a:t>Architecture cloud scalable (AWS)</a:t>
            </a:r>
            <a:br/>
            <a:r>
              <a:t>Base PostgreSQL optimisee avec index avances</a:t>
            </a:r>
            <a:br/>
            <a:r>
              <a:t>Monitoring 24/7 avec alertes Datadog</a:t>
            </a:r>
            <a:br/>
            <a:r>
              <a:t>99.9% de disponibilite garantie (SLA)</a:t>
            </a:r>
            <a:br/>
            <a:r>
              <a:t>Streaming HLS adaptatif (qualite auto)</a:t>
            </a:r>
            <a:br/>
            <a:r>
              <a:t>Lazy loading &amp; code splitting</a:t>
            </a:r>
            <a:br/>
            <a:r>
              <a:t>Compression Brotli / Gzip</a:t>
            </a:r>
            <a:br/>
            <a:r>
              <a:t>Optimisation images WebP automatique</a:t>
            </a:r>
            <a:br/>
            <a:r>
              <a:t>Edge computing pour latence minimale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371600" cy="640080"/>
          </a:xfrm>
          <a:prstGeom prst="rect">
            <a:avLst/>
          </a:prstGeom>
          <a:noFill/>
        </p:spPr>
        <p:txBody>
          <a:bodyPr wrap="square">
            <a:spAutoFit/>
          </a:bodyPr>
          <a:lstStyle/>
          <a:p>
            <a:pPr algn="l">
              <a:defRPr sz="4800" b="1">
                <a:solidFill>
                  <a:srgbClr val="D4A438"/>
                </a:solidFill>
                <a:latin typeface="Georgia"/>
              </a:defRPr>
            </a:pPr>
            <a:r>
              <a:t>09</a:t>
            </a:r>
          </a:p>
        </p:txBody>
      </p:sp>
      <p:sp>
        <p:nvSpPr>
          <p:cNvPr id="4" name="TextBox 3"/>
          <p:cNvSpPr txBox="1"/>
          <p:nvPr/>
        </p:nvSpPr>
        <p:spPr>
          <a:xfrm>
            <a:off x="1828800" y="274320"/>
            <a:ext cx="9144000" cy="640080"/>
          </a:xfrm>
          <a:prstGeom prst="rect">
            <a:avLst/>
          </a:prstGeom>
          <a:noFill/>
        </p:spPr>
        <p:txBody>
          <a:bodyPr wrap="square">
            <a:spAutoFit/>
          </a:bodyPr>
          <a:lstStyle/>
          <a:p>
            <a:pPr algn="l">
              <a:defRPr sz="2600" b="1">
                <a:solidFill>
                  <a:srgbClr val="FFFFFF"/>
                </a:solidFill>
                <a:latin typeface="Georgia"/>
              </a:defRPr>
            </a:pPr>
            <a:r>
              <a:t>IDENTITE VISUELLE &amp; DESIGN</a:t>
            </a:r>
          </a:p>
        </p:txBody>
      </p:sp>
      <p:sp>
        <p:nvSpPr>
          <p:cNvPr id="5" name="Rectangle 4"/>
          <p:cNvSpPr/>
          <p:nvPr/>
        </p:nvSpPr>
        <p:spPr>
          <a:xfrm>
            <a:off x="1828800" y="86868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3657600" cy="365760"/>
          </a:xfrm>
          <a:prstGeom prst="rect">
            <a:avLst/>
          </a:prstGeom>
          <a:noFill/>
        </p:spPr>
        <p:txBody>
          <a:bodyPr wrap="square">
            <a:spAutoFit/>
          </a:bodyPr>
          <a:lstStyle/>
          <a:p>
            <a:pPr algn="l">
              <a:defRPr sz="1400" b="1">
                <a:solidFill>
                  <a:srgbClr val="D4A438"/>
                </a:solidFill>
                <a:latin typeface="Arial"/>
              </a:defRPr>
            </a:pPr>
            <a:r>
              <a:t>PALETTE DE COULEURS</a:t>
            </a:r>
          </a:p>
        </p:txBody>
      </p:sp>
      <p:sp>
        <p:nvSpPr>
          <p:cNvPr id="7" name="Rounded Rectangle 6"/>
          <p:cNvSpPr/>
          <p:nvPr/>
        </p:nvSpPr>
        <p:spPr>
          <a:xfrm>
            <a:off x="457200" y="1645920"/>
            <a:ext cx="2011680" cy="1280160"/>
          </a:xfrm>
          <a:prstGeom prst="roundRect">
            <a:avLst/>
          </a:prstGeom>
          <a:solidFill>
            <a:srgbClr val="1B3A6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28800"/>
            <a:ext cx="2011680" cy="731520"/>
          </a:xfrm>
          <a:prstGeom prst="rect">
            <a:avLst/>
          </a:prstGeom>
          <a:noFill/>
        </p:spPr>
        <p:txBody>
          <a:bodyPr wrap="square">
            <a:spAutoFit/>
          </a:bodyPr>
          <a:lstStyle/>
          <a:p>
            <a:pPr algn="ctr">
              <a:defRPr sz="1100" b="0">
                <a:solidFill>
                  <a:srgbClr val="FFFFFF"/>
                </a:solidFill>
                <a:latin typeface="Arial"/>
              </a:defRPr>
            </a:pPr>
            <a:r>
              <a:t>Bleu Royal</a:t>
            </a:r>
            <a:br/>
            <a:r>
              <a:t>#1B3A6B</a:t>
            </a:r>
          </a:p>
        </p:txBody>
      </p:sp>
      <p:sp>
        <p:nvSpPr>
          <p:cNvPr id="9" name="Rounded Rectangle 8"/>
          <p:cNvSpPr/>
          <p:nvPr/>
        </p:nvSpPr>
        <p:spPr>
          <a:xfrm>
            <a:off x="2651760" y="1645920"/>
            <a:ext cx="2011680" cy="1280160"/>
          </a:xfrm>
          <a:prstGeom prst="round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0" y="1828800"/>
            <a:ext cx="2011680" cy="731520"/>
          </a:xfrm>
          <a:prstGeom prst="rect">
            <a:avLst/>
          </a:prstGeom>
          <a:noFill/>
        </p:spPr>
        <p:txBody>
          <a:bodyPr wrap="square">
            <a:spAutoFit/>
          </a:bodyPr>
          <a:lstStyle/>
          <a:p>
            <a:pPr algn="ctr">
              <a:defRPr sz="1100" b="0">
                <a:solidFill>
                  <a:srgbClr val="0D2240"/>
                </a:solidFill>
                <a:latin typeface="Arial"/>
              </a:defRPr>
            </a:pPr>
            <a:r>
              <a:t>Or Royal</a:t>
            </a:r>
            <a:br/>
            <a:r>
              <a:t>#D4A438</a:t>
            </a:r>
          </a:p>
        </p:txBody>
      </p:sp>
      <p:sp>
        <p:nvSpPr>
          <p:cNvPr id="11" name="Rounded Rectangle 10"/>
          <p:cNvSpPr/>
          <p:nvPr/>
        </p:nvSpPr>
        <p:spPr>
          <a:xfrm>
            <a:off x="4846320" y="1645920"/>
            <a:ext cx="2011680" cy="1280160"/>
          </a:xfrm>
          <a:prstGeom prst="roundRect">
            <a:avLst/>
          </a:prstGeom>
          <a:solidFill>
            <a:srgbClr val="0D224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0" y="1828800"/>
            <a:ext cx="2011680" cy="731520"/>
          </a:xfrm>
          <a:prstGeom prst="rect">
            <a:avLst/>
          </a:prstGeom>
          <a:noFill/>
        </p:spPr>
        <p:txBody>
          <a:bodyPr wrap="square">
            <a:spAutoFit/>
          </a:bodyPr>
          <a:lstStyle/>
          <a:p>
            <a:pPr algn="ctr">
              <a:defRPr sz="1100" b="0">
                <a:solidFill>
                  <a:srgbClr val="FFFFFF"/>
                </a:solidFill>
                <a:latin typeface="Arial"/>
              </a:defRPr>
            </a:pPr>
            <a:r>
              <a:t>Marine Profond</a:t>
            </a:r>
            <a:br/>
            <a:r>
              <a:t>#0D2240</a:t>
            </a:r>
          </a:p>
        </p:txBody>
      </p:sp>
      <p:sp>
        <p:nvSpPr>
          <p:cNvPr id="13" name="Rounded Rectangle 12"/>
          <p:cNvSpPr/>
          <p:nvPr/>
        </p:nvSpPr>
        <p:spPr>
          <a:xfrm>
            <a:off x="7040880" y="1645920"/>
            <a:ext cx="2011680" cy="1280160"/>
          </a:xfrm>
          <a:prstGeom prst="roundRect">
            <a:avLst/>
          </a:prstGeom>
          <a:solidFill>
            <a:srgbClr val="F0C75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828800"/>
            <a:ext cx="2011680" cy="731520"/>
          </a:xfrm>
          <a:prstGeom prst="rect">
            <a:avLst/>
          </a:prstGeom>
          <a:noFill/>
        </p:spPr>
        <p:txBody>
          <a:bodyPr wrap="square">
            <a:spAutoFit/>
          </a:bodyPr>
          <a:lstStyle/>
          <a:p>
            <a:pPr algn="ctr">
              <a:defRPr sz="1100" b="0">
                <a:solidFill>
                  <a:srgbClr val="0D2240"/>
                </a:solidFill>
                <a:latin typeface="Arial"/>
              </a:defRPr>
            </a:pPr>
            <a:r>
              <a:t>Or Clair</a:t>
            </a:r>
            <a:br/>
            <a:r>
              <a:t>#F0C75E</a:t>
            </a:r>
          </a:p>
        </p:txBody>
      </p:sp>
      <p:sp>
        <p:nvSpPr>
          <p:cNvPr id="15" name="Rounded Rectangle 14"/>
          <p:cNvSpPr/>
          <p:nvPr/>
        </p:nvSpPr>
        <p:spPr>
          <a:xfrm>
            <a:off x="9235440" y="1645920"/>
            <a:ext cx="2011680" cy="128016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828800"/>
            <a:ext cx="2011680" cy="731520"/>
          </a:xfrm>
          <a:prstGeom prst="rect">
            <a:avLst/>
          </a:prstGeom>
          <a:noFill/>
        </p:spPr>
        <p:txBody>
          <a:bodyPr wrap="square">
            <a:spAutoFit/>
          </a:bodyPr>
          <a:lstStyle/>
          <a:p>
            <a:pPr algn="ctr">
              <a:defRPr sz="1100" b="0">
                <a:solidFill>
                  <a:srgbClr val="FFFFFF"/>
                </a:solidFill>
                <a:latin typeface="Arial"/>
              </a:defRPr>
            </a:pPr>
            <a:r>
              <a:t>Nuit</a:t>
            </a:r>
            <a:br/>
            <a:r>
              <a:t>#0E1B30</a:t>
            </a:r>
          </a:p>
        </p:txBody>
      </p:sp>
      <p:sp>
        <p:nvSpPr>
          <p:cNvPr id="17" name="Rounded Rectangle 16"/>
          <p:cNvSpPr/>
          <p:nvPr/>
        </p:nvSpPr>
        <p:spPr>
          <a:xfrm>
            <a:off x="274320" y="3200400"/>
            <a:ext cx="5669280" cy="32004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383280"/>
            <a:ext cx="2743200" cy="365760"/>
          </a:xfrm>
          <a:prstGeom prst="rect">
            <a:avLst/>
          </a:prstGeom>
          <a:noFill/>
        </p:spPr>
        <p:txBody>
          <a:bodyPr wrap="square">
            <a:spAutoFit/>
          </a:bodyPr>
          <a:lstStyle/>
          <a:p>
            <a:pPr algn="l">
              <a:defRPr sz="1400" b="1">
                <a:solidFill>
                  <a:srgbClr val="D4A438"/>
                </a:solidFill>
                <a:latin typeface="Arial"/>
              </a:defRPr>
            </a:pPr>
            <a:r>
              <a:t>TYPOGRAPHIES</a:t>
            </a:r>
          </a:p>
        </p:txBody>
      </p:sp>
      <p:sp>
        <p:nvSpPr>
          <p:cNvPr id="19" name="TextBox 18"/>
          <p:cNvSpPr txBox="1"/>
          <p:nvPr/>
        </p:nvSpPr>
        <p:spPr>
          <a:xfrm>
            <a:off x="548640" y="3794760"/>
            <a:ext cx="5120640" cy="2377440"/>
          </a:xfrm>
          <a:prstGeom prst="rect">
            <a:avLst/>
          </a:prstGeom>
          <a:noFill/>
        </p:spPr>
        <p:txBody>
          <a:bodyPr wrap="square">
            <a:spAutoFit/>
          </a:bodyPr>
          <a:lstStyle/>
          <a:p>
            <a:pPr algn="l">
              <a:defRPr sz="1100" b="0">
                <a:solidFill>
                  <a:srgbClr val="B0B8C0"/>
                </a:solidFill>
                <a:latin typeface="Arial"/>
              </a:defRPr>
            </a:pPr>
            <a:r>
              <a:t>Titres principaux</a:t>
            </a:r>
            <a:br/>
            <a:r>
              <a:t>Georgia Bold - Serif elegant et intemporel</a:t>
            </a:r>
            <a:br/>
            <a:r>
              <a:t>Evoque la sagesse, la tradition et l'autorite</a:t>
            </a:r>
            <a:br/>
            <a:br/>
            <a:r>
              <a:t>Corps de texte</a:t>
            </a:r>
            <a:br/>
            <a:r>
              <a:t>Inter / Calibri - Sans-serif moderne</a:t>
            </a:r>
            <a:br/>
            <a:r>
              <a:t>Lisibilite optimale sur ecran</a:t>
            </a:r>
            <a:br/>
            <a:br/>
            <a:r>
              <a:t>Accents &amp; citations</a:t>
            </a:r>
            <a:br/>
            <a:r>
              <a:t>Georgia Italic - Pour les messages inspirants</a:t>
            </a:r>
            <a:br/>
            <a:r>
              <a:t>Effet premium et raffine</a:t>
            </a:r>
          </a:p>
        </p:txBody>
      </p:sp>
      <p:sp>
        <p:nvSpPr>
          <p:cNvPr id="20" name="Rounded Rectangle 19"/>
          <p:cNvSpPr/>
          <p:nvPr/>
        </p:nvSpPr>
        <p:spPr>
          <a:xfrm>
            <a:off x="6217920" y="3200400"/>
            <a:ext cx="5669280" cy="32004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383280"/>
            <a:ext cx="2743200" cy="365760"/>
          </a:xfrm>
          <a:prstGeom prst="rect">
            <a:avLst/>
          </a:prstGeom>
          <a:noFill/>
        </p:spPr>
        <p:txBody>
          <a:bodyPr wrap="square">
            <a:spAutoFit/>
          </a:bodyPr>
          <a:lstStyle/>
          <a:p>
            <a:pPr algn="l">
              <a:defRPr sz="1400" b="1">
                <a:solidFill>
                  <a:srgbClr val="D4A438"/>
                </a:solidFill>
                <a:latin typeface="Arial"/>
              </a:defRPr>
            </a:pPr>
            <a:r>
              <a:t>PRINCIPES DE DESIGN</a:t>
            </a:r>
          </a:p>
        </p:txBody>
      </p:sp>
      <p:sp>
        <p:nvSpPr>
          <p:cNvPr id="22" name="TextBox 21"/>
          <p:cNvSpPr txBox="1"/>
          <p:nvPr/>
        </p:nvSpPr>
        <p:spPr>
          <a:xfrm>
            <a:off x="6492240" y="3794760"/>
            <a:ext cx="5120640" cy="2377440"/>
          </a:xfrm>
          <a:prstGeom prst="rect">
            <a:avLst/>
          </a:prstGeom>
          <a:noFill/>
        </p:spPr>
        <p:txBody>
          <a:bodyPr wrap="square">
            <a:spAutoFit/>
          </a:bodyPr>
          <a:lstStyle/>
          <a:p>
            <a:pPr algn="l">
              <a:defRPr sz="1100" b="0">
                <a:solidFill>
                  <a:srgbClr val="B0B8C0"/>
                </a:solidFill>
                <a:latin typeface="Arial"/>
              </a:defRPr>
            </a:pPr>
            <a:r>
              <a:t>- Design professionnel, sobre et inspirant</a:t>
            </a:r>
            <a:br/>
            <a:r>
              <a:t>- Interface claire et intuitive (UX premium)</a:t>
            </a:r>
            <a:br/>
            <a:r>
              <a:t>- Integration citations &amp; messages inspirants</a:t>
            </a:r>
            <a:br/>
            <a:r>
              <a:t>- Responsive design mobile-first</a:t>
            </a:r>
            <a:br/>
            <a:r>
              <a:t>- Accessibilite WCAG 2.1 AA</a:t>
            </a:r>
            <a:br/>
            <a:r>
              <a:t>- Animations subtiles (Framer Motion)</a:t>
            </a:r>
            <a:br/>
            <a:r>
              <a:t>- Micro-interactions engageantes</a:t>
            </a:r>
            <a:br/>
            <a:r>
              <a:t>- Hierarchie visuelle forte</a:t>
            </a:r>
            <a:br/>
            <a:r>
              <a:t>- Espacement genereux (breathing room)</a:t>
            </a:r>
            <a:br/>
            <a:r>
              <a:t>- Dark mode optionnel</a:t>
            </a:r>
          </a:p>
        </p:txBody>
      </p:sp>
      <p:pic>
        <p:nvPicPr>
          <p:cNvPr id="23" name="Picture 22" descr="logo-client.jpeg"/>
          <p:cNvPicPr>
            <a:picLocks noChangeAspect="1"/>
          </p:cNvPicPr>
          <p:nvPr/>
        </p:nvPicPr>
        <p:blipFill>
          <a:blip r:embed="rId2"/>
          <a:stretch>
            <a:fillRect/>
          </a:stretch>
        </p:blipFill>
        <p:spPr>
          <a:xfrm>
            <a:off x="9601200" y="182880"/>
            <a:ext cx="2103120" cy="10972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640080"/>
          </a:xfrm>
          <a:prstGeom prst="rect">
            <a:avLst/>
          </a:prstGeom>
          <a:noFill/>
        </p:spPr>
        <p:txBody>
          <a:bodyPr wrap="square">
            <a:spAutoFit/>
          </a:bodyPr>
          <a:lstStyle/>
          <a:p>
            <a:pPr algn="l">
              <a:defRPr sz="2600" b="1">
                <a:solidFill>
                  <a:srgbClr val="FFFFFF"/>
                </a:solidFill>
                <a:latin typeface="Georgia"/>
              </a:defRPr>
            </a:pPr>
            <a:r>
              <a:t>10  TECHNOLOGIES &amp; STACK TECHNIQUE</a:t>
            </a:r>
          </a:p>
        </p:txBody>
      </p:sp>
      <p:sp>
        <p:nvSpPr>
          <p:cNvPr id="4" name="Rectangle 3"/>
          <p:cNvSpPr/>
          <p:nvPr/>
        </p:nvSpPr>
        <p:spPr>
          <a:xfrm>
            <a:off x="365760" y="77724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82880" y="1097280"/>
            <a:ext cx="3840480" cy="246888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828800" cy="320040"/>
          </a:xfrm>
          <a:prstGeom prst="rect">
            <a:avLst/>
          </a:prstGeom>
          <a:noFill/>
        </p:spPr>
        <p:txBody>
          <a:bodyPr wrap="square">
            <a:spAutoFit/>
          </a:bodyPr>
          <a:lstStyle/>
          <a:p>
            <a:pPr algn="l">
              <a:defRPr sz="1500" b="1">
                <a:solidFill>
                  <a:srgbClr val="D4A438"/>
                </a:solidFill>
                <a:latin typeface="Arial"/>
              </a:defRPr>
            </a:pPr>
            <a:r>
              <a:t>FRONTEND</a:t>
            </a:r>
          </a:p>
        </p:txBody>
      </p:sp>
      <p:sp>
        <p:nvSpPr>
          <p:cNvPr id="7" name="TextBox 6"/>
          <p:cNvSpPr txBox="1"/>
          <p:nvPr/>
        </p:nvSpPr>
        <p:spPr>
          <a:xfrm>
            <a:off x="457200" y="1645920"/>
            <a:ext cx="3291840" cy="1645920"/>
          </a:xfrm>
          <a:prstGeom prst="rect">
            <a:avLst/>
          </a:prstGeom>
          <a:noFill/>
        </p:spPr>
        <p:txBody>
          <a:bodyPr wrap="square">
            <a:spAutoFit/>
          </a:bodyPr>
          <a:lstStyle/>
          <a:p>
            <a:pPr algn="l">
              <a:defRPr sz="1100" b="0">
                <a:solidFill>
                  <a:srgbClr val="B0B8C0"/>
                </a:solidFill>
                <a:latin typeface="Arial"/>
              </a:defRPr>
            </a:pPr>
            <a:r>
              <a:t>Next.js 14+ (React 18)</a:t>
            </a:r>
            <a:br/>
            <a:r>
              <a:t>TypeScript strict mode</a:t>
            </a:r>
            <a:br/>
            <a:r>
              <a:t>Tailwind CSS + Headless UI</a:t>
            </a:r>
            <a:br/>
            <a:r>
              <a:t>Framer Motion (animations)</a:t>
            </a:r>
            <a:br/>
            <a:r>
              <a:t>PWA Ready (offline support)</a:t>
            </a:r>
            <a:br/>
            <a:r>
              <a:t>React Query (state server)</a:t>
            </a:r>
          </a:p>
        </p:txBody>
      </p:sp>
      <p:sp>
        <p:nvSpPr>
          <p:cNvPr id="8" name="Rounded Rectangle 7"/>
          <p:cNvSpPr/>
          <p:nvPr/>
        </p:nvSpPr>
        <p:spPr>
          <a:xfrm>
            <a:off x="4206240" y="1097280"/>
            <a:ext cx="3840480" cy="246888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234440"/>
            <a:ext cx="1828800" cy="320040"/>
          </a:xfrm>
          <a:prstGeom prst="rect">
            <a:avLst/>
          </a:prstGeom>
          <a:noFill/>
        </p:spPr>
        <p:txBody>
          <a:bodyPr wrap="square">
            <a:spAutoFit/>
          </a:bodyPr>
          <a:lstStyle/>
          <a:p>
            <a:pPr algn="l">
              <a:defRPr sz="1500" b="1">
                <a:solidFill>
                  <a:srgbClr val="D4A438"/>
                </a:solidFill>
                <a:latin typeface="Arial"/>
              </a:defRPr>
            </a:pPr>
            <a:r>
              <a:t>BACKEND</a:t>
            </a:r>
          </a:p>
        </p:txBody>
      </p:sp>
      <p:sp>
        <p:nvSpPr>
          <p:cNvPr id="10" name="TextBox 9"/>
          <p:cNvSpPr txBox="1"/>
          <p:nvPr/>
        </p:nvSpPr>
        <p:spPr>
          <a:xfrm>
            <a:off x="4480560" y="1645920"/>
            <a:ext cx="3291840" cy="1645920"/>
          </a:xfrm>
          <a:prstGeom prst="rect">
            <a:avLst/>
          </a:prstGeom>
          <a:noFill/>
        </p:spPr>
        <p:txBody>
          <a:bodyPr wrap="square">
            <a:spAutoFit/>
          </a:bodyPr>
          <a:lstStyle/>
          <a:p>
            <a:pPr algn="l">
              <a:defRPr sz="1100" b="0">
                <a:solidFill>
                  <a:srgbClr val="B0B8C0"/>
                </a:solidFill>
                <a:latin typeface="Arial"/>
              </a:defRPr>
            </a:pPr>
            <a:r>
              <a:t>Node.js / NestJS (TypeScript)</a:t>
            </a:r>
            <a:br/>
            <a:r>
              <a:t>PostgreSQL 16 + Redis 7</a:t>
            </a:r>
            <a:br/>
            <a:r>
              <a:t>Prisma ORM (type-safe)</a:t>
            </a:r>
            <a:br/>
            <a:r>
              <a:t>API REST &amp; GraphQL</a:t>
            </a:r>
            <a:br/>
            <a:r>
              <a:t>WebSocket (Socket.io)</a:t>
            </a:r>
            <a:br/>
            <a:r>
              <a:t>Bull MQ (jobs asynchrones)</a:t>
            </a:r>
          </a:p>
        </p:txBody>
      </p:sp>
      <p:sp>
        <p:nvSpPr>
          <p:cNvPr id="11" name="Rounded Rectangle 10"/>
          <p:cNvSpPr/>
          <p:nvPr/>
        </p:nvSpPr>
        <p:spPr>
          <a:xfrm>
            <a:off x="8229600" y="1097280"/>
            <a:ext cx="3749039" cy="246888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1234440"/>
            <a:ext cx="2743200" cy="320040"/>
          </a:xfrm>
          <a:prstGeom prst="rect">
            <a:avLst/>
          </a:prstGeom>
          <a:noFill/>
        </p:spPr>
        <p:txBody>
          <a:bodyPr wrap="square">
            <a:spAutoFit/>
          </a:bodyPr>
          <a:lstStyle/>
          <a:p>
            <a:pPr algn="l">
              <a:defRPr sz="1500" b="1">
                <a:solidFill>
                  <a:srgbClr val="D4A438"/>
                </a:solidFill>
                <a:latin typeface="Arial"/>
              </a:defRPr>
            </a:pPr>
            <a:r>
              <a:t>INFRASTRUCTURE</a:t>
            </a:r>
          </a:p>
        </p:txBody>
      </p:sp>
      <p:sp>
        <p:nvSpPr>
          <p:cNvPr id="13" name="TextBox 12"/>
          <p:cNvSpPr txBox="1"/>
          <p:nvPr/>
        </p:nvSpPr>
        <p:spPr>
          <a:xfrm>
            <a:off x="8503920" y="1645920"/>
            <a:ext cx="3291840" cy="1645920"/>
          </a:xfrm>
          <a:prstGeom prst="rect">
            <a:avLst/>
          </a:prstGeom>
          <a:noFill/>
        </p:spPr>
        <p:txBody>
          <a:bodyPr wrap="square">
            <a:spAutoFit/>
          </a:bodyPr>
          <a:lstStyle/>
          <a:p>
            <a:pPr algn="l">
              <a:defRPr sz="1100" b="0">
                <a:solidFill>
                  <a:srgbClr val="B0B8C0"/>
                </a:solidFill>
                <a:latin typeface="Arial"/>
              </a:defRPr>
            </a:pPr>
            <a:r>
              <a:t>AWS (EC2, RDS, S3, CloudFront)</a:t>
            </a:r>
            <a:br/>
            <a:r>
              <a:t>Docker + GitHub Actions CI/CD</a:t>
            </a:r>
            <a:br/>
            <a:r>
              <a:t>Cloudflare CDN &amp; WAF</a:t>
            </a:r>
            <a:br/>
            <a:r>
              <a:t>Terraform (IaC)</a:t>
            </a:r>
            <a:br/>
            <a:r>
              <a:t>Datadog monitoring 24/7</a:t>
            </a:r>
            <a:br/>
            <a:r>
              <a:t>Automatic scaling</a:t>
            </a:r>
          </a:p>
        </p:txBody>
      </p:sp>
      <p:sp>
        <p:nvSpPr>
          <p:cNvPr id="14" name="Rounded Rectangle 13"/>
          <p:cNvSpPr/>
          <p:nvPr/>
        </p:nvSpPr>
        <p:spPr>
          <a:xfrm>
            <a:off x="182880" y="3749039"/>
            <a:ext cx="3840480" cy="265176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886200"/>
            <a:ext cx="1828800" cy="320040"/>
          </a:xfrm>
          <a:prstGeom prst="rect">
            <a:avLst/>
          </a:prstGeom>
          <a:noFill/>
        </p:spPr>
        <p:txBody>
          <a:bodyPr wrap="square">
            <a:spAutoFit/>
          </a:bodyPr>
          <a:lstStyle/>
          <a:p>
            <a:pPr algn="l">
              <a:defRPr sz="1500" b="1">
                <a:solidFill>
                  <a:srgbClr val="D4A438"/>
                </a:solidFill>
                <a:latin typeface="Arial"/>
              </a:defRPr>
            </a:pPr>
            <a:r>
              <a:t>PAIEMENTS</a:t>
            </a:r>
          </a:p>
        </p:txBody>
      </p:sp>
      <p:sp>
        <p:nvSpPr>
          <p:cNvPr id="16" name="TextBox 15"/>
          <p:cNvSpPr txBox="1"/>
          <p:nvPr/>
        </p:nvSpPr>
        <p:spPr>
          <a:xfrm>
            <a:off x="457200" y="4297680"/>
            <a:ext cx="3291840" cy="1828800"/>
          </a:xfrm>
          <a:prstGeom prst="rect">
            <a:avLst/>
          </a:prstGeom>
          <a:noFill/>
        </p:spPr>
        <p:txBody>
          <a:bodyPr wrap="square">
            <a:spAutoFit/>
          </a:bodyPr>
          <a:lstStyle/>
          <a:p>
            <a:pPr algn="l">
              <a:defRPr sz="1100" b="0">
                <a:solidFill>
                  <a:srgbClr val="B0B8C0"/>
                </a:solidFill>
                <a:latin typeface="Arial"/>
              </a:defRPr>
            </a:pPr>
            <a:r>
              <a:t>Stripe (Carte bancaire, abo)</a:t>
            </a:r>
            <a:br/>
            <a:r>
              <a:t>PayPal Business API</a:t>
            </a:r>
            <a:br/>
            <a:r>
              <a:t>Mobile Money (MTN, Orange, Airtel)</a:t>
            </a:r>
            <a:br/>
            <a:r>
              <a:t>Flutterwave (Afrique)</a:t>
            </a:r>
            <a:br/>
            <a:r>
              <a:t>Facturation auto PDF</a:t>
            </a:r>
            <a:br/>
            <a:r>
              <a:t>Webhooks securises</a:t>
            </a:r>
            <a:br/>
            <a:r>
              <a:t>Codes promo &amp; coupons</a:t>
            </a:r>
          </a:p>
        </p:txBody>
      </p:sp>
      <p:sp>
        <p:nvSpPr>
          <p:cNvPr id="17" name="Rounded Rectangle 16"/>
          <p:cNvSpPr/>
          <p:nvPr/>
        </p:nvSpPr>
        <p:spPr>
          <a:xfrm>
            <a:off x="4206240" y="3749039"/>
            <a:ext cx="3840480" cy="265176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886200"/>
            <a:ext cx="2743200" cy="320040"/>
          </a:xfrm>
          <a:prstGeom prst="rect">
            <a:avLst/>
          </a:prstGeom>
          <a:noFill/>
        </p:spPr>
        <p:txBody>
          <a:bodyPr wrap="square">
            <a:spAutoFit/>
          </a:bodyPr>
          <a:lstStyle/>
          <a:p>
            <a:pPr algn="l">
              <a:defRPr sz="1500" b="1">
                <a:solidFill>
                  <a:srgbClr val="D4A438"/>
                </a:solidFill>
                <a:latin typeface="Arial"/>
              </a:defRPr>
            </a:pPr>
            <a:r>
              <a:t>VIDEO &amp; STREAMING</a:t>
            </a:r>
          </a:p>
        </p:txBody>
      </p:sp>
      <p:sp>
        <p:nvSpPr>
          <p:cNvPr id="19" name="TextBox 18"/>
          <p:cNvSpPr txBox="1"/>
          <p:nvPr/>
        </p:nvSpPr>
        <p:spPr>
          <a:xfrm>
            <a:off x="4480560" y="4297680"/>
            <a:ext cx="3291840" cy="1828800"/>
          </a:xfrm>
          <a:prstGeom prst="rect">
            <a:avLst/>
          </a:prstGeom>
          <a:noFill/>
        </p:spPr>
        <p:txBody>
          <a:bodyPr wrap="square">
            <a:spAutoFit/>
          </a:bodyPr>
          <a:lstStyle/>
          <a:p>
            <a:pPr algn="l">
              <a:defRPr sz="1100" b="0">
                <a:solidFill>
                  <a:srgbClr val="B0B8C0"/>
                </a:solidFill>
                <a:latin typeface="Arial"/>
              </a:defRPr>
            </a:pPr>
            <a:r>
              <a:t>Mux / Cloudflare Stream</a:t>
            </a:r>
            <a:br/>
            <a:r>
              <a:t>HLS adaptive bitrate streaming</a:t>
            </a:r>
            <a:br/>
            <a:r>
              <a:t>Protection DRM du contenu</a:t>
            </a:r>
            <a:br/>
            <a:r>
              <a:t>Zoom SDK integration (live)</a:t>
            </a:r>
            <a:br/>
            <a:r>
              <a:t>Transcodage automatique multi-qualite</a:t>
            </a:r>
            <a:br/>
            <a:r>
              <a:t>Sous-titres auto (Whisper AI)</a:t>
            </a:r>
            <a:br/>
            <a:r>
              <a:t>Lecteur video custom branded</a:t>
            </a:r>
          </a:p>
        </p:txBody>
      </p:sp>
      <p:sp>
        <p:nvSpPr>
          <p:cNvPr id="20" name="Rounded Rectangle 19"/>
          <p:cNvSpPr/>
          <p:nvPr/>
        </p:nvSpPr>
        <p:spPr>
          <a:xfrm>
            <a:off x="8229600" y="3749039"/>
            <a:ext cx="3749039" cy="2651760"/>
          </a:xfrm>
          <a:prstGeom prst="roundRect">
            <a:avLst/>
          </a:prstGeom>
          <a:solidFill>
            <a:srgbClr val="14284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3886200"/>
            <a:ext cx="2743200" cy="320040"/>
          </a:xfrm>
          <a:prstGeom prst="rect">
            <a:avLst/>
          </a:prstGeom>
          <a:noFill/>
        </p:spPr>
        <p:txBody>
          <a:bodyPr wrap="square">
            <a:spAutoFit/>
          </a:bodyPr>
          <a:lstStyle/>
          <a:p>
            <a:pPr algn="l">
              <a:defRPr sz="1500" b="1">
                <a:solidFill>
                  <a:srgbClr val="D4A438"/>
                </a:solidFill>
                <a:latin typeface="Arial"/>
              </a:defRPr>
            </a:pPr>
            <a:r>
              <a:t>EMAILS &amp; NOTIFICATIONS</a:t>
            </a:r>
          </a:p>
        </p:txBody>
      </p:sp>
      <p:sp>
        <p:nvSpPr>
          <p:cNvPr id="22" name="TextBox 21"/>
          <p:cNvSpPr txBox="1"/>
          <p:nvPr/>
        </p:nvSpPr>
        <p:spPr>
          <a:xfrm>
            <a:off x="8503920" y="4297680"/>
            <a:ext cx="3291840" cy="1828800"/>
          </a:xfrm>
          <a:prstGeom prst="rect">
            <a:avLst/>
          </a:prstGeom>
          <a:noFill/>
        </p:spPr>
        <p:txBody>
          <a:bodyPr wrap="square">
            <a:spAutoFit/>
          </a:bodyPr>
          <a:lstStyle/>
          <a:p>
            <a:pPr algn="l">
              <a:defRPr sz="1100" b="0">
                <a:solidFill>
                  <a:srgbClr val="B0B8C0"/>
                </a:solidFill>
                <a:latin typeface="Arial"/>
              </a:defRPr>
            </a:pPr>
            <a:r>
              <a:t>Resend / SendGrid (transactional)</a:t>
            </a:r>
            <a:br/>
            <a:r>
              <a:t>Push notifications (OneSignal)</a:t>
            </a:r>
            <a:br/>
            <a:r>
              <a:t>SMS via Twilio</a:t>
            </a:r>
            <a:br/>
            <a:r>
              <a:t>Emails marketing (Mailchimp)</a:t>
            </a:r>
            <a:br/>
            <a:r>
              <a:t>Templates HTML personnalises</a:t>
            </a:r>
            <a:br/>
            <a:r>
              <a:t>Automation workflows</a:t>
            </a:r>
            <a:br/>
            <a:r>
              <a:t>Rappels intelligents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old_line_v2.png"/>
          <p:cNvPicPr>
            <a:picLocks noChangeAspect="1"/>
          </p:cNvPicPr>
          <p:nvPr/>
        </p:nvPicPr>
        <p:blipFill>
          <a:blip r:embed="rId2"/>
          <a:stretch>
            <a:fillRect/>
          </a:stretch>
        </p:blipFill>
        <p:spPr>
          <a:xfrm>
            <a:off x="0" y="0"/>
            <a:ext cx="12191695" cy="54864"/>
          </a:xfrm>
          <a:prstGeom prst="rect">
            <a:avLst/>
          </a:prstGeom>
        </p:spPr>
      </p:pic>
      <p:sp>
        <p:nvSpPr>
          <p:cNvPr id="3" name="Rectangle 2"/>
          <p:cNvSpPr/>
          <p:nvPr/>
        </p:nvSpPr>
        <p:spPr>
          <a:xfrm>
            <a:off x="0" y="6803136"/>
            <a:ext cx="12191695"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l">
              <a:defRPr sz="2600" b="1">
                <a:solidFill>
                  <a:srgbClr val="FFFFFF"/>
                </a:solidFill>
                <a:latin typeface="Georgia"/>
              </a:defRPr>
            </a:pPr>
            <a:r>
              <a:t>11  SEO &amp; REFERENCEMENT</a:t>
            </a:r>
          </a:p>
        </p:txBody>
      </p:sp>
      <p:sp>
        <p:nvSpPr>
          <p:cNvPr id="5" name="Rectangle 4"/>
          <p:cNvSpPr/>
          <p:nvPr/>
        </p:nvSpPr>
        <p:spPr>
          <a:xfrm>
            <a:off x="457200" y="77724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097280"/>
            <a:ext cx="3749039" cy="530352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2743200" cy="365760"/>
          </a:xfrm>
          <a:prstGeom prst="rect">
            <a:avLst/>
          </a:prstGeom>
          <a:noFill/>
        </p:spPr>
        <p:txBody>
          <a:bodyPr wrap="square">
            <a:spAutoFit/>
          </a:bodyPr>
          <a:lstStyle/>
          <a:p>
            <a:pPr algn="l">
              <a:defRPr sz="1500" b="1">
                <a:solidFill>
                  <a:srgbClr val="D4A438"/>
                </a:solidFill>
                <a:latin typeface="Arial"/>
              </a:defRPr>
            </a:pPr>
            <a:r>
              <a:t>SEO TECHNIQUE</a:t>
            </a:r>
          </a:p>
        </p:txBody>
      </p:sp>
      <p:sp>
        <p:nvSpPr>
          <p:cNvPr id="8" name="TextBox 7"/>
          <p:cNvSpPr txBox="1"/>
          <p:nvPr/>
        </p:nvSpPr>
        <p:spPr>
          <a:xfrm>
            <a:off x="548640" y="1737360"/>
            <a:ext cx="3200400" cy="4389120"/>
          </a:xfrm>
          <a:prstGeom prst="rect">
            <a:avLst/>
          </a:prstGeom>
          <a:noFill/>
        </p:spPr>
        <p:txBody>
          <a:bodyPr wrap="square">
            <a:spAutoFit/>
          </a:bodyPr>
          <a:lstStyle/>
          <a:p>
            <a:pPr algn="l">
              <a:defRPr sz="1100" b="0">
                <a:solidFill>
                  <a:srgbClr val="B0B8C0"/>
                </a:solidFill>
                <a:latin typeface="Arial"/>
              </a:defRPr>
            </a:pPr>
            <a:r>
              <a:t>- Server-Side Rendering (SSR)</a:t>
            </a:r>
            <a:br/>
            <a:r>
              <a:t>- Static Site Generation (SSG)</a:t>
            </a:r>
            <a:br/>
            <a:r>
              <a:t>- Sitemap XML automatique</a:t>
            </a:r>
            <a:br/>
            <a:r>
              <a:t>- Robots.txt optimise</a:t>
            </a:r>
            <a:br/>
            <a:r>
              <a:t>- Schema.org (Course, Organization)</a:t>
            </a:r>
            <a:br/>
            <a:r>
              <a:t>- URLs propres &amp; semantiques</a:t>
            </a:r>
            <a:br/>
            <a:r>
              <a:t>- Meta tags dynamiques</a:t>
            </a:r>
            <a:br/>
            <a:r>
              <a:t>- Canonical URLs</a:t>
            </a:r>
            <a:br/>
            <a:r>
              <a:t>- Temps de chargement &lt; 2s</a:t>
            </a:r>
            <a:br/>
            <a:r>
              <a:t>- Core Web Vitals optimises</a:t>
            </a:r>
            <a:br/>
            <a:r>
              <a:t>- Compression images WebP</a:t>
            </a:r>
            <a:br/>
            <a:r>
              <a:t>- Lazy loading natif</a:t>
            </a:r>
          </a:p>
        </p:txBody>
      </p:sp>
      <p:sp>
        <p:nvSpPr>
          <p:cNvPr id="9" name="Rounded Rectangle 8"/>
          <p:cNvSpPr/>
          <p:nvPr/>
        </p:nvSpPr>
        <p:spPr>
          <a:xfrm>
            <a:off x="4206240" y="1097280"/>
            <a:ext cx="3749039" cy="530352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280160"/>
            <a:ext cx="2743200" cy="365760"/>
          </a:xfrm>
          <a:prstGeom prst="rect">
            <a:avLst/>
          </a:prstGeom>
          <a:noFill/>
        </p:spPr>
        <p:txBody>
          <a:bodyPr wrap="square">
            <a:spAutoFit/>
          </a:bodyPr>
          <a:lstStyle/>
          <a:p>
            <a:pPr algn="l">
              <a:defRPr sz="1500" b="1">
                <a:solidFill>
                  <a:srgbClr val="D4A438"/>
                </a:solidFill>
                <a:latin typeface="Arial"/>
              </a:defRPr>
            </a:pPr>
            <a:r>
              <a:t>SEO CONTENU</a:t>
            </a:r>
          </a:p>
        </p:txBody>
      </p:sp>
      <p:sp>
        <p:nvSpPr>
          <p:cNvPr id="11" name="TextBox 10"/>
          <p:cNvSpPr txBox="1"/>
          <p:nvPr/>
        </p:nvSpPr>
        <p:spPr>
          <a:xfrm>
            <a:off x="4480560" y="1737360"/>
            <a:ext cx="3200400" cy="4389120"/>
          </a:xfrm>
          <a:prstGeom prst="rect">
            <a:avLst/>
          </a:prstGeom>
          <a:noFill/>
        </p:spPr>
        <p:txBody>
          <a:bodyPr wrap="square">
            <a:spAutoFit/>
          </a:bodyPr>
          <a:lstStyle/>
          <a:p>
            <a:pPr algn="l">
              <a:defRPr sz="1100" b="0">
                <a:solidFill>
                  <a:srgbClr val="B0B8C0"/>
                </a:solidFill>
                <a:latin typeface="Arial"/>
              </a:defRPr>
            </a:pPr>
            <a:r>
              <a:t>- Blog integre (articles SEO)</a:t>
            </a:r>
            <a:br/>
            <a:r>
              <a:t>- Mots-cles cibles par page</a:t>
            </a:r>
            <a:br/>
            <a:r>
              <a:t>- Contenu riche &amp; structure (H1-H6)</a:t>
            </a:r>
            <a:br/>
            <a:r>
              <a:t>- Alt text sur toutes les images</a:t>
            </a:r>
            <a:br/>
            <a:r>
              <a:t>- Internal linking strategique</a:t>
            </a:r>
            <a:br/>
            <a:r>
              <a:t>- Pages de formation optimisees</a:t>
            </a:r>
            <a:br/>
            <a:r>
              <a:t>- FAQ structurees (rich snippets)</a:t>
            </a:r>
            <a:br/>
            <a:r>
              <a:t>- Temoignages indexes</a:t>
            </a:r>
            <a:br/>
            <a:r>
              <a:t>- Contenu multilingue (FR/EN)</a:t>
            </a:r>
            <a:br/>
            <a:r>
              <a:t>- Actualisation reguliere</a:t>
            </a:r>
            <a:br/>
            <a:r>
              <a:t>- Long-tail keywords</a:t>
            </a:r>
            <a:br/>
            <a:r>
              <a:t>- Content hub par thematique</a:t>
            </a:r>
          </a:p>
        </p:txBody>
      </p:sp>
      <p:sp>
        <p:nvSpPr>
          <p:cNvPr id="12" name="Rounded Rectangle 11"/>
          <p:cNvSpPr/>
          <p:nvPr/>
        </p:nvSpPr>
        <p:spPr>
          <a:xfrm>
            <a:off x="8138160" y="1097280"/>
            <a:ext cx="3749039" cy="530352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280160"/>
            <a:ext cx="2743200" cy="365760"/>
          </a:xfrm>
          <a:prstGeom prst="rect">
            <a:avLst/>
          </a:prstGeom>
          <a:noFill/>
        </p:spPr>
        <p:txBody>
          <a:bodyPr wrap="square">
            <a:spAutoFit/>
          </a:bodyPr>
          <a:lstStyle/>
          <a:p>
            <a:pPr algn="l">
              <a:defRPr sz="1500" b="1">
                <a:solidFill>
                  <a:srgbClr val="D4A438"/>
                </a:solidFill>
                <a:latin typeface="Arial"/>
              </a:defRPr>
            </a:pPr>
            <a:r>
              <a:t>MARKETING DIGITAL</a:t>
            </a:r>
          </a:p>
        </p:txBody>
      </p:sp>
      <p:sp>
        <p:nvSpPr>
          <p:cNvPr id="14" name="TextBox 13"/>
          <p:cNvSpPr txBox="1"/>
          <p:nvPr/>
        </p:nvSpPr>
        <p:spPr>
          <a:xfrm>
            <a:off x="8412480" y="1737360"/>
            <a:ext cx="3200400" cy="4389120"/>
          </a:xfrm>
          <a:prstGeom prst="rect">
            <a:avLst/>
          </a:prstGeom>
          <a:noFill/>
        </p:spPr>
        <p:txBody>
          <a:bodyPr wrap="square">
            <a:spAutoFit/>
          </a:bodyPr>
          <a:lstStyle/>
          <a:p>
            <a:pPr algn="l">
              <a:defRPr sz="1100" b="0">
                <a:solidFill>
                  <a:srgbClr val="B0B8C0"/>
                </a:solidFill>
                <a:latin typeface="Arial"/>
              </a:defRPr>
            </a:pPr>
            <a:r>
              <a:t>- Google Analytics 4 integre</a:t>
            </a:r>
            <a:br/>
            <a:r>
              <a:t>- Google Search Console</a:t>
            </a:r>
            <a:br/>
            <a:r>
              <a:t>- Open Graph (Facebook/LinkedIn)</a:t>
            </a:r>
            <a:br/>
            <a:r>
              <a:t>- Twitter Cards</a:t>
            </a:r>
            <a:br/>
            <a:r>
              <a:t>- Pixel Facebook &amp; tracking</a:t>
            </a:r>
            <a:br/>
            <a:r>
              <a:t>- Google Tag Manager</a:t>
            </a:r>
            <a:br/>
            <a:r>
              <a:t>- Email marketing automation</a:t>
            </a:r>
            <a:br/>
            <a:r>
              <a:t>- Landing pages optimisees</a:t>
            </a:r>
            <a:br/>
            <a:r>
              <a:t>- A/B testing integre</a:t>
            </a:r>
            <a:br/>
            <a:r>
              <a:t>- Suivi conversions</a:t>
            </a:r>
            <a:br/>
            <a:r>
              <a:t>- Retargeting audiences</a:t>
            </a:r>
            <a:br/>
            <a:r>
              <a:t>- Performance ads ready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371600" cy="640080"/>
          </a:xfrm>
          <a:prstGeom prst="rect">
            <a:avLst/>
          </a:prstGeom>
          <a:noFill/>
        </p:spPr>
        <p:txBody>
          <a:bodyPr wrap="square">
            <a:spAutoFit/>
          </a:bodyPr>
          <a:lstStyle/>
          <a:p>
            <a:pPr algn="l">
              <a:defRPr sz="4800" b="1">
                <a:solidFill>
                  <a:srgbClr val="D4A438"/>
                </a:solidFill>
                <a:latin typeface="Georgia"/>
              </a:defRPr>
            </a:pPr>
            <a:r>
              <a:t>12</a:t>
            </a:r>
          </a:p>
        </p:txBody>
      </p:sp>
      <p:sp>
        <p:nvSpPr>
          <p:cNvPr id="4" name="TextBox 3"/>
          <p:cNvSpPr txBox="1"/>
          <p:nvPr/>
        </p:nvSpPr>
        <p:spPr>
          <a:xfrm>
            <a:off x="1828800" y="274320"/>
            <a:ext cx="9144000" cy="640080"/>
          </a:xfrm>
          <a:prstGeom prst="rect">
            <a:avLst/>
          </a:prstGeom>
          <a:noFill/>
        </p:spPr>
        <p:txBody>
          <a:bodyPr wrap="square">
            <a:spAutoFit/>
          </a:bodyPr>
          <a:lstStyle/>
          <a:p>
            <a:pPr algn="l">
              <a:defRPr sz="2600" b="1">
                <a:solidFill>
                  <a:srgbClr val="FFFFFF"/>
                </a:solidFill>
                <a:latin typeface="Georgia"/>
              </a:defRPr>
            </a:pPr>
            <a:r>
              <a:t>PARCOURS UTILISATEUR (UX)</a:t>
            </a:r>
          </a:p>
        </p:txBody>
      </p:sp>
      <p:sp>
        <p:nvSpPr>
          <p:cNvPr id="5" name="Rectangle 4"/>
          <p:cNvSpPr/>
          <p:nvPr/>
        </p:nvSpPr>
        <p:spPr>
          <a:xfrm>
            <a:off x="1828800" y="86868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188720"/>
            <a:ext cx="219456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325880"/>
            <a:ext cx="640080" cy="640080"/>
          </a:xfrm>
          <a:prstGeom prst="ellipse">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640080" cy="457200"/>
          </a:xfrm>
          <a:prstGeom prst="rect">
            <a:avLst/>
          </a:prstGeom>
          <a:noFill/>
        </p:spPr>
        <p:txBody>
          <a:bodyPr wrap="square">
            <a:spAutoFit/>
          </a:bodyPr>
          <a:lstStyle/>
          <a:p>
            <a:pPr algn="ctr">
              <a:defRPr sz="2000" b="1">
                <a:solidFill>
                  <a:srgbClr val="0D2240"/>
                </a:solidFill>
                <a:latin typeface="Arial"/>
              </a:defRPr>
            </a:pPr>
            <a:r>
              <a:t>1</a:t>
            </a:r>
          </a:p>
        </p:txBody>
      </p:sp>
      <p:sp>
        <p:nvSpPr>
          <p:cNvPr id="9" name="TextBox 8"/>
          <p:cNvSpPr txBox="1"/>
          <p:nvPr/>
        </p:nvSpPr>
        <p:spPr>
          <a:xfrm>
            <a:off x="274320" y="2011680"/>
            <a:ext cx="2011680" cy="320040"/>
          </a:xfrm>
          <a:prstGeom prst="rect">
            <a:avLst/>
          </a:prstGeom>
          <a:noFill/>
        </p:spPr>
        <p:txBody>
          <a:bodyPr wrap="square">
            <a:spAutoFit/>
          </a:bodyPr>
          <a:lstStyle/>
          <a:p>
            <a:pPr algn="ctr">
              <a:defRPr sz="1100" b="1">
                <a:solidFill>
                  <a:srgbClr val="D4A438"/>
                </a:solidFill>
                <a:latin typeface="Arial"/>
              </a:defRPr>
            </a:pPr>
            <a:r>
              <a:t>DECOUVERTE</a:t>
            </a:r>
          </a:p>
        </p:txBody>
      </p:sp>
      <p:sp>
        <p:nvSpPr>
          <p:cNvPr id="10" name="TextBox 9"/>
          <p:cNvSpPr txBox="1"/>
          <p:nvPr/>
        </p:nvSpPr>
        <p:spPr>
          <a:xfrm>
            <a:off x="274320" y="2377440"/>
            <a:ext cx="2011680" cy="822960"/>
          </a:xfrm>
          <a:prstGeom prst="rect">
            <a:avLst/>
          </a:prstGeom>
          <a:noFill/>
        </p:spPr>
        <p:txBody>
          <a:bodyPr wrap="square">
            <a:spAutoFit/>
          </a:bodyPr>
          <a:lstStyle/>
          <a:p>
            <a:pPr algn="ctr">
              <a:defRPr sz="1000" b="0">
                <a:solidFill>
                  <a:srgbClr val="A0A8B0"/>
                </a:solidFill>
                <a:latin typeface="Arial"/>
              </a:defRPr>
            </a:pPr>
            <a:r>
              <a:t>Page d'accueil, video inspirante, apercu formations</a:t>
            </a:r>
          </a:p>
        </p:txBody>
      </p:sp>
      <p:sp>
        <p:nvSpPr>
          <p:cNvPr id="11" name="Rounded Rectangle 10"/>
          <p:cNvSpPr/>
          <p:nvPr/>
        </p:nvSpPr>
        <p:spPr>
          <a:xfrm>
            <a:off x="2560320" y="1188720"/>
            <a:ext cx="219456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291840" y="1325880"/>
            <a:ext cx="640080" cy="640080"/>
          </a:xfrm>
          <a:prstGeom prst="ellipse">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1371600"/>
            <a:ext cx="640080" cy="457200"/>
          </a:xfrm>
          <a:prstGeom prst="rect">
            <a:avLst/>
          </a:prstGeom>
          <a:noFill/>
        </p:spPr>
        <p:txBody>
          <a:bodyPr wrap="square">
            <a:spAutoFit/>
          </a:bodyPr>
          <a:lstStyle/>
          <a:p>
            <a:pPr algn="ctr">
              <a:defRPr sz="2000" b="1">
                <a:solidFill>
                  <a:srgbClr val="0D2240"/>
                </a:solidFill>
                <a:latin typeface="Arial"/>
              </a:defRPr>
            </a:pPr>
            <a:r>
              <a:t>2</a:t>
            </a:r>
          </a:p>
        </p:txBody>
      </p:sp>
      <p:sp>
        <p:nvSpPr>
          <p:cNvPr id="14" name="TextBox 13"/>
          <p:cNvSpPr txBox="1"/>
          <p:nvPr/>
        </p:nvSpPr>
        <p:spPr>
          <a:xfrm>
            <a:off x="2651760" y="2011680"/>
            <a:ext cx="2011680" cy="320040"/>
          </a:xfrm>
          <a:prstGeom prst="rect">
            <a:avLst/>
          </a:prstGeom>
          <a:noFill/>
        </p:spPr>
        <p:txBody>
          <a:bodyPr wrap="square">
            <a:spAutoFit/>
          </a:bodyPr>
          <a:lstStyle/>
          <a:p>
            <a:pPr algn="ctr">
              <a:defRPr sz="1100" b="1">
                <a:solidFill>
                  <a:srgbClr val="D4A438"/>
                </a:solidFill>
                <a:latin typeface="Arial"/>
              </a:defRPr>
            </a:pPr>
            <a:r>
              <a:t>INSCRIPTION</a:t>
            </a:r>
          </a:p>
        </p:txBody>
      </p:sp>
      <p:sp>
        <p:nvSpPr>
          <p:cNvPr id="15" name="TextBox 14"/>
          <p:cNvSpPr txBox="1"/>
          <p:nvPr/>
        </p:nvSpPr>
        <p:spPr>
          <a:xfrm>
            <a:off x="2651760" y="2377440"/>
            <a:ext cx="2011680" cy="822960"/>
          </a:xfrm>
          <a:prstGeom prst="rect">
            <a:avLst/>
          </a:prstGeom>
          <a:noFill/>
        </p:spPr>
        <p:txBody>
          <a:bodyPr wrap="square">
            <a:spAutoFit/>
          </a:bodyPr>
          <a:lstStyle/>
          <a:p>
            <a:pPr algn="ctr">
              <a:defRPr sz="1000" b="0">
                <a:solidFill>
                  <a:srgbClr val="A0A8B0"/>
                </a:solidFill>
                <a:latin typeface="Arial"/>
              </a:defRPr>
            </a:pPr>
            <a:r>
              <a:t>Formulaire simple, email ou Google/Facebook SSO</a:t>
            </a:r>
          </a:p>
        </p:txBody>
      </p:sp>
      <p:sp>
        <p:nvSpPr>
          <p:cNvPr id="16" name="Rounded Rectangle 15"/>
          <p:cNvSpPr/>
          <p:nvPr/>
        </p:nvSpPr>
        <p:spPr>
          <a:xfrm>
            <a:off x="4937760" y="1188720"/>
            <a:ext cx="219456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669280" y="1325880"/>
            <a:ext cx="640080" cy="640080"/>
          </a:xfrm>
          <a:prstGeom prst="ellipse">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1371600"/>
            <a:ext cx="640080" cy="457200"/>
          </a:xfrm>
          <a:prstGeom prst="rect">
            <a:avLst/>
          </a:prstGeom>
          <a:noFill/>
        </p:spPr>
        <p:txBody>
          <a:bodyPr wrap="square">
            <a:spAutoFit/>
          </a:bodyPr>
          <a:lstStyle/>
          <a:p>
            <a:pPr algn="ctr">
              <a:defRPr sz="2000" b="1">
                <a:solidFill>
                  <a:srgbClr val="0D2240"/>
                </a:solidFill>
                <a:latin typeface="Arial"/>
              </a:defRPr>
            </a:pPr>
            <a:r>
              <a:t>3</a:t>
            </a:r>
          </a:p>
        </p:txBody>
      </p:sp>
      <p:sp>
        <p:nvSpPr>
          <p:cNvPr id="19" name="TextBox 18"/>
          <p:cNvSpPr txBox="1"/>
          <p:nvPr/>
        </p:nvSpPr>
        <p:spPr>
          <a:xfrm>
            <a:off x="5029200" y="2011680"/>
            <a:ext cx="2011680" cy="320040"/>
          </a:xfrm>
          <a:prstGeom prst="rect">
            <a:avLst/>
          </a:prstGeom>
          <a:noFill/>
        </p:spPr>
        <p:txBody>
          <a:bodyPr wrap="square">
            <a:spAutoFit/>
          </a:bodyPr>
          <a:lstStyle/>
          <a:p>
            <a:pPr algn="ctr">
              <a:defRPr sz="1100" b="1">
                <a:solidFill>
                  <a:srgbClr val="D4A438"/>
                </a:solidFill>
                <a:latin typeface="Arial"/>
              </a:defRPr>
            </a:pPr>
            <a:r>
              <a:t>EXPLORATION</a:t>
            </a:r>
          </a:p>
        </p:txBody>
      </p:sp>
      <p:sp>
        <p:nvSpPr>
          <p:cNvPr id="20" name="TextBox 19"/>
          <p:cNvSpPr txBox="1"/>
          <p:nvPr/>
        </p:nvSpPr>
        <p:spPr>
          <a:xfrm>
            <a:off x="5029200" y="2377440"/>
            <a:ext cx="2011680" cy="822960"/>
          </a:xfrm>
          <a:prstGeom prst="rect">
            <a:avLst/>
          </a:prstGeom>
          <a:noFill/>
        </p:spPr>
        <p:txBody>
          <a:bodyPr wrap="square">
            <a:spAutoFit/>
          </a:bodyPr>
          <a:lstStyle/>
          <a:p>
            <a:pPr algn="ctr">
              <a:defRPr sz="1000" b="0">
                <a:solidFill>
                  <a:srgbClr val="A0A8B0"/>
                </a:solidFill>
                <a:latin typeface="Arial"/>
              </a:defRPr>
            </a:pPr>
            <a:r>
              <a:t>Catalogue, filtres, fiches detaillees, avis</a:t>
            </a:r>
          </a:p>
        </p:txBody>
      </p:sp>
      <p:sp>
        <p:nvSpPr>
          <p:cNvPr id="21" name="Rounded Rectangle 20"/>
          <p:cNvSpPr/>
          <p:nvPr/>
        </p:nvSpPr>
        <p:spPr>
          <a:xfrm>
            <a:off x="7315200" y="1188720"/>
            <a:ext cx="219456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0" y="1325880"/>
            <a:ext cx="640080" cy="640080"/>
          </a:xfrm>
          <a:prstGeom prst="ellipse">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1371600"/>
            <a:ext cx="640080" cy="457200"/>
          </a:xfrm>
          <a:prstGeom prst="rect">
            <a:avLst/>
          </a:prstGeom>
          <a:noFill/>
        </p:spPr>
        <p:txBody>
          <a:bodyPr wrap="square">
            <a:spAutoFit/>
          </a:bodyPr>
          <a:lstStyle/>
          <a:p>
            <a:pPr algn="ctr">
              <a:defRPr sz="2000" b="1">
                <a:solidFill>
                  <a:srgbClr val="0D2240"/>
                </a:solidFill>
                <a:latin typeface="Arial"/>
              </a:defRPr>
            </a:pPr>
            <a:r>
              <a:t>4</a:t>
            </a:r>
          </a:p>
        </p:txBody>
      </p:sp>
      <p:sp>
        <p:nvSpPr>
          <p:cNvPr id="24" name="TextBox 23"/>
          <p:cNvSpPr txBox="1"/>
          <p:nvPr/>
        </p:nvSpPr>
        <p:spPr>
          <a:xfrm>
            <a:off x="7406640" y="2011680"/>
            <a:ext cx="2011680" cy="320040"/>
          </a:xfrm>
          <a:prstGeom prst="rect">
            <a:avLst/>
          </a:prstGeom>
          <a:noFill/>
        </p:spPr>
        <p:txBody>
          <a:bodyPr wrap="square">
            <a:spAutoFit/>
          </a:bodyPr>
          <a:lstStyle/>
          <a:p>
            <a:pPr algn="ctr">
              <a:defRPr sz="1100" b="1">
                <a:solidFill>
                  <a:srgbClr val="D4A438"/>
                </a:solidFill>
                <a:latin typeface="Arial"/>
              </a:defRPr>
            </a:pPr>
            <a:r>
              <a:t>PAIEMENT</a:t>
            </a:r>
          </a:p>
        </p:txBody>
      </p:sp>
      <p:sp>
        <p:nvSpPr>
          <p:cNvPr id="25" name="TextBox 24"/>
          <p:cNvSpPr txBox="1"/>
          <p:nvPr/>
        </p:nvSpPr>
        <p:spPr>
          <a:xfrm>
            <a:off x="7406640" y="2377440"/>
            <a:ext cx="2011680" cy="822960"/>
          </a:xfrm>
          <a:prstGeom prst="rect">
            <a:avLst/>
          </a:prstGeom>
          <a:noFill/>
        </p:spPr>
        <p:txBody>
          <a:bodyPr wrap="square">
            <a:spAutoFit/>
          </a:bodyPr>
          <a:lstStyle/>
          <a:p>
            <a:pPr algn="ctr">
              <a:defRPr sz="1000" b="0">
                <a:solidFill>
                  <a:srgbClr val="A0A8B0"/>
                </a:solidFill>
                <a:latin typeface="Arial"/>
              </a:defRPr>
            </a:pPr>
            <a:r>
              <a:t>Checkout securise, multi-options, confirmation</a:t>
            </a:r>
          </a:p>
        </p:txBody>
      </p:sp>
      <p:sp>
        <p:nvSpPr>
          <p:cNvPr id="26" name="Rounded Rectangle 25"/>
          <p:cNvSpPr/>
          <p:nvPr/>
        </p:nvSpPr>
        <p:spPr>
          <a:xfrm>
            <a:off x="9692640" y="1188720"/>
            <a:ext cx="219456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24160" y="1325880"/>
            <a:ext cx="640080" cy="640080"/>
          </a:xfrm>
          <a:prstGeom prst="ellipse">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0" y="1371600"/>
            <a:ext cx="640080" cy="457200"/>
          </a:xfrm>
          <a:prstGeom prst="rect">
            <a:avLst/>
          </a:prstGeom>
          <a:noFill/>
        </p:spPr>
        <p:txBody>
          <a:bodyPr wrap="square">
            <a:spAutoFit/>
          </a:bodyPr>
          <a:lstStyle/>
          <a:p>
            <a:pPr algn="ctr">
              <a:defRPr sz="2000" b="1">
                <a:solidFill>
                  <a:srgbClr val="0D2240"/>
                </a:solidFill>
                <a:latin typeface="Arial"/>
              </a:defRPr>
            </a:pPr>
            <a:r>
              <a:t>5</a:t>
            </a:r>
          </a:p>
        </p:txBody>
      </p:sp>
      <p:sp>
        <p:nvSpPr>
          <p:cNvPr id="29" name="TextBox 28"/>
          <p:cNvSpPr txBox="1"/>
          <p:nvPr/>
        </p:nvSpPr>
        <p:spPr>
          <a:xfrm>
            <a:off x="9784080" y="2011680"/>
            <a:ext cx="2011680" cy="320040"/>
          </a:xfrm>
          <a:prstGeom prst="rect">
            <a:avLst/>
          </a:prstGeom>
          <a:noFill/>
        </p:spPr>
        <p:txBody>
          <a:bodyPr wrap="square">
            <a:spAutoFit/>
          </a:bodyPr>
          <a:lstStyle/>
          <a:p>
            <a:pPr algn="ctr">
              <a:defRPr sz="1100" b="1">
                <a:solidFill>
                  <a:srgbClr val="D4A438"/>
                </a:solidFill>
                <a:latin typeface="Arial"/>
              </a:defRPr>
            </a:pPr>
            <a:r>
              <a:t>APPRENTISSAGE</a:t>
            </a:r>
          </a:p>
        </p:txBody>
      </p:sp>
      <p:sp>
        <p:nvSpPr>
          <p:cNvPr id="30" name="TextBox 29"/>
          <p:cNvSpPr txBox="1"/>
          <p:nvPr/>
        </p:nvSpPr>
        <p:spPr>
          <a:xfrm>
            <a:off x="9784080" y="2377440"/>
            <a:ext cx="2011680" cy="822960"/>
          </a:xfrm>
          <a:prstGeom prst="rect">
            <a:avLst/>
          </a:prstGeom>
          <a:noFill/>
        </p:spPr>
        <p:txBody>
          <a:bodyPr wrap="square">
            <a:spAutoFit/>
          </a:bodyPr>
          <a:lstStyle/>
          <a:p>
            <a:pPr algn="ctr">
              <a:defRPr sz="1000" b="0">
                <a:solidFill>
                  <a:srgbClr val="A0A8B0"/>
                </a:solidFill>
                <a:latin typeface="Arial"/>
              </a:defRPr>
            </a:pPr>
            <a:r>
              <a:t>Videos, quiz, defis, coaching live</a:t>
            </a:r>
          </a:p>
        </p:txBody>
      </p:sp>
      <p:sp>
        <p:nvSpPr>
          <p:cNvPr id="31" name="Rounded Rectangle 30"/>
          <p:cNvSpPr/>
          <p:nvPr/>
        </p:nvSpPr>
        <p:spPr>
          <a:xfrm>
            <a:off x="182880" y="3749039"/>
            <a:ext cx="3749039" cy="265176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645920" y="3931920"/>
            <a:ext cx="640080" cy="640080"/>
          </a:xfrm>
          <a:prstGeom prst="ellipse">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45920" y="3977639"/>
            <a:ext cx="640080" cy="457200"/>
          </a:xfrm>
          <a:prstGeom prst="rect">
            <a:avLst/>
          </a:prstGeom>
          <a:noFill/>
        </p:spPr>
        <p:txBody>
          <a:bodyPr wrap="square">
            <a:spAutoFit/>
          </a:bodyPr>
          <a:lstStyle/>
          <a:p>
            <a:pPr algn="ctr">
              <a:defRPr sz="2000" b="1">
                <a:solidFill>
                  <a:srgbClr val="0D2240"/>
                </a:solidFill>
                <a:latin typeface="Arial"/>
              </a:defRPr>
            </a:pPr>
            <a:r>
              <a:t>6</a:t>
            </a:r>
          </a:p>
        </p:txBody>
      </p:sp>
      <p:sp>
        <p:nvSpPr>
          <p:cNvPr id="34" name="TextBox 33"/>
          <p:cNvSpPr txBox="1"/>
          <p:nvPr/>
        </p:nvSpPr>
        <p:spPr>
          <a:xfrm>
            <a:off x="274320" y="4663440"/>
            <a:ext cx="3474720" cy="320040"/>
          </a:xfrm>
          <a:prstGeom prst="rect">
            <a:avLst/>
          </a:prstGeom>
          <a:noFill/>
        </p:spPr>
        <p:txBody>
          <a:bodyPr wrap="square">
            <a:spAutoFit/>
          </a:bodyPr>
          <a:lstStyle/>
          <a:p>
            <a:pPr algn="ctr">
              <a:defRPr sz="1300" b="1">
                <a:solidFill>
                  <a:srgbClr val="D4A438"/>
                </a:solidFill>
                <a:latin typeface="Arial"/>
              </a:defRPr>
            </a:pPr>
            <a:r>
              <a:t>PROGRESSION &amp; SUIVI</a:t>
            </a:r>
          </a:p>
        </p:txBody>
      </p:sp>
      <p:sp>
        <p:nvSpPr>
          <p:cNvPr id="35" name="TextBox 34"/>
          <p:cNvSpPr txBox="1"/>
          <p:nvPr/>
        </p:nvSpPr>
        <p:spPr>
          <a:xfrm>
            <a:off x="365760" y="5029200"/>
            <a:ext cx="3291840" cy="1097280"/>
          </a:xfrm>
          <a:prstGeom prst="rect">
            <a:avLst/>
          </a:prstGeom>
          <a:noFill/>
        </p:spPr>
        <p:txBody>
          <a:bodyPr wrap="square">
            <a:spAutoFit/>
          </a:bodyPr>
          <a:lstStyle/>
          <a:p>
            <a:pPr algn="ctr">
              <a:defRPr sz="1100" b="0">
                <a:solidFill>
                  <a:srgbClr val="A0A8B0"/>
                </a:solidFill>
                <a:latin typeface="Arial"/>
              </a:defRPr>
            </a:pPr>
            <a:r>
              <a:t>Dashboard personnel, barre de progression, badges gamifies, historique complet, rappels automatiques</a:t>
            </a:r>
          </a:p>
        </p:txBody>
      </p:sp>
      <p:sp>
        <p:nvSpPr>
          <p:cNvPr id="36" name="Rounded Rectangle 35"/>
          <p:cNvSpPr/>
          <p:nvPr/>
        </p:nvSpPr>
        <p:spPr>
          <a:xfrm>
            <a:off x="4206240" y="3749039"/>
            <a:ext cx="3749039" cy="265176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669280" y="3931920"/>
            <a:ext cx="640080" cy="640080"/>
          </a:xfrm>
          <a:prstGeom prst="ellipse">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0" y="3977639"/>
            <a:ext cx="640080" cy="457200"/>
          </a:xfrm>
          <a:prstGeom prst="rect">
            <a:avLst/>
          </a:prstGeom>
          <a:noFill/>
        </p:spPr>
        <p:txBody>
          <a:bodyPr wrap="square">
            <a:spAutoFit/>
          </a:bodyPr>
          <a:lstStyle/>
          <a:p>
            <a:pPr algn="ctr">
              <a:defRPr sz="2000" b="1">
                <a:solidFill>
                  <a:srgbClr val="0D2240"/>
                </a:solidFill>
                <a:latin typeface="Arial"/>
              </a:defRPr>
            </a:pPr>
            <a:r>
              <a:t>7</a:t>
            </a:r>
          </a:p>
        </p:txBody>
      </p:sp>
      <p:sp>
        <p:nvSpPr>
          <p:cNvPr id="39" name="TextBox 38"/>
          <p:cNvSpPr txBox="1"/>
          <p:nvPr/>
        </p:nvSpPr>
        <p:spPr>
          <a:xfrm>
            <a:off x="4297680" y="4663440"/>
            <a:ext cx="3474720" cy="320040"/>
          </a:xfrm>
          <a:prstGeom prst="rect">
            <a:avLst/>
          </a:prstGeom>
          <a:noFill/>
        </p:spPr>
        <p:txBody>
          <a:bodyPr wrap="square">
            <a:spAutoFit/>
          </a:bodyPr>
          <a:lstStyle/>
          <a:p>
            <a:pPr algn="ctr">
              <a:defRPr sz="1300" b="1">
                <a:solidFill>
                  <a:srgbClr val="D4A438"/>
                </a:solidFill>
                <a:latin typeface="Arial"/>
              </a:defRPr>
            </a:pPr>
            <a:r>
              <a:t>CERTIFICATION</a:t>
            </a:r>
          </a:p>
        </p:txBody>
      </p:sp>
      <p:sp>
        <p:nvSpPr>
          <p:cNvPr id="40" name="TextBox 39"/>
          <p:cNvSpPr txBox="1"/>
          <p:nvPr/>
        </p:nvSpPr>
        <p:spPr>
          <a:xfrm>
            <a:off x="4389120" y="5029200"/>
            <a:ext cx="3291840" cy="1097280"/>
          </a:xfrm>
          <a:prstGeom prst="rect">
            <a:avLst/>
          </a:prstGeom>
          <a:noFill/>
        </p:spPr>
        <p:txBody>
          <a:bodyPr wrap="square">
            <a:spAutoFit/>
          </a:bodyPr>
          <a:lstStyle/>
          <a:p>
            <a:pPr algn="ctr">
              <a:defRPr sz="1100" b="0">
                <a:solidFill>
                  <a:srgbClr val="A0A8B0"/>
                </a:solidFill>
                <a:latin typeface="Arial"/>
              </a:defRPr>
            </a:pPr>
            <a:r>
              <a:t>Certificat PDF automatique avec QR code de verification, partage sur LinkedIn &amp; reseaux sociaux</a:t>
            </a:r>
          </a:p>
        </p:txBody>
      </p:sp>
      <p:sp>
        <p:nvSpPr>
          <p:cNvPr id="41" name="Rounded Rectangle 40"/>
          <p:cNvSpPr/>
          <p:nvPr/>
        </p:nvSpPr>
        <p:spPr>
          <a:xfrm>
            <a:off x="8138160" y="3749039"/>
            <a:ext cx="3749039" cy="265176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601200" y="3931920"/>
            <a:ext cx="640080" cy="640080"/>
          </a:xfrm>
          <a:prstGeom prst="ellipse">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0" y="3977639"/>
            <a:ext cx="640080" cy="457200"/>
          </a:xfrm>
          <a:prstGeom prst="rect">
            <a:avLst/>
          </a:prstGeom>
          <a:noFill/>
        </p:spPr>
        <p:txBody>
          <a:bodyPr wrap="square">
            <a:spAutoFit/>
          </a:bodyPr>
          <a:lstStyle/>
          <a:p>
            <a:pPr algn="ctr">
              <a:defRPr sz="2000" b="1">
                <a:solidFill>
                  <a:srgbClr val="0D2240"/>
                </a:solidFill>
                <a:latin typeface="Arial"/>
              </a:defRPr>
            </a:pPr>
            <a:r>
              <a:t>8</a:t>
            </a:r>
          </a:p>
        </p:txBody>
      </p:sp>
      <p:sp>
        <p:nvSpPr>
          <p:cNvPr id="44" name="TextBox 43"/>
          <p:cNvSpPr txBox="1"/>
          <p:nvPr/>
        </p:nvSpPr>
        <p:spPr>
          <a:xfrm>
            <a:off x="8229600" y="4663440"/>
            <a:ext cx="3474720" cy="320040"/>
          </a:xfrm>
          <a:prstGeom prst="rect">
            <a:avLst/>
          </a:prstGeom>
          <a:noFill/>
        </p:spPr>
        <p:txBody>
          <a:bodyPr wrap="square">
            <a:spAutoFit/>
          </a:bodyPr>
          <a:lstStyle/>
          <a:p>
            <a:pPr algn="ctr">
              <a:defRPr sz="1300" b="1">
                <a:solidFill>
                  <a:srgbClr val="D4A438"/>
                </a:solidFill>
                <a:latin typeface="Arial"/>
              </a:defRPr>
            </a:pPr>
            <a:r>
              <a:t>COMMUNAUTE &amp; IMPACT</a:t>
            </a:r>
          </a:p>
        </p:txBody>
      </p:sp>
      <p:sp>
        <p:nvSpPr>
          <p:cNvPr id="45" name="TextBox 44"/>
          <p:cNvSpPr txBox="1"/>
          <p:nvPr/>
        </p:nvSpPr>
        <p:spPr>
          <a:xfrm>
            <a:off x="8321040" y="5029200"/>
            <a:ext cx="3291840" cy="1097280"/>
          </a:xfrm>
          <a:prstGeom prst="rect">
            <a:avLst/>
          </a:prstGeom>
          <a:noFill/>
        </p:spPr>
        <p:txBody>
          <a:bodyPr wrap="square">
            <a:spAutoFit/>
          </a:bodyPr>
          <a:lstStyle/>
          <a:p>
            <a:pPr algn="ctr">
              <a:defRPr sz="1100" b="0">
                <a:solidFill>
                  <a:srgbClr val="A0A8B0"/>
                </a:solidFill>
                <a:latin typeface="Arial"/>
              </a:defRPr>
            </a:pPr>
            <a:r>
              <a:t>Forum, temoignages, defis collectifs, affiliation, ambassadeurs de la vision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old_line_v2.png"/>
          <p:cNvPicPr>
            <a:picLocks noChangeAspect="1"/>
          </p:cNvPicPr>
          <p:nvPr/>
        </p:nvPicPr>
        <p:blipFill>
          <a:blip r:embed="rId2"/>
          <a:stretch>
            <a:fillRect/>
          </a:stretch>
        </p:blipFill>
        <p:spPr>
          <a:xfrm>
            <a:off x="0" y="0"/>
            <a:ext cx="12191695" cy="54864"/>
          </a:xfrm>
          <a:prstGeom prst="rect">
            <a:avLst/>
          </a:prstGeom>
        </p:spPr>
      </p:pic>
      <p:sp>
        <p:nvSpPr>
          <p:cNvPr id="3" name="Rectangle 2"/>
          <p:cNvSpPr/>
          <p:nvPr/>
        </p:nvSpPr>
        <p:spPr>
          <a:xfrm>
            <a:off x="0" y="6803136"/>
            <a:ext cx="12191695"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l">
              <a:defRPr sz="2600" b="1">
                <a:solidFill>
                  <a:srgbClr val="FFFFFF"/>
                </a:solidFill>
                <a:latin typeface="Georgia"/>
              </a:defRPr>
            </a:pPr>
            <a:r>
              <a:t>13  EVOLUTIONS FUTURES &amp; ROADMAP</a:t>
            </a:r>
          </a:p>
        </p:txBody>
      </p:sp>
      <p:sp>
        <p:nvSpPr>
          <p:cNvPr id="5" name="Rectangle 4"/>
          <p:cNvSpPr/>
          <p:nvPr/>
        </p:nvSpPr>
        <p:spPr>
          <a:xfrm>
            <a:off x="457200" y="77724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097280"/>
            <a:ext cx="2834640" cy="5303520"/>
          </a:xfrm>
          <a:prstGeom prst="roundRect">
            <a:avLst/>
          </a:prstGeom>
          <a:solidFill>
            <a:srgbClr val="0C152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80160"/>
            <a:ext cx="2468880" cy="731520"/>
          </a:xfrm>
          <a:prstGeom prst="rect">
            <a:avLst/>
          </a:prstGeom>
          <a:noFill/>
        </p:spPr>
        <p:txBody>
          <a:bodyPr wrap="square">
            <a:spAutoFit/>
          </a:bodyPr>
          <a:lstStyle/>
          <a:p>
            <a:pPr algn="ctr">
              <a:defRPr sz="1800" b="1">
                <a:solidFill>
                  <a:srgbClr val="D4A438"/>
                </a:solidFill>
                <a:latin typeface="Arial"/>
              </a:defRPr>
            </a:pPr>
            <a:r>
              <a:t>PHASE 1</a:t>
            </a:r>
            <a:br/>
            <a:r>
              <a:t>MVP</a:t>
            </a:r>
          </a:p>
        </p:txBody>
      </p:sp>
      <p:sp>
        <p:nvSpPr>
          <p:cNvPr id="8" name="Rectangle 7"/>
          <p:cNvSpPr/>
          <p:nvPr/>
        </p:nvSpPr>
        <p:spPr>
          <a:xfrm>
            <a:off x="731520" y="2103120"/>
            <a:ext cx="1371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377440"/>
            <a:ext cx="2468880" cy="3657600"/>
          </a:xfrm>
          <a:prstGeom prst="rect">
            <a:avLst/>
          </a:prstGeom>
          <a:noFill/>
        </p:spPr>
        <p:txBody>
          <a:bodyPr wrap="square">
            <a:spAutoFit/>
          </a:bodyPr>
          <a:lstStyle/>
          <a:p>
            <a:pPr algn="ctr">
              <a:defRPr sz="1100" b="0">
                <a:solidFill>
                  <a:srgbClr val="B0B8C0"/>
                </a:solidFill>
                <a:latin typeface="Arial"/>
              </a:defRPr>
            </a:pPr>
            <a:r>
              <a:t>Site web complet</a:t>
            </a:r>
            <a:br/>
            <a:r>
              <a:t>Espace membre</a:t>
            </a:r>
            <a:br/>
            <a:r>
              <a:t>Paiement en ligne</a:t>
            </a:r>
            <a:br/>
            <a:r>
              <a:t>Cours enregistres</a:t>
            </a:r>
            <a:br/>
            <a:r>
              <a:t>Dashboard admin</a:t>
            </a:r>
            <a:br/>
            <a:r>
              <a:t>Systeme de notation</a:t>
            </a:r>
            <a:br/>
            <a:r>
              <a:t>Certificats PDF</a:t>
            </a:r>
            <a:br/>
            <a:r>
              <a:t>Blog SEO</a:t>
            </a:r>
          </a:p>
        </p:txBody>
      </p:sp>
      <p:sp>
        <p:nvSpPr>
          <p:cNvPr id="10" name="Rounded Rectangle 9"/>
          <p:cNvSpPr/>
          <p:nvPr/>
        </p:nvSpPr>
        <p:spPr>
          <a:xfrm>
            <a:off x="3200400" y="1097280"/>
            <a:ext cx="2834640" cy="5303520"/>
          </a:xfrm>
          <a:prstGeom prst="roundRect">
            <a:avLst/>
          </a:prstGeom>
          <a:solidFill>
            <a:srgbClr val="0C152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280160"/>
            <a:ext cx="2468880" cy="731520"/>
          </a:xfrm>
          <a:prstGeom prst="rect">
            <a:avLst/>
          </a:prstGeom>
          <a:noFill/>
        </p:spPr>
        <p:txBody>
          <a:bodyPr wrap="square">
            <a:spAutoFit/>
          </a:bodyPr>
          <a:lstStyle/>
          <a:p>
            <a:pPr algn="ctr">
              <a:defRPr sz="1800" b="1">
                <a:solidFill>
                  <a:srgbClr val="D4A438"/>
                </a:solidFill>
                <a:latin typeface="Arial"/>
              </a:defRPr>
            </a:pPr>
            <a:r>
              <a:t>PHASE 2</a:t>
            </a:r>
            <a:br/>
            <a:r>
              <a:t>ENRICHISSEMENT</a:t>
            </a:r>
          </a:p>
        </p:txBody>
      </p:sp>
      <p:sp>
        <p:nvSpPr>
          <p:cNvPr id="12" name="Rectangle 11"/>
          <p:cNvSpPr/>
          <p:nvPr/>
        </p:nvSpPr>
        <p:spPr>
          <a:xfrm>
            <a:off x="3749039" y="2103120"/>
            <a:ext cx="1371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2377440"/>
            <a:ext cx="2468880" cy="3657600"/>
          </a:xfrm>
          <a:prstGeom prst="rect">
            <a:avLst/>
          </a:prstGeom>
          <a:noFill/>
        </p:spPr>
        <p:txBody>
          <a:bodyPr wrap="square">
            <a:spAutoFit/>
          </a:bodyPr>
          <a:lstStyle/>
          <a:p>
            <a:pPr algn="ctr">
              <a:defRPr sz="1100" b="0">
                <a:solidFill>
                  <a:srgbClr val="B0B8C0"/>
                </a:solidFill>
                <a:latin typeface="Arial"/>
              </a:defRPr>
            </a:pPr>
            <a:r>
              <a:t>Sessions live Zoom</a:t>
            </a:r>
            <a:br/>
            <a:r>
              <a:t>Forum communautaire</a:t>
            </a:r>
            <a:br/>
            <a:r>
              <a:t>Notifications avancees</a:t>
            </a:r>
            <a:br/>
            <a:r>
              <a:t>Calendrier events</a:t>
            </a:r>
            <a:br/>
            <a:r>
              <a:t>Gamification (badges)</a:t>
            </a:r>
            <a:br/>
            <a:r>
              <a:t>Parcours personnalise</a:t>
            </a:r>
            <a:br/>
            <a:r>
              <a:t>Coaching de groupe</a:t>
            </a:r>
            <a:br/>
            <a:r>
              <a:t>Multi-langue FR/EN</a:t>
            </a:r>
          </a:p>
        </p:txBody>
      </p:sp>
      <p:sp>
        <p:nvSpPr>
          <p:cNvPr id="14" name="Rounded Rectangle 13"/>
          <p:cNvSpPr/>
          <p:nvPr/>
        </p:nvSpPr>
        <p:spPr>
          <a:xfrm>
            <a:off x="6217920" y="1097280"/>
            <a:ext cx="2834640" cy="5303520"/>
          </a:xfrm>
          <a:prstGeom prst="roundRect">
            <a:avLst/>
          </a:prstGeom>
          <a:solidFill>
            <a:srgbClr val="0C152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280160"/>
            <a:ext cx="2468880" cy="731520"/>
          </a:xfrm>
          <a:prstGeom prst="rect">
            <a:avLst/>
          </a:prstGeom>
          <a:noFill/>
        </p:spPr>
        <p:txBody>
          <a:bodyPr wrap="square">
            <a:spAutoFit/>
          </a:bodyPr>
          <a:lstStyle/>
          <a:p>
            <a:pPr algn="ctr">
              <a:defRPr sz="1800" b="1">
                <a:solidFill>
                  <a:srgbClr val="D4A438"/>
                </a:solidFill>
                <a:latin typeface="Arial"/>
              </a:defRPr>
            </a:pPr>
            <a:r>
              <a:t>PHASE 3</a:t>
            </a:r>
            <a:br/>
            <a:r>
              <a:t>EXPANSION</a:t>
            </a:r>
          </a:p>
        </p:txBody>
      </p:sp>
      <p:sp>
        <p:nvSpPr>
          <p:cNvPr id="16" name="Rectangle 15"/>
          <p:cNvSpPr/>
          <p:nvPr/>
        </p:nvSpPr>
        <p:spPr>
          <a:xfrm>
            <a:off x="6766560" y="2103120"/>
            <a:ext cx="1371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377440"/>
            <a:ext cx="2468880" cy="3657600"/>
          </a:xfrm>
          <a:prstGeom prst="rect">
            <a:avLst/>
          </a:prstGeom>
          <a:noFill/>
        </p:spPr>
        <p:txBody>
          <a:bodyPr wrap="square">
            <a:spAutoFit/>
          </a:bodyPr>
          <a:lstStyle/>
          <a:p>
            <a:pPr algn="ctr">
              <a:defRPr sz="1100" b="0">
                <a:solidFill>
                  <a:srgbClr val="B0B8C0"/>
                </a:solidFill>
                <a:latin typeface="Arial"/>
              </a:defRPr>
            </a:pPr>
            <a:r>
              <a:t>App mobile iOS/Android</a:t>
            </a:r>
            <a:br/>
            <a:r>
              <a:t>Programme mentorat</a:t>
            </a:r>
            <a:br/>
            <a:r>
              <a:t>Systeme d'affiliation</a:t>
            </a:r>
            <a:br/>
            <a:r>
              <a:t>IA recommandations</a:t>
            </a:r>
            <a:br/>
            <a:r>
              <a:t>Sous-titres auto (AI)</a:t>
            </a:r>
            <a:br/>
            <a:r>
              <a:t>Marketplace formateurs</a:t>
            </a:r>
            <a:br/>
            <a:r>
              <a:t>Podcast integre</a:t>
            </a:r>
            <a:br/>
            <a:r>
              <a:t>Evenements physiques</a:t>
            </a:r>
          </a:p>
        </p:txBody>
      </p:sp>
      <p:sp>
        <p:nvSpPr>
          <p:cNvPr id="18" name="Rounded Rectangle 17"/>
          <p:cNvSpPr/>
          <p:nvPr/>
        </p:nvSpPr>
        <p:spPr>
          <a:xfrm>
            <a:off x="9235440" y="1097280"/>
            <a:ext cx="2743200" cy="5303520"/>
          </a:xfrm>
          <a:prstGeom prst="round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0" y="1280160"/>
            <a:ext cx="2377440" cy="731520"/>
          </a:xfrm>
          <a:prstGeom prst="rect">
            <a:avLst/>
          </a:prstGeom>
          <a:noFill/>
        </p:spPr>
        <p:txBody>
          <a:bodyPr wrap="square">
            <a:spAutoFit/>
          </a:bodyPr>
          <a:lstStyle/>
          <a:p>
            <a:pPr algn="ctr">
              <a:defRPr sz="1800" b="1">
                <a:solidFill>
                  <a:srgbClr val="0D2240"/>
                </a:solidFill>
                <a:latin typeface="Arial"/>
              </a:defRPr>
            </a:pPr>
            <a:r>
              <a:t>VISION</a:t>
            </a:r>
            <a:br/>
            <a:r>
              <a:t>ULTIME</a:t>
            </a:r>
          </a:p>
        </p:txBody>
      </p:sp>
      <p:sp>
        <p:nvSpPr>
          <p:cNvPr id="20" name="Rectangle 19"/>
          <p:cNvSpPr/>
          <p:nvPr/>
        </p:nvSpPr>
        <p:spPr>
          <a:xfrm>
            <a:off x="9784080" y="2103120"/>
            <a:ext cx="1371600" cy="36576"/>
          </a:xfrm>
          <a:prstGeom prst="rect">
            <a:avLst/>
          </a:prstGeom>
          <a:solidFill>
            <a:srgbClr val="0D224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0" y="2377440"/>
            <a:ext cx="2377440" cy="3657600"/>
          </a:xfrm>
          <a:prstGeom prst="rect">
            <a:avLst/>
          </a:prstGeom>
          <a:noFill/>
        </p:spPr>
        <p:txBody>
          <a:bodyPr wrap="square">
            <a:spAutoFit/>
          </a:bodyPr>
          <a:lstStyle/>
          <a:p>
            <a:pPr algn="ctr">
              <a:defRPr sz="1100" b="0">
                <a:solidFill>
                  <a:srgbClr val="1A2D50"/>
                </a:solidFill>
                <a:latin typeface="Arial"/>
              </a:defRPr>
            </a:pPr>
            <a:r>
              <a:t>Reference francophone</a:t>
            </a:r>
            <a:br/>
            <a:r>
              <a:t>Formation spirituelle</a:t>
            </a:r>
            <a:br/>
            <a:r>
              <a:t>Ecosysteme complet</a:t>
            </a:r>
            <a:br/>
            <a:r>
              <a:t>Impact mondial</a:t>
            </a:r>
            <a:br/>
            <a:r>
              <a:t>Communaute globale</a:t>
            </a:r>
            <a:br/>
            <a:r>
              <a:t>Leaders formes</a:t>
            </a:r>
            <a:br/>
            <a:r>
              <a:t>Transformation durable</a:t>
            </a:r>
            <a:br/>
            <a:r>
              <a:t>Heritage spirituel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371600" cy="640080"/>
          </a:xfrm>
          <a:prstGeom prst="rect">
            <a:avLst/>
          </a:prstGeom>
          <a:noFill/>
        </p:spPr>
        <p:txBody>
          <a:bodyPr wrap="square">
            <a:spAutoFit/>
          </a:bodyPr>
          <a:lstStyle/>
          <a:p>
            <a:pPr algn="l">
              <a:defRPr sz="4800" b="1">
                <a:solidFill>
                  <a:srgbClr val="D4A438"/>
                </a:solidFill>
                <a:latin typeface="Georgia"/>
              </a:defRPr>
            </a:pPr>
            <a:r>
              <a:t>14</a:t>
            </a:r>
          </a:p>
        </p:txBody>
      </p:sp>
      <p:sp>
        <p:nvSpPr>
          <p:cNvPr id="4" name="TextBox 3"/>
          <p:cNvSpPr txBox="1"/>
          <p:nvPr/>
        </p:nvSpPr>
        <p:spPr>
          <a:xfrm>
            <a:off x="1828800" y="274320"/>
            <a:ext cx="9144000" cy="640080"/>
          </a:xfrm>
          <a:prstGeom prst="rect">
            <a:avLst/>
          </a:prstGeom>
          <a:noFill/>
        </p:spPr>
        <p:txBody>
          <a:bodyPr wrap="square">
            <a:spAutoFit/>
          </a:bodyPr>
          <a:lstStyle/>
          <a:p>
            <a:pPr algn="l">
              <a:defRPr sz="2600" b="1">
                <a:solidFill>
                  <a:srgbClr val="FFFFFF"/>
                </a:solidFill>
                <a:latin typeface="Georgia"/>
              </a:defRPr>
            </a:pPr>
            <a:r>
              <a:t>POURQUOI NOUS CHOISIR ?</a:t>
            </a:r>
          </a:p>
        </p:txBody>
      </p:sp>
      <p:sp>
        <p:nvSpPr>
          <p:cNvPr id="5" name="Rectangle 4"/>
          <p:cNvSpPr/>
          <p:nvPr/>
        </p:nvSpPr>
        <p:spPr>
          <a:xfrm>
            <a:off x="1828800" y="868680"/>
            <a:ext cx="365760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188720"/>
            <a:ext cx="566928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rocket.png"/>
          <p:cNvPicPr>
            <a:picLocks noChangeAspect="1"/>
          </p:cNvPicPr>
          <p:nvPr/>
        </p:nvPicPr>
        <p:blipFill>
          <a:blip r:embed="rId2"/>
          <a:stretch>
            <a:fillRect/>
          </a:stretch>
        </p:blipFill>
        <p:spPr>
          <a:xfrm>
            <a:off x="548640" y="1371600"/>
            <a:ext cx="457200" cy="457200"/>
          </a:xfrm>
          <a:prstGeom prst="rect">
            <a:avLst/>
          </a:prstGeom>
        </p:spPr>
      </p:pic>
      <p:sp>
        <p:nvSpPr>
          <p:cNvPr id="8" name="TextBox 7"/>
          <p:cNvSpPr txBox="1"/>
          <p:nvPr/>
        </p:nvSpPr>
        <p:spPr>
          <a:xfrm>
            <a:off x="1097280" y="1371600"/>
            <a:ext cx="4572000" cy="365760"/>
          </a:xfrm>
          <a:prstGeom prst="rect">
            <a:avLst/>
          </a:prstGeom>
          <a:noFill/>
        </p:spPr>
        <p:txBody>
          <a:bodyPr wrap="square">
            <a:spAutoFit/>
          </a:bodyPr>
          <a:lstStyle/>
          <a:p>
            <a:pPr algn="l">
              <a:defRPr sz="1400" b="1">
                <a:solidFill>
                  <a:srgbClr val="D4A438"/>
                </a:solidFill>
                <a:latin typeface="Arial"/>
              </a:defRPr>
            </a:pPr>
            <a:r>
              <a:t>EXPERTISE TECHNIQUE PROUVEE</a:t>
            </a:r>
          </a:p>
        </p:txBody>
      </p:sp>
      <p:sp>
        <p:nvSpPr>
          <p:cNvPr id="9" name="TextBox 8"/>
          <p:cNvSpPr txBox="1"/>
          <p:nvPr/>
        </p:nvSpPr>
        <p:spPr>
          <a:xfrm>
            <a:off x="548640" y="1920240"/>
            <a:ext cx="5120640" cy="1371600"/>
          </a:xfrm>
          <a:prstGeom prst="rect">
            <a:avLst/>
          </a:prstGeom>
          <a:noFill/>
        </p:spPr>
        <p:txBody>
          <a:bodyPr wrap="square">
            <a:spAutoFit/>
          </a:bodyPr>
          <a:lstStyle/>
          <a:p>
            <a:pPr algn="l">
              <a:defRPr sz="1200" b="0">
                <a:solidFill>
                  <a:srgbClr val="B0B8C0"/>
                </a:solidFill>
                <a:latin typeface="Arial"/>
              </a:defRPr>
            </a:pPr>
            <a:r>
              <a:t>Technologies de pointe (Next.js, NestJS, AWS), architecture scalable, code propre et maintenable. Nous avons deja livre des plateformes complexes pour des clients exigeants comme Messiya Group.</a:t>
            </a:r>
          </a:p>
        </p:txBody>
      </p:sp>
      <p:sp>
        <p:nvSpPr>
          <p:cNvPr id="10" name="Rounded Rectangle 9"/>
          <p:cNvSpPr/>
          <p:nvPr/>
        </p:nvSpPr>
        <p:spPr>
          <a:xfrm>
            <a:off x="6217920" y="1188720"/>
            <a:ext cx="566928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shield.png"/>
          <p:cNvPicPr>
            <a:picLocks noChangeAspect="1"/>
          </p:cNvPicPr>
          <p:nvPr/>
        </p:nvPicPr>
        <p:blipFill>
          <a:blip r:embed="rId3"/>
          <a:stretch>
            <a:fillRect/>
          </a:stretch>
        </p:blipFill>
        <p:spPr>
          <a:xfrm>
            <a:off x="6492240" y="1371600"/>
            <a:ext cx="457200" cy="457200"/>
          </a:xfrm>
          <a:prstGeom prst="rect">
            <a:avLst/>
          </a:prstGeom>
        </p:spPr>
      </p:pic>
      <p:sp>
        <p:nvSpPr>
          <p:cNvPr id="12" name="TextBox 11"/>
          <p:cNvSpPr txBox="1"/>
          <p:nvPr/>
        </p:nvSpPr>
        <p:spPr>
          <a:xfrm>
            <a:off x="7040880" y="1371600"/>
            <a:ext cx="4572000" cy="365760"/>
          </a:xfrm>
          <a:prstGeom prst="rect">
            <a:avLst/>
          </a:prstGeom>
          <a:noFill/>
        </p:spPr>
        <p:txBody>
          <a:bodyPr wrap="square">
            <a:spAutoFit/>
          </a:bodyPr>
          <a:lstStyle/>
          <a:p>
            <a:pPr algn="l">
              <a:defRPr sz="1400" b="1">
                <a:solidFill>
                  <a:srgbClr val="D4A438"/>
                </a:solidFill>
                <a:latin typeface="Arial"/>
              </a:defRPr>
            </a:pPr>
            <a:r>
              <a:t>SECURITE SANS COMPROMIS</a:t>
            </a:r>
          </a:p>
        </p:txBody>
      </p:sp>
      <p:sp>
        <p:nvSpPr>
          <p:cNvPr id="13" name="TextBox 12"/>
          <p:cNvSpPr txBox="1"/>
          <p:nvPr/>
        </p:nvSpPr>
        <p:spPr>
          <a:xfrm>
            <a:off x="6492240" y="1920240"/>
            <a:ext cx="5120640" cy="1371600"/>
          </a:xfrm>
          <a:prstGeom prst="rect">
            <a:avLst/>
          </a:prstGeom>
          <a:noFill/>
        </p:spPr>
        <p:txBody>
          <a:bodyPr wrap="square">
            <a:spAutoFit/>
          </a:bodyPr>
          <a:lstStyle/>
          <a:p>
            <a:pPr algn="l">
              <a:defRPr sz="1200" b="0">
                <a:solidFill>
                  <a:srgbClr val="B0B8C0"/>
                </a:solidFill>
                <a:latin typeface="Arial"/>
              </a:defRPr>
            </a:pPr>
            <a:r>
              <a:t>Normes de securite bancaire : SSL, 2FA, chiffrement AES-256, PCI-DSS, RGPD. Audits reguliers, monitoring 24/7, protection DDoS. Vos donnees et celles de vos apprenants sont sacrees.</a:t>
            </a:r>
          </a:p>
        </p:txBody>
      </p:sp>
      <p:sp>
        <p:nvSpPr>
          <p:cNvPr id="14" name="Rounded Rectangle 13"/>
          <p:cNvSpPr/>
          <p:nvPr/>
        </p:nvSpPr>
        <p:spPr>
          <a:xfrm>
            <a:off x="274320" y="3657600"/>
            <a:ext cx="566928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heart.png"/>
          <p:cNvPicPr>
            <a:picLocks noChangeAspect="1"/>
          </p:cNvPicPr>
          <p:nvPr/>
        </p:nvPicPr>
        <p:blipFill>
          <a:blip r:embed="rId4"/>
          <a:stretch>
            <a:fillRect/>
          </a:stretch>
        </p:blipFill>
        <p:spPr>
          <a:xfrm>
            <a:off x="548640" y="3840480"/>
            <a:ext cx="457200" cy="457200"/>
          </a:xfrm>
          <a:prstGeom prst="rect">
            <a:avLst/>
          </a:prstGeom>
        </p:spPr>
      </p:pic>
      <p:sp>
        <p:nvSpPr>
          <p:cNvPr id="16" name="TextBox 15"/>
          <p:cNvSpPr txBox="1"/>
          <p:nvPr/>
        </p:nvSpPr>
        <p:spPr>
          <a:xfrm>
            <a:off x="1097280" y="3840480"/>
            <a:ext cx="4572000" cy="365760"/>
          </a:xfrm>
          <a:prstGeom prst="rect">
            <a:avLst/>
          </a:prstGeom>
          <a:noFill/>
        </p:spPr>
        <p:txBody>
          <a:bodyPr wrap="square">
            <a:spAutoFit/>
          </a:bodyPr>
          <a:lstStyle/>
          <a:p>
            <a:pPr algn="l">
              <a:defRPr sz="1400" b="1">
                <a:solidFill>
                  <a:srgbClr val="D4A438"/>
                </a:solidFill>
                <a:latin typeface="Arial"/>
              </a:defRPr>
            </a:pPr>
            <a:r>
              <a:t>DESIGN HORS DU COMMUN</a:t>
            </a:r>
          </a:p>
        </p:txBody>
      </p:sp>
      <p:sp>
        <p:nvSpPr>
          <p:cNvPr id="17" name="TextBox 16"/>
          <p:cNvSpPr txBox="1"/>
          <p:nvPr/>
        </p:nvSpPr>
        <p:spPr>
          <a:xfrm>
            <a:off x="548640" y="4389120"/>
            <a:ext cx="5120640" cy="1371600"/>
          </a:xfrm>
          <a:prstGeom prst="rect">
            <a:avLst/>
          </a:prstGeom>
          <a:noFill/>
        </p:spPr>
        <p:txBody>
          <a:bodyPr wrap="square">
            <a:spAutoFit/>
          </a:bodyPr>
          <a:lstStyle/>
          <a:p>
            <a:pPr algn="l">
              <a:defRPr sz="1200" b="0">
                <a:solidFill>
                  <a:srgbClr val="B0B8C0"/>
                </a:solidFill>
                <a:latin typeface="Arial"/>
              </a:defRPr>
            </a:pPr>
            <a:r>
              <a:t>Un design premium qui reflete l'excellence de la vision de Lord Lombo. Charte graphique sur mesure (Bleu Royal &amp; Or), animations fluides, UX intuitive. Une experience qui inspire des la premiere visite.</a:t>
            </a:r>
          </a:p>
        </p:txBody>
      </p:sp>
      <p:sp>
        <p:nvSpPr>
          <p:cNvPr id="18" name="Rounded Rectangle 17"/>
          <p:cNvSpPr/>
          <p:nvPr/>
        </p:nvSpPr>
        <p:spPr>
          <a:xfrm>
            <a:off x="6217920" y="3657600"/>
            <a:ext cx="5669280" cy="2286000"/>
          </a:xfrm>
          <a:prstGeom prst="roundRect">
            <a:avLst/>
          </a:prstGeom>
          <a:solidFill>
            <a:srgbClr val="0E1B3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globe.png"/>
          <p:cNvPicPr>
            <a:picLocks noChangeAspect="1"/>
          </p:cNvPicPr>
          <p:nvPr/>
        </p:nvPicPr>
        <p:blipFill>
          <a:blip r:embed="rId5"/>
          <a:stretch>
            <a:fillRect/>
          </a:stretch>
        </p:blipFill>
        <p:spPr>
          <a:xfrm>
            <a:off x="6492240" y="3840480"/>
            <a:ext cx="457200" cy="457200"/>
          </a:xfrm>
          <a:prstGeom prst="rect">
            <a:avLst/>
          </a:prstGeom>
        </p:spPr>
      </p:pic>
      <p:sp>
        <p:nvSpPr>
          <p:cNvPr id="20" name="TextBox 19"/>
          <p:cNvSpPr txBox="1"/>
          <p:nvPr/>
        </p:nvSpPr>
        <p:spPr>
          <a:xfrm>
            <a:off x="7040880" y="3840480"/>
            <a:ext cx="4572000" cy="365760"/>
          </a:xfrm>
          <a:prstGeom prst="rect">
            <a:avLst/>
          </a:prstGeom>
          <a:noFill/>
        </p:spPr>
        <p:txBody>
          <a:bodyPr wrap="square">
            <a:spAutoFit/>
          </a:bodyPr>
          <a:lstStyle/>
          <a:p>
            <a:pPr algn="l">
              <a:defRPr sz="1400" b="1">
                <a:solidFill>
                  <a:srgbClr val="D4A438"/>
                </a:solidFill>
                <a:latin typeface="Arial"/>
              </a:defRPr>
            </a:pPr>
            <a:r>
              <a:t>ACCOMPAGNEMENT TOTAL</a:t>
            </a:r>
          </a:p>
        </p:txBody>
      </p:sp>
      <p:sp>
        <p:nvSpPr>
          <p:cNvPr id="21" name="TextBox 20"/>
          <p:cNvSpPr txBox="1"/>
          <p:nvPr/>
        </p:nvSpPr>
        <p:spPr>
          <a:xfrm>
            <a:off x="6492240" y="4389120"/>
            <a:ext cx="5120640" cy="1371600"/>
          </a:xfrm>
          <a:prstGeom prst="rect">
            <a:avLst/>
          </a:prstGeom>
          <a:noFill/>
        </p:spPr>
        <p:txBody>
          <a:bodyPr wrap="square">
            <a:spAutoFit/>
          </a:bodyPr>
          <a:lstStyle/>
          <a:p>
            <a:pPr algn="l">
              <a:defRPr sz="1200" b="0">
                <a:solidFill>
                  <a:srgbClr val="B0B8C0"/>
                </a:solidFill>
                <a:latin typeface="Arial"/>
              </a:defRPr>
            </a:pPr>
            <a:r>
              <a:t>De la conception au deploiement, maintenance et evolutions incluses. Support reactif, formation a l'administration, documentation complete. Votre succes est notre priorite absolue.</a:t>
            </a:r>
          </a:p>
        </p:txBody>
      </p:sp>
      <p:sp>
        <p:nvSpPr>
          <p:cNvPr id="22" name="Rectangle 21"/>
          <p:cNvSpPr/>
          <p:nvPr/>
        </p:nvSpPr>
        <p:spPr>
          <a:xfrm>
            <a:off x="274320" y="6217920"/>
            <a:ext cx="1161288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6309360"/>
            <a:ext cx="10332720" cy="365760"/>
          </a:xfrm>
          <a:prstGeom prst="rect">
            <a:avLst/>
          </a:prstGeom>
          <a:noFill/>
        </p:spPr>
        <p:txBody>
          <a:bodyPr wrap="square">
            <a:spAutoFit/>
          </a:bodyPr>
          <a:lstStyle/>
          <a:p>
            <a:pPr algn="ctr">
              <a:defRPr sz="1300" b="0">
                <a:solidFill>
                  <a:srgbClr val="D4A438"/>
                </a:solidFill>
                <a:latin typeface="Georgia"/>
              </a:defRPr>
            </a:pPr>
            <a:r>
              <a:t>Nous ne livrons pas un site web. Nous construisons un ecosysteme de transformation.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8543" y="0"/>
            <a:ext cx="73152" cy="6858000"/>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client.jpeg"/>
          <p:cNvPicPr>
            <a:picLocks noChangeAspect="1"/>
          </p:cNvPicPr>
          <p:nvPr/>
        </p:nvPicPr>
        <p:blipFill>
          <a:blip r:embed="rId2"/>
          <a:stretch>
            <a:fillRect/>
          </a:stretch>
        </p:blipFill>
        <p:spPr>
          <a:xfrm>
            <a:off x="4114800" y="274320"/>
            <a:ext cx="3931920" cy="2834640"/>
          </a:xfrm>
          <a:prstGeom prst="rect">
            <a:avLst/>
          </a:prstGeom>
        </p:spPr>
      </p:pic>
      <p:sp>
        <p:nvSpPr>
          <p:cNvPr id="5" name="Rectangle 4"/>
          <p:cNvSpPr/>
          <p:nvPr/>
        </p:nvSpPr>
        <p:spPr>
          <a:xfrm>
            <a:off x="1371600" y="3200400"/>
            <a:ext cx="9418320"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474720"/>
            <a:ext cx="11247120" cy="822960"/>
          </a:xfrm>
          <a:prstGeom prst="rect">
            <a:avLst/>
          </a:prstGeom>
          <a:noFill/>
        </p:spPr>
        <p:txBody>
          <a:bodyPr wrap="square">
            <a:spAutoFit/>
          </a:bodyPr>
          <a:lstStyle/>
          <a:p>
            <a:pPr algn="ctr">
              <a:defRPr sz="4000" b="1">
                <a:solidFill>
                  <a:srgbClr val="D4A438"/>
                </a:solidFill>
                <a:latin typeface="Georgia"/>
              </a:defRPr>
            </a:pPr>
            <a:r>
              <a:t>LORD LOMBO ACADEMIE</a:t>
            </a:r>
          </a:p>
        </p:txBody>
      </p:sp>
      <p:sp>
        <p:nvSpPr>
          <p:cNvPr id="7" name="TextBox 6"/>
          <p:cNvSpPr txBox="1"/>
          <p:nvPr/>
        </p:nvSpPr>
        <p:spPr>
          <a:xfrm>
            <a:off x="1828800" y="4297680"/>
            <a:ext cx="8503920" cy="457200"/>
          </a:xfrm>
          <a:prstGeom prst="rect">
            <a:avLst/>
          </a:prstGeom>
          <a:noFill/>
        </p:spPr>
        <p:txBody>
          <a:bodyPr wrap="square">
            <a:spAutoFit/>
          </a:bodyPr>
          <a:lstStyle/>
          <a:p>
            <a:pPr algn="ctr">
              <a:defRPr sz="1800" b="0">
                <a:solidFill>
                  <a:srgbClr val="CADCFC"/>
                </a:solidFill>
                <a:latin typeface="Georgia"/>
              </a:defRPr>
            </a:pPr>
            <a:r>
              <a:t>Transformation  -  Leadership  -  Impact</a:t>
            </a:r>
          </a:p>
        </p:txBody>
      </p:sp>
      <p:sp>
        <p:nvSpPr>
          <p:cNvPr id="8" name="Rectangle 7"/>
          <p:cNvSpPr/>
          <p:nvPr/>
        </p:nvSpPr>
        <p:spPr>
          <a:xfrm>
            <a:off x="5029200" y="4937760"/>
            <a:ext cx="2103120" cy="36576"/>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5120640"/>
            <a:ext cx="9418320" cy="731520"/>
          </a:xfrm>
          <a:prstGeom prst="rect">
            <a:avLst/>
          </a:prstGeom>
          <a:noFill/>
        </p:spPr>
        <p:txBody>
          <a:bodyPr wrap="square">
            <a:spAutoFit/>
          </a:bodyPr>
          <a:lstStyle/>
          <a:p>
            <a:pPr algn="ctr">
              <a:defRPr sz="1500" b="0">
                <a:solidFill>
                  <a:srgbClr val="A0B0C0"/>
                </a:solidFill>
                <a:latin typeface="Arial"/>
              </a:defRPr>
            </a:pPr>
            <a:r>
              <a:t>Prets a batir ensemble une plateforme d'excellence</a:t>
            </a:r>
            <a:br/>
            <a:r>
              <a:t>qui transformera des vies et formera les leaders de demain.</a:t>
            </a:r>
          </a:p>
        </p:txBody>
      </p:sp>
      <p:sp>
        <p:nvSpPr>
          <p:cNvPr id="10" name="TextBox 9"/>
          <p:cNvSpPr txBox="1"/>
          <p:nvPr/>
        </p:nvSpPr>
        <p:spPr>
          <a:xfrm>
            <a:off x="1828800" y="6035040"/>
            <a:ext cx="8503920" cy="457200"/>
          </a:xfrm>
          <a:prstGeom prst="rect">
            <a:avLst/>
          </a:prstGeom>
          <a:noFill/>
        </p:spPr>
        <p:txBody>
          <a:bodyPr wrap="square">
            <a:spAutoFit/>
          </a:bodyPr>
          <a:lstStyle/>
          <a:p>
            <a:pPr algn="ctr">
              <a:defRPr sz="1600" b="1">
                <a:solidFill>
                  <a:srgbClr val="D4A438"/>
                </a:solidFill>
                <a:latin typeface="Arial"/>
              </a:defRPr>
            </a:pPr>
            <a:r>
              <a:t>MERCI POUR VOTRE CONFIANCE</a:t>
            </a:r>
          </a:p>
        </p:txBody>
      </p:sp>
      <p:sp>
        <p:nvSpPr>
          <p:cNvPr id="11" name="Rectangle 10"/>
          <p:cNvSpPr/>
          <p:nvPr/>
        </p:nvSpPr>
        <p:spPr>
          <a:xfrm>
            <a:off x="0" y="6803136"/>
            <a:ext cx="12191695" cy="54864"/>
          </a:xfrm>
          <a:prstGeom prst="rect">
            <a:avLst/>
          </a:prstGeom>
          <a:solidFill>
            <a:srgbClr val="D4A43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