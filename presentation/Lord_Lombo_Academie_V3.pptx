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cli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731520"/>
            <a:ext cx="32004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1005840"/>
            <a:ext cx="4114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D4A438"/>
                </a:solidFill>
                <a:latin typeface="Georgia"/>
              </a:defRPr>
            </a:pPr>
            <a:r>
              <a:t>LORD LOMBO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00584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FFFFFF"/>
                </a:solidFill>
                <a:latin typeface="Georgia"/>
              </a:defRPr>
            </a:pPr>
            <a:r>
              <a:t>ACADEMIE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0C75E"/>
                </a:solidFill>
                <a:latin typeface="Calibri"/>
              </a:defRPr>
            </a:pPr>
            <a:r>
              <a:t>PLATEFORME DE FORMATION EN LIGNE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514600"/>
            <a:ext cx="16459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8229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DOCUMENT DE COMPREHENSION DES BESOINS</a:t>
            </a:r>
          </a:p>
          <a:p>
            <a:pPr algn="l">
              <a:defRPr sz="2400" b="1">
                <a:solidFill>
                  <a:srgbClr val="D4A438"/>
                </a:solidFill>
                <a:latin typeface="Georgia"/>
              </a:defRPr>
            </a:pPr>
            <a:r>
              <a:t>&amp; PROPOSITION DE SOLUTION DIGITALE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297680"/>
            <a:ext cx="384048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38912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Prepare par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63440"/>
            <a:ext cx="3566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0C75E"/>
                </a:solidFill>
                <a:latin typeface="Calibri"/>
              </a:defRPr>
            </a:pPr>
            <a:r>
              <a:t>Messiya Group - Division Digitale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65105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09728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2004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548640"/>
            <a:ext cx="2011680" cy="201168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D4A438"/>
                </a:solidFill>
                <a:latin typeface="Georgia"/>
              </a:defRPr>
            </a:pPr>
            <a:r>
              <a:t>SOMMAIRE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868680"/>
            <a:ext cx="109728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143000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143000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179576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179576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Contexte &amp; Compréhension du Besoin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449324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49324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485900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148590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Vision &amp; Objectifs Stratégiques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755648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1755648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92224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1792224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Valeurs Ajoutées de Notre Solution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061972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2061972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98548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209854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Architecture Technique de la Solution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2368296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2368296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404872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2404872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Modules Fonctionnels de la Plateforme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2674620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2674620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711196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2711196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CRM Intégré &amp; Gestion Relation Client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2980944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2980944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017520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017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Méthodes Pédagogiques &amp; Organisation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287268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3287268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323844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3323844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Évaluation, Satisfaction &amp; Suivi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3593592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3593592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3630168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363016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Fonctionnalités Avancées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3899916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5800" y="3899916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936492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" y="3936492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Sécurité &amp; Performance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4206240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5800" y="4206240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242816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5880" y="4242816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Identité Visuelle &amp; Charte Graphique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" y="4512564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5800" y="4512564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4549140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5880" y="454914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Stack Technique &amp; Technologies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5800" y="4818888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85800" y="4818888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4855464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25880" y="4855464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Stratégie SEO &amp; Référencement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5800" y="5125212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5800" y="5125212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5161788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25880" y="516178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Réseaux Sociaux &amp; Marketing Digital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5800" y="5431536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85800" y="5431536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5468112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25880" y="5468112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Parcours Utilisateur &amp; Expérience (UX)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5800" y="5737860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85800" y="5737860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5774436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25880" y="5774436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Contact &amp; Devis Personnalisé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5800" y="6044184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" y="6044184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" y="6080760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25880" y="60807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Évolutions Futures &amp; Roadmap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85800" y="6350508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85800" y="6350508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6387084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25880" y="6387084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Valeur Ajoutée Messiya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CONTEXTE &amp; COMPRÉHENSION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DU BESOIN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Comprendre la vision de Lord Lombo pour une académie de transformation spirituelle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CONTEXTE DU PROJET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097280"/>
            <a:ext cx="6400800" cy="201168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4A438"/>
                </a:solidFill>
                <a:latin typeface="Calibri"/>
              </a:defRPr>
            </a:pPr>
            <a:r>
              <a:t>LORD LOMBO ACADEMIE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943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est une plateforme de formation en ligne dediee a la transformation spirituelle, au leadership et au developpement personnel. Elle accompagne des individus dans leur croissance interieure, renforce leur influence en tant que leaders et leur permet d'impacter positivement leur environnement.</a:t>
            </a:r>
          </a:p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L'academie offrira des formations certifiantes, des programmes de coaching, des sessions interactives en direct et un suivi personnalise de chaque apprenant.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4114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1071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290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E-Learning 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23774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Formations video HD, quiz, documents PDF, acces illimite 24h/24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3832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3383280"/>
            <a:ext cx="4114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341071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4290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Coaching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886200"/>
            <a:ext cx="23774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Sessions Zoom/Meet integrees, interaction temps reel, replays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3832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383280"/>
            <a:ext cx="4114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41071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4290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Communaute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886200"/>
            <a:ext cx="23774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Forum, defis spirituels, temoignages, espace de priere collectif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33832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0" y="3383280"/>
            <a:ext cx="4114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341071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34290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Certification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886200"/>
            <a:ext cx="23774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Certificats PDF automatiques avec QR code de verification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1097280"/>
            <a:ext cx="4754880" cy="3749039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1234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4A438"/>
                </a:solidFill>
                <a:latin typeface="Calibri"/>
              </a:defRPr>
            </a:pPr>
            <a:r>
              <a:t>PUBLIC CIBLE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16459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Leaders en quete de croissance interieure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201168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Chretiens desireux de se former en profondeur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23774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Jeunes leaders en developpement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27432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Communaute francophone mondiale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10896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Pasteurs et responsables d'eglise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34747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Professionnels en reconversion de carriere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384048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Diaspora africaine connectee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2062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Entrepreneurs chretiens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0880" y="5029200"/>
            <a:ext cx="4754880" cy="100584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507492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EXIGENCES CLES DU CLIENT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53492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2D50"/>
                </a:solidFill>
                <a:latin typeface="Calibri"/>
              </a:defRPr>
            </a:pPr>
            <a:r>
              <a:t>Design haut de gamme  |  Securite bancaire  |  Multi-paiement</a:t>
            </a:r>
          </a:p>
          <a:p>
            <a:pPr algn="l">
              <a:defRPr sz="1000" b="0">
                <a:solidFill>
                  <a:srgbClr val="1A2D50"/>
                </a:solidFill>
                <a:latin typeface="Calibri"/>
              </a:defRPr>
            </a:pPr>
            <a:r>
              <a:t>Mobile-first  |  Certificats auto  |  Coaching live &amp; enregistre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VISION &amp; OBJECTIFS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STRATEGIQUES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Former, Transformer, Impacter - La triple mission de Lord Lombo Academie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1148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VISION &amp; OBJECTIFS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0972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356616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24712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9164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Offrir des parcours de formation structurees et certifiantes en croissance spirituelle, leadership chretien et influence positive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0972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097280"/>
            <a:ext cx="356616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124712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TRANSFORMER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9164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Accompagner chaque apprenant dans une transformation profonde et durable a travers un suivi personnalise, du coaching et des defis pratiques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0972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1097280"/>
            <a:ext cx="356616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1124712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IMPACTER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169164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Creer une communaute de leaders influents qui impactent positivement leur environnement en Afrique et dans la diaspora francophone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1124712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D4A438"/>
                </a:solidFill>
                <a:latin typeface="Georgia"/>
              </a:defRPr>
            </a:pPr>
            <a:r>
              <a:t>"Devenir LA reference dans l'espace francophone pour la formation spirituelle,</a:t>
            </a:r>
          </a:p>
          <a:p>
            <a:pPr algn="ctr">
              <a:defRPr sz="1600" b="0">
                <a:solidFill>
                  <a:srgbClr val="D4A438"/>
                </a:solidFill>
                <a:latin typeface="Georgia"/>
              </a:defRPr>
            </a:pPr>
            <a:r>
              <a:t>le leadership et le developpement personnel, en combinant technologie de pointe</a:t>
            </a:r>
          </a:p>
          <a:p>
            <a:pPr algn="ctr">
              <a:defRPr sz="1600" b="0">
                <a:solidFill>
                  <a:srgbClr val="D4A438"/>
                </a:solidFill>
                <a:latin typeface="Georgia"/>
              </a:defRPr>
            </a:pPr>
            <a:r>
              <a:t>et accompagnement humain de qualite."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5074920"/>
            <a:ext cx="21031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516636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Lord Lombo Academie - Vision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VALEURS AJOUTEES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DE NOTRE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Ce que nous apportons en plus pour faire la difference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VALEUR AJOUTEE MESSIYA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0C75E"/>
                </a:solidFill>
                <a:latin typeface="Calibri"/>
              </a:defRPr>
            </a:pPr>
            <a:r>
              <a:t>Ce que nous apportons en plus pour faire la difference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630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4813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Experience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82880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Interface haut de gamme, animations fluides Framer Motion, micro-interactions. Chaque detail reflete l'excellence de la vision de Lord Lombo.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73152" cy="13716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4630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4813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Intelligence Artificielle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82880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Recommandations personnalisees de formations, sous-titres auto (Whisper AI), chatbot assistant 24/7 pour les apprenants.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2608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926080"/>
            <a:ext cx="73152" cy="13716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03580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Multi-langue &amp; Accessibilite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38328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Support Francais, Anglais, Lingala + accessibilite WCAG 2.1 AA pour toucher un maximum d'apprenants dans le monde.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92608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926080"/>
            <a:ext cx="73152" cy="13716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03580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Programme de Fidelite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38328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Points de fidelite, badges gamifies, recompenses pour les defis completes, parrainage avec avantages automatiques.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480560"/>
            <a:ext cx="73152" cy="13716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5720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59028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Tableau de Bord Admin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93776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Back-office complet : gestion apprenants, formations, paiements, analytics en temps reel, rapports de satisfaction.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48056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480560"/>
            <a:ext cx="73152" cy="13716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5720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59028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Maintenance &amp; Evolution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93776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Support technique continu, mises a jour securite, evolution des fonctionnalites, SLA 99.9% disponibilite garantie.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ARCHITECTURE TECHNIQUE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DE LA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Une infrastructure moderne, scalable et performante pour une académie de référence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ARCHITECTURE DE LA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7899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COUCHE PRÉSENTATION (FRONTEND)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Next.js 14+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SSR / SSG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Composants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Design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Framer 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Animations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PWA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Mode Offline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10312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43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24028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26771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COUCHE MÉTIER (API &amp; BACKEND)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NestJS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REST / GraphQL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6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Auth.js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JWT / 2FA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Prisma 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Accès données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Bull MQ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Jobs async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Temps réel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29184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43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42900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45643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DONNÉES &amp; STOCKAGE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88620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91363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16052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Base relationnelle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20240" y="388620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391363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Redis 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65960" y="416052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Cache &amp; sessions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83280" y="388620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29000" y="391363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Mux / CF Stream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416052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Vidéo CDN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709159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73659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0C0D0"/>
                </a:solidFill>
                <a:latin typeface="Calibri"/>
              </a:defRPr>
            </a:pPr>
            <a:r>
              <a:t>SERVICES EXTERNES : Stripe / PayPal / Mobile Money  |  Resend  |  Zoom SDK  |  OneSignal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20" y="1051560"/>
            <a:ext cx="3840480" cy="3108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0" y="11430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INFRASTRUCTURE &amp; DEVOPS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1554480"/>
            <a:ext cx="3474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AWS (EC2, RDS, S3, CloudFront)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1883664"/>
            <a:ext cx="3474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Docker + GitHub Actions CI/CD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2212848"/>
            <a:ext cx="3474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Cloudflare CDN &amp; WAF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2542032"/>
            <a:ext cx="3474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Terraform (IaC)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2871215"/>
            <a:ext cx="3474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Datadog monitoring 24/7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3200400"/>
            <a:ext cx="3474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Auto-scaling horizontal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46720" y="4297680"/>
            <a:ext cx="3840480" cy="164592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0" y="438912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VIDÉO &amp; STREAMING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4754880"/>
            <a:ext cx="3474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Mux / Cloudflare Stream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5029200"/>
            <a:ext cx="3474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HLS adaptive bitrate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5303520"/>
            <a:ext cx="3474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Protection DRM contenu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5577840"/>
            <a:ext cx="3474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Sous-titres auto (Whisper AI)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5669280"/>
            <a:ext cx="11247120" cy="45720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D2240"/>
                </a:solidFill>
                <a:latin typeface="Calibri"/>
              </a:defRPr>
            </a:pPr>
            <a:r>
              <a:t>Vercel (CDN Global)  |  Supabase (BaaS)  |  Cloudflare (DDoS)  |  SSL/TLS  |  CI/CD GitHub Actions  |  Analytics GA4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MODULES FONCTIONNELS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DE LA PLATEFORME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L'ensemble des pages et espaces qui composent l'académie en ligne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MODULES DE LA PLATEFORME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2471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1430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Accueil Inspirant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554480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Hero video Lord Lombo, vision, CTA transformation, temoignages, formations phares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09728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097280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12471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1430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A Propos &amp; 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554480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Presentation Lord Lombo, histoire academie, equipe pedagogique, fondements spirituels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09728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097280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12471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1430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Catalogue Formations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554480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Filtres par theme, fiches detaillees, formateur, duree, prix, avis, prerequis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606039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606039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633471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651759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Espace Membre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063239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Dashboard, progression %, certificats, historique, defis pratiques, parametres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2606039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2606039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2633471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651759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Paiement &amp; Facturation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063239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Stripe, PayPal, Mobile Money, abonnements, factures PDF auto, codes promo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2606039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2606039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2633471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651759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Sessions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3063239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Integration Zoom/Meet, notifications, replays, chat, interaction temps reel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11480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114800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14223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16052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Forum &amp; Communaute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572000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Echanges, temoignages, entraide, espace priere, defis collectifs, moderation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51960" y="411480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51960" y="4114800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414223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416052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Blog &amp; Contenu SEO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4572000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Articles inspires, guides spirituels, temoignages, newsletters, partage social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0" y="411480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46720" y="4114800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0" y="414223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416052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Administration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4572000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Gestion users, formations, paiements, stats temps reel, rapports, moderation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CRM INTÉGRÉ &amp; GESTION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RELATION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Un pipeline automatisé pour convertir les visiteurs en ambassadeurs de la vision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CRM &amp; GESTION RELATION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Visiteur   ▶   Inscrit   ▶   Apprenant   ▶   Certifié   ▶   Ambassadeur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5486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73152" cy="123444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7451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Acquisition &amp; Inscription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9456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Formulaire intelligent avec SSO (Google, Facebook), tracking source d'acquisition (UTM), segmentation automatique par intérêt (spirituel, leadership, développement).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5486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783080"/>
            <a:ext cx="73152" cy="123444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1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Engagement &amp; Suivi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9456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Emails de bienvenue automatisés, rappels d'inactivité, notifications de nouveaux cours, push personnalisés selon le profil et la progression.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00400"/>
            <a:ext cx="5486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73152" cy="123444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91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Conversion &amp; Paiement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61188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Relances panier abandonné, offres personnalisées, codes promo ciblés, upsell automatique vers formations premium ou coaching.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486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73152" cy="123444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291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Fidélisation &amp; Rétention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61188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Programme de fidélité (points, badges), anniversaires, offres de renouvellement d'abonnement, NPS automatique.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17720"/>
            <a:ext cx="5486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617720"/>
            <a:ext cx="73152" cy="123444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70915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Parrainage &amp; Ambassadeur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0292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Système d'affiliation intégré, lien de parrainage unique, récompenses automatiques, suivi des conversions par ambassadeur.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17720"/>
            <a:ext cx="5486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617720"/>
            <a:ext cx="73152" cy="123444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0915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Analytics &amp; Pilotage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292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Tableau de bord CRM : entonnoir de conversion, LTV, taux de rétention, cohortes, prévisions de revenus, alertes automatiques.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669280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1500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0C0D0"/>
                </a:solidFill>
                <a:latin typeface="Calibri"/>
              </a:defRPr>
            </a:pPr>
            <a:r>
              <a:t>Intégrations : Mailchimp  |  Resend  |  WhatsApp Business  |  Google Analytics 4  |  Facebook Pixel  |  OneSignal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MÉTHODES PÉDAGOGIQUES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&amp; ORGANISATION DES COURS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Un modèle hybride innovant combinant autonomie et accompagnement humain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4114800" cy="41148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ORGANISATION DES COURS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05156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51560"/>
            <a:ext cx="361188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78992"/>
            <a:ext cx="3611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COURS ENREGISTRES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Videos HD pre-enregistrees 24h/24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Documents PDF complementaires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231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Fichiers audio (podcasts spirituels)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346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Quiz interactifs par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Acces illimite a vie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Suivi automatique de progression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Sous-titres multilingues (AI)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05156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051560"/>
            <a:ext cx="361188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078992"/>
            <a:ext cx="3611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SESSIONS EN DIRECT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1600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Integration Zoom / Google Meet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0116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Lien dans l'espace membre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4231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Notifications &amp; rappels auto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8346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Interaction temps reel (Q&amp;A)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2461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Moments de priere collective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6576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Coaching en direct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0690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Replays disponibles pour absents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105156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051560"/>
            <a:ext cx="361188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1078992"/>
            <a:ext cx="3611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PARCOURS PERSONNALISE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Mix videos + sessions 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Coaching individuel premium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4231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Coaching de groupe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8346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Defis pratiques hebdomadaires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2461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Exercices d'application concrets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6576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Mentorat personnalise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0690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Suivi par formateur dedie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0749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1206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MODELE HYBRIDE INNOVANT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La combinaison de ces 3 approches garantit une experience complete, flexible et adaptee a chaque profil. L'apprenant choisit son rythme tout en beneficiant d'un accompagnement humain de qualite.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EVALUATION, SATISFACTION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&amp; SUIVI DE PROGRESSION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Mesurer l'impact des formations et accompagner chaque apprenant vers l'excellence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EVALUATION &amp; SATISFACTION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Inscription  &gt;  Formation  &gt;  Evaluation  &gt;  Certificat  &gt;  Temoignage  &gt;  Ambassadeur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73152" cy="17830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Questionnaires Auto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Apres chaque module et formation, questionnaire de satisfaction envoye automatiquement a l'apprenant.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78308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783080"/>
            <a:ext cx="73152" cy="17830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9202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Notation Etoiles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8600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Chaque formation, formateur et module peut etre note individuellement (1 a 5 etoiles) avec commentaires.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78308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783080"/>
            <a:ext cx="73152" cy="17830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9202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Rapports Satisfaction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28600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Dashboard admin dedie avec taux de satisfaction, NPS, tendances, alertes automatiques.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49039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749039"/>
            <a:ext cx="73152" cy="17830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86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Suivi Progression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51959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Barre de progression visuelle (%), badges gamifies, historique complet, rappels automatiques.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749039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749039"/>
            <a:ext cx="73152" cy="17830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3886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KPI Detailles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251959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Taux completion, score moyen, retention abonnes, inscriptions/mois, revenus par formation.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749039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749039"/>
            <a:ext cx="73152" cy="17830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3886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Export &amp; Partage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251959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Export resultats PDF/Excel, certificats partageables LinkedIn, temoignages indexes sur le site.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FONCTIONNALITES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AVANCEES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Les outils qui font la difference pour une academie complete et performante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FONCTIONNALITES AVANCEES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05156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8871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Responsive &amp; PWA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Mobile-first, installable, offline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05156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05156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18871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Certificats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55448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QR code, verification en ligne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05156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05156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18871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Notifications Smart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55448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Email, push, SMS, rappels auto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05156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05156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18871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Forum Communaute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55448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Echanges, entraide, temoignages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56032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56032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269747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Calendrier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306323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Sessions live, webinaires, conferences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256032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269747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Dashboard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306323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KPI, rapports, stats temps reel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256032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256032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269747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Evaluation &amp; Avis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06323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Etoiles, NPS, questionnaires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256032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52560" y="256032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269747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Multi-Paiement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06323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Carte, PayPal, Mobile Money, promo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069079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4069079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42062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Securite Renforcee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79" y="457199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SSL, 2FA, RGPD, WAF, DDoS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0" y="4069079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0" y="4069079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37560" y="42062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Defis Spirituels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37560" y="457199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Exercices pratiques quotidiens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0" y="4069079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4069079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42062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Streaming Video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57199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HLS adaptatif, DRM, multi-qualite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2560" y="4069079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52560" y="4069079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20" y="42062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Email Marketing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457199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Sequences auto, templates, relances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566928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0C75E"/>
                </a:solidFill>
                <a:latin typeface="Calibri"/>
              </a:defRPr>
            </a:pPr>
            <a:r>
              <a:t>+ Integration WhatsApp Business  |  Google Analytics 4  |  Zoom SDK  |  Stripe Webhooks  |  Mailchimp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SECURITE &amp;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Des standards de securite maximaux pour proteger les donnees et les transactions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SECURITE &amp; PAIEMENTS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2471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HTTPS / SSL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435607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Certificat SSL, chiffrement bout en bout sur tout le site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5156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12471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Authentification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435607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JWT + 2FA obligatoire pour admin, optionnel pour membres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01168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01168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0848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Protection DDoS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39572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Cloudflare WAF en frontal, rate limiting intelligent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01168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01168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0848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Anti-Injection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39572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Protection SQL injection, XSS, CSRF sur toutes les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97180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97180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04495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Sauvegardes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35584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Backups quotidiens automatiques, retention 30 jours, 3 sites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97180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97180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04495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RGPD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35584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Consentement cookies, politique confidentialite, droit a l'oubli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3192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0050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31596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Anti brute force, protection abus API, throttling intelligent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93192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393192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0050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Audit Securite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31596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Scan vulnerabilites trimestriel, tests penetration avant prod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983480"/>
            <a:ext cx="11247120" cy="5943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MOYENS DE PAIEMENT SECURISES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A2D50"/>
                </a:solidFill>
                <a:latin typeface="Calibri"/>
              </a:defRPr>
            </a:pPr>
            <a:r>
              <a:t>Stripe (3D Secure)  |  PayPal Business  |  Orange Money  |  MTN MoMo  |  Wave  |  Airtel Money  |  Flutterwave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IDENTITE VISUELLE &amp;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CHARTE GRAPHIQUE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Une charte graphique premium inspiree de la spiritualite et du leadership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2743200"/>
            <a:ext cx="4114800" cy="41148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PALETTE DE COULEURS &amp;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#0D2240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Bleu Nuit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Headers, navigation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#1B3A6B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Bleu Royal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Accents principaux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#D4A438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0D2240"/>
                </a:solidFill>
                <a:latin typeface="Calibri"/>
              </a:defRPr>
            </a:pPr>
            <a:r>
              <a:t>Or Royal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0D2240"/>
                </a:solidFill>
                <a:latin typeface="Calibri"/>
              </a:defRPr>
            </a:pPr>
            <a:r>
              <a:t>Elements premium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#F0C75E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0D2240"/>
                </a:solidFill>
                <a:latin typeface="Calibri"/>
              </a:defRPr>
            </a:pPr>
            <a:r>
              <a:t>Or Clair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0D2240"/>
                </a:solidFill>
                <a:latin typeface="Calibri"/>
              </a:defRPr>
            </a:pPr>
            <a:r>
              <a:t>CTA, boutons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#0A1628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Nuit Profonde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Fonds sombres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#142842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Marine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Cards sombres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#FEF9ED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0D2240"/>
                </a:solidFill>
                <a:latin typeface="Calibri"/>
              </a:defRPr>
            </a:pPr>
            <a:r>
              <a:t>Creme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0D2240"/>
                </a:solidFill>
                <a:latin typeface="Calibri"/>
              </a:defRPr>
            </a:pPr>
            <a:r>
              <a:t>Fonds clairs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7844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#1E293B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Ardoise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Textes, footer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7889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0C75E"/>
                </a:solidFill>
                <a:latin typeface="Calibri"/>
              </a:defRPr>
            </a:pPr>
            <a:r>
              <a:t>Typographies :  Georgia (Titres)  |  Inter / Calibri (Corps)  |  Georgia Italic (Citations &amp; accents)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29184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3291840"/>
            <a:ext cx="548640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319272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PRINCIPES DE DESIGN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79476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Design professionnel, sobre et inspirant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06908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Interface claire et intuitive (UX premium)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34340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Integration citations &amp; messages inspirants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61772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Responsive design mobile-first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9204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Accessibilite WCAG 2.1 AA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16636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Animations subtiles (Framer Motion)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44068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Hierarchie visuelle forte &amp; espacement genereux</a:t>
            </a:r>
          </a:p>
        </p:txBody>
      </p:sp>
      <p:pic>
        <p:nvPicPr>
          <p:cNvPr id="53" name="Picture 52" descr="logo-cli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91840"/>
            <a:ext cx="2743200" cy="2103120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9326880" y="329184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0" y="33832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4A438"/>
                </a:solidFill>
                <a:latin typeface="Calibri"/>
              </a:defRPr>
            </a:pPr>
            <a:r>
              <a:t>ENGAGEMENTS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37947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0C0D0"/>
                </a:solidFill>
                <a:latin typeface="Calibri"/>
              </a:defRPr>
            </a:pPr>
            <a:r>
              <a:t>Dark mode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4178808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0C0D0"/>
                </a:solidFill>
                <a:latin typeface="Calibri"/>
              </a:defRPr>
            </a:pPr>
            <a:r>
              <a:t>Micro-interactions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4562856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0C0D0"/>
                </a:solidFill>
                <a:latin typeface="Calibri"/>
              </a:defRPr>
            </a:pPr>
            <a:r>
              <a:t>Core Web Vitals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4946904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0C0D0"/>
                </a:solidFill>
                <a:latin typeface="Calibri"/>
              </a:defRPr>
            </a:pPr>
            <a:r>
              <a:t>Lighthouse &gt; 90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5330952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0C0D0"/>
                </a:solidFill>
                <a:latin typeface="Calibri"/>
              </a:defRPr>
            </a:pPr>
            <a:r>
              <a:t>100% responsive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STACK TECHNIQUE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&amp; 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Des technologies de pointe pour des performances exceptionnelles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ARCHITECTURE DE LA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7899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COUCHE PRESENTATION (FRONTEND)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Next.js 14+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SSR / SSG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Composants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Design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Framer 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Animations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PWA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Mode Offline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10312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438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24028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26771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COUCHE METIER (API &amp; BACKEND)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NestJS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REST / GraphQL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6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Auth.js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JWT / 2FA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Prisma 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Acces donnees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Bull MQ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Jobs async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Temps reel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29184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438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42900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45643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DONNEES &amp; STOCKAGE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88620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91363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16052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Base relationnelle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20240" y="388620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391363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Redis 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65960" y="416052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Cache &amp; sessions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83280" y="388620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29000" y="391363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Mux / Cloudflare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416052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Video CDN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75488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78231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0C0D0"/>
                </a:solidFill>
                <a:latin typeface="Calibri"/>
              </a:defRPr>
            </a:pPr>
            <a:r>
              <a:t>SERVICES : Stripe / PayPal / MoMo  |  Resend (emails)  |  Zoom SDK  |  OneSignal (push)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20" y="1051560"/>
            <a:ext cx="3840480" cy="475488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0" y="11430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INFRASTRUCTURE &amp; DEVOPS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155448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AWS (EC2, RDS, S3, CloudFront)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1901952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Docker + GitHub Actions CI/CD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2249424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Cloudflare CDN &amp; WAF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2596896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Terraform (Infrastructure as Code)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294436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Datadog monitoring 24/7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3291839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Auto-scaling horizontal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3639312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Sentry (error tracking)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3986784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Vercel (frontend hosting)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3657600"/>
            <a:ext cx="3840480" cy="45720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0" y="3685032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D2240"/>
                </a:solidFill>
                <a:latin typeface="Calibri"/>
              </a:defRPr>
            </a:pPr>
            <a:r>
              <a:t>VIDEO &amp; STREAMING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420624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Mux / Cloudflare Stream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450799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HLS adaptive bitrate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4809744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Protection DRM contenu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5111496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Sous-titres auto (Whisper AI)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0" y="54132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Transcodage multi-qualite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5669280"/>
            <a:ext cx="11247120" cy="45720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D2240"/>
                </a:solidFill>
                <a:latin typeface="Calibri"/>
              </a:defRPr>
            </a:pPr>
            <a:r>
              <a:t>Lighthouse &gt; 90   |   &lt; 2s chargement   |   99.9% uptime   |   100% responsive   |   Chrome / Safari / Firefox / Edge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STRATEGIE SEO &amp;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REFERENCEMENT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Referencement naturel et technique pour une visibilite maximale sur Google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STRATEGIE SEO &amp; REFERENCEMENT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361188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36118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78992"/>
            <a:ext cx="3611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SEO TECHNIQUE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URLs semantiques propres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Lighthouse &gt; 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Schema.org (Course, Org)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Sitemap XML auto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SSR (Next.js)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Core Web Vitals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051560"/>
            <a:ext cx="361188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051560"/>
            <a:ext cx="36118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078992"/>
            <a:ext cx="3611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SEO CONTENU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Blog optimise (articles longs)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9659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Pages 2000+ mots par 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3774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Multi-langue FR/EN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788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Rich snippets (FAQ, reviews)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2004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Internal linking strategique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6118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Contenu evergreen spirituel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051560"/>
            <a:ext cx="361188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051560"/>
            <a:ext cx="36118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1078992"/>
            <a:ext cx="3611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MARKETING DIGITAL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Google Analytics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19659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Google Search Console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3774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Facebook Pixel + TikTok Pixel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788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Open Graph / Twitter Cards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2004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Google Tag Manager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6118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A/B testing &amp; retargeting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75488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800600"/>
            <a:ext cx="10881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4A438"/>
                </a:solidFill>
                <a:latin typeface="Calibri"/>
              </a:defRPr>
            </a:pPr>
            <a:r>
              <a:t>MOTS-CLES CIBLES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formation spirituelle en ligne | leadership chretien | academie lord lombo | developpement personnel chretien | coaching spirituel | formation leadership afrique | e-learning chretien francophone | transformation spirituelle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RESEAUX SOCIAUX &amp;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MARKETING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Strategie multi-plateforme pour maximiser la visibilite et l'engagement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STRATEGIE RESEAUX SOCIAUX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21031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Facebook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4A438"/>
                </a:solidFill>
                <a:latin typeface="Calibri"/>
              </a:defRPr>
            </a:pPr>
            <a:r>
              <a:t>Communaute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19202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Temoignages, lives, promos,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05156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051560"/>
            <a:ext cx="21031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Instagram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4A438"/>
                </a:solidFill>
                <a:latin typeface="Calibri"/>
              </a:defRPr>
            </a:pPr>
            <a:r>
              <a:t>Inspiration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1828800"/>
            <a:ext cx="19202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Photos, Reels, Stories behind-the-scenes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05156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1051560"/>
            <a:ext cx="21031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188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TikTok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4A438"/>
                </a:solidFill>
                <a:latin typeface="Calibri"/>
              </a:defRPr>
            </a:pPr>
            <a:r>
              <a:t>Viralite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828800"/>
            <a:ext cx="19202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Videos courtes, challenges spirituels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05156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1051560"/>
            <a:ext cx="21031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1188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YouTube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4A438"/>
                </a:solidFill>
                <a:latin typeface="Calibri"/>
              </a:defRPr>
            </a:pPr>
            <a:r>
              <a:t>Long format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828800"/>
            <a:ext cx="19202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Vlogs, sermons, masterclass gratuites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105156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1051560"/>
            <a:ext cx="21031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1188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Twitter/X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4A438"/>
                </a:solidFill>
                <a:latin typeface="Calibri"/>
              </a:defRPr>
            </a:pPr>
            <a:r>
              <a:t>Actualites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28800"/>
            <a:ext cx="19202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News, offres flash, threads inspirants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291840"/>
            <a:ext cx="11247120" cy="22860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4A438"/>
                </a:solidFill>
                <a:latin typeface="Calibri"/>
              </a:defRPr>
            </a:pPr>
            <a:r>
              <a:t>INTEGRATIONS SITE / RESEAUX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79476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Feed Instagram en direct sur la page d'accueil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79476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Boutons de partage sur chaque formation et article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2062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Pixel Facebook + TikTok Pixel + GA4 pour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2062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Widget WhatsApp Business pour contact direct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6177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Retargeting publicitaire multi-plateforme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6177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UTM tracking et attribution des conversions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02920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Partage certificats sur LinkedIn automatique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02920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Newsletter integration (Mailchimp / Resend)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PARCOURS UTILISATEUR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&amp; EXPERIENCE (UX)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Le chemin complet de l'apprenant, de la decouverte a l'impact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PARCOURS UTILISATEUR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17320" y="1188719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34439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Decouverte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Page d'accueil, video inspirante, apercu formations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05156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97680" y="1188719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234439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874519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Inscription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24028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Formulaire simple, SSO Google/Facebook,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05156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78040" y="1188719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234439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874519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Exploration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24028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Catalogue, filtres, fiches, avis apprenants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05156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0" y="1188719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234439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874519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Paiement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224028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Checkout securise, multi-options, confirmation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52044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36576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37033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434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Apprentissage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0916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Videos, quiz, coaching live, defis pratiques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352044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297680" y="36576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37033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43434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Progression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470916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Dashboard, barre %, badges, rappels auto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52044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78040" y="36576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37033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3434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Certification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59" y="470916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PDF auto + QR code, partage LinkedIn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8280" y="352044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58400" y="36576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0" y="37033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43434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Communaute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19" y="470916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Forum, temoignages, ambassadeur de la vision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CONTACT &amp;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DEVIS PERSONNALISÉ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Nous sommes à votre écoute pour concrétiser cette vision ensemble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CONTACT &amp; DEVIS PERSONNALISÉ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0972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24712"/>
            <a:ext cx="5486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INFORMATIONS DE CONTACT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✉ 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11679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0C0D0"/>
                </a:solidFill>
                <a:latin typeface="Calibri"/>
              </a:defRPr>
            </a:pPr>
            <a:r>
              <a:t>contact@messiyagroup.com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31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☎  Téléphone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06039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0C0D0"/>
                </a:solidFill>
                <a:latin typeface="Calibri"/>
              </a:defRPr>
            </a:pPr>
            <a:r>
              <a:t>+33 XX XX XX XX 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⌂  Siège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0C0D0"/>
                </a:solidFill>
                <a:latin typeface="Calibri"/>
              </a:defRPr>
            </a:pPr>
            <a:r>
              <a:t>Messiya Group - Division Digitale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⌖  Site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947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0C0D0"/>
                </a:solidFill>
                <a:latin typeface="Calibri"/>
              </a:defRPr>
            </a:pPr>
            <a:r>
              <a:t>www.messiyagroup.com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✉  WhatsApp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0C0D0"/>
                </a:solidFill>
                <a:latin typeface="Calibri"/>
              </a:defRPr>
            </a:pPr>
            <a:r>
              <a:t>+33 XX XX XX XX XX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54880"/>
            <a:ext cx="5120640" cy="8229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0060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PROCHAINE ÉTAPE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064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A2D50"/>
                </a:solidFill>
                <a:latin typeface="Calibri"/>
              </a:defRPr>
            </a:pPr>
            <a:r>
              <a:t>Planifier un appel de cadrage pour affiner le devis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0972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124712"/>
            <a:ext cx="5486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CE QUI EST INCLUS DANS LE DEVIS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691640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Maquettes UI/UX complètes (Figma)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29968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Développement frontend &amp; 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68296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Intégration CRM &amp; paiements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06624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Système de gestion des formations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044952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Espace membre &amp; dashboard 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383280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Sécurité renforcée (SSL, 2FA, RGPD)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721608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SEO technique &amp; référencement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059935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Déploiement &amp; mise en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398264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Formation de l'équipe 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736592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3 mois de maintenance inclus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74920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Documentation technique complète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440680"/>
            <a:ext cx="512064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48640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D2240"/>
                </a:solidFill>
                <a:latin typeface="Calibri"/>
              </a:defRPr>
            </a:pPr>
            <a:r>
              <a:t>Devis détaillé sur demande après appel de cadrage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ÉVOLUTIONS FUTURES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&amp;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Un plan de livraison structuré et des engagements qualité mesurables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PLAN DE LIVRAISON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26974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3040" y="11430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1887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4A438"/>
                </a:solidFill>
                <a:latin typeface="Calibri"/>
              </a:defRPr>
            </a:pPr>
            <a:r>
              <a:t>Fondation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468880"/>
            <a:ext cx="1371600" cy="2743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Maquettes UI/UX Figma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Charte graphique validee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Setup technique CI/CD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77639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Design system complet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1051560"/>
            <a:ext cx="26974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1430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1887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18288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14884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4A438"/>
                </a:solidFill>
                <a:latin typeface="Calibri"/>
              </a:defRPr>
            </a:pPr>
            <a:r>
              <a:t>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2468880"/>
            <a:ext cx="1371600" cy="2743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26060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Site vitrine complet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Espace membre &amp;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5204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Cours enregistres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977639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Paiement en ligne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051560"/>
            <a:ext cx="26974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0" y="11430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11887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8288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14884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4A438"/>
                </a:solidFill>
                <a:latin typeface="Calibri"/>
              </a:defRPr>
            </a:pPr>
            <a:r>
              <a:t>Avancee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468880"/>
            <a:ext cx="1371600" cy="2743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6060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Sessions live Zoom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Forum communautaire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5204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CRM &amp; analytics 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77639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Certificats auto PDF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1051560"/>
            <a:ext cx="26974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4119" y="11430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19" y="11887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18288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214884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4A438"/>
                </a:solidFill>
                <a:latin typeface="Calibri"/>
              </a:defRPr>
            </a:pPr>
            <a:r>
              <a:t>Lancement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38359" y="2468880"/>
            <a:ext cx="1371600" cy="2743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59" y="26060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Tests &amp; audit securite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9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Deploiement production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59" y="35204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Formation equipe admin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9" y="3977639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SEO &amp; marketing launch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120640"/>
            <a:ext cx="11247120" cy="45720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D2240"/>
                </a:solidFill>
                <a:latin typeface="Calibri"/>
              </a:defRPr>
            </a:pPr>
            <a:r>
              <a:t>ENGAGEMENTS :   Lighthouse &gt; 90   |   &lt; 2s chargement   |   99.9% uptime   |   100% responsive   |   Tous navigateurs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VALEUR AJOUTEE MESSIYA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0C75E"/>
                </a:solidFill>
                <a:latin typeface="Calibri"/>
              </a:defRPr>
            </a:pPr>
            <a:r>
              <a:t>Ce que nous apportons en plus pour faire la difference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73152" cy="12801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39903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41732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PWA (Progressive Web App)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78308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Application mobile sans telechargement, mode hors-ligne, notifications push pour une experience native sur mobile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2588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73152" cy="12801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39903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41732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Intelligence Artificielle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78308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Recommandations personnalisees de formations, sous-titres auto (Whisper AI), chatbot assistant spirituel 24/7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78892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788920"/>
            <a:ext cx="73152" cy="12801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86207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88036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Multi-langue &amp; Accessibilite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24612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Support Francais, Anglais, Lingala + accessibilite WCAG 2.1 AA pour une portee mondiale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78892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788920"/>
            <a:ext cx="73152" cy="12801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86207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88036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Programme de Fidelite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24612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Points de fidelite, badges gamifies, parrainage avec recompenses automatiques pour les ambassadeurs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5196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251960"/>
            <a:ext cx="73152" cy="12801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32511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34340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Tableau de Bord Premium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70916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Back-office complet : apprenants, formations, paiements, analytics temps reel, rapports de satisfaction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25196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251960"/>
            <a:ext cx="73152" cy="12801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32511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34340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Maintenance &amp; Evolution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70916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Support technique continu, mises a jour securite, evolution fonctionnalites, SLA 99.9% garanti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cli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74320"/>
            <a:ext cx="3931920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MERCI POUR</a:t>
            </a:r>
          </a:p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VOTRE CONFIANCE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297680"/>
            <a:ext cx="30175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D4A438"/>
                </a:solidFill>
                <a:latin typeface="Georgia"/>
              </a:defRPr>
            </a:pPr>
            <a:r>
              <a:t>Lord Lombo Academie x Messiya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292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0C0D0"/>
                </a:solidFill>
                <a:latin typeface="Calibri"/>
              </a:defRPr>
            </a:pPr>
            <a:r>
              <a:t>Ensemble, faisons de Lord Lombo Academie la reference</a:t>
            </a:r>
          </a:p>
          <a:p>
            <a:pPr algn="ctr">
              <a:defRPr sz="1400" b="0">
                <a:solidFill>
                  <a:srgbClr val="B0C0D0"/>
                </a:solidFill>
                <a:latin typeface="Calibri"/>
              </a:defRPr>
            </a:pPr>
            <a:r>
              <a:t>de la formation spirituelle et du leadership dans l'espace francophone.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576072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58064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899AA"/>
                </a:solidFill>
                <a:latin typeface="Calibri"/>
              </a:defRPr>
            </a:pPr>
            <a:r>
              <a:t>Contact : Messiya Group</a:t>
            </a:r>
          </a:p>
          <a:p>
            <a:pPr algn="ctr">
              <a:defRPr sz="900" b="0">
                <a:solidFill>
                  <a:srgbClr val="8899AA"/>
                </a:solidFill>
                <a:latin typeface="Calibri"/>
              </a:defRPr>
            </a:pPr>
            <a:r>
              <a:t>Division Digitale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651052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CONFIDENTIEL  |  Fevrier 2026  |  Version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