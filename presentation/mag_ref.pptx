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1B9CB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B9CB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00400"/>
            <a:ext cx="6400800" cy="6400800"/>
          </a:xfrm>
          <a:prstGeom prst="ellipse">
            <a:avLst/>
          </a:prstGeom>
          <a:solidFill>
            <a:srgbClr val="1B9CBA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1B9CBA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-914400"/>
            <a:ext cx="3200400" cy="3200400"/>
          </a:xfrm>
          <a:prstGeom prst="ellipse">
            <a:avLst/>
          </a:prstGeom>
          <a:solidFill>
            <a:srgbClr val="B2E4F5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371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9C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291840" y="1371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VOYAGE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AGENCE DE VOYAGE ET DE TOURISME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3017520"/>
            <a:ext cx="1828800" cy="36576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38328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DE COMPREHENSION DES BESOINS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PROPOSITION DE SOLUTION DIGITALE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371600" y="512064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5212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par : </a:t>
            </a: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Messiya Group - Division Digitale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Fevrier 2026 - Version 1.0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6510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1B9CB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1B9CBA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B2E4F5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57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14400" y="1097280"/>
            <a:ext cx="1371600" cy="4572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463040"/>
            <a:ext cx="10058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463040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1B9CB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463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Objectifs du Projet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1938528"/>
            <a:ext cx="10058400" cy="411480"/>
          </a:xfrm>
          <a:prstGeom prst="roundRect">
            <a:avLst>
              <a:gd name="adj" fmla="val 13333"/>
            </a:avLst>
          </a:prstGeom>
          <a:solidFill>
            <a:srgbClr val="F0F9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1938528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1B9CB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9385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19385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des Besoins Fonctionnels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2414016"/>
            <a:ext cx="10058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2414016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1B9CB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4140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37360" y="24140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 &amp; Modules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2889504"/>
            <a:ext cx="10058400" cy="411480"/>
          </a:xfrm>
          <a:prstGeom prst="roundRect">
            <a:avLst>
              <a:gd name="adj" fmla="val 13333"/>
            </a:avLst>
          </a:prstGeom>
          <a:solidFill>
            <a:srgbClr val="F0F9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2889504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1B9CB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88950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28895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Integre &amp; Gestion Client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3364992"/>
            <a:ext cx="10058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3364992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1B9CB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3649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37360" y="33649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 Graphique &amp; Identite Visuelle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4400" y="3840480"/>
            <a:ext cx="10058400" cy="411480"/>
          </a:xfrm>
          <a:prstGeom prst="roundRect">
            <a:avLst>
              <a:gd name="adj" fmla="val 13333"/>
            </a:avLst>
          </a:prstGeom>
          <a:solidFill>
            <a:srgbClr val="F0F9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" y="3840480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1B9CB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840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3736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 SEO &amp; Referencement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14400" y="4315968"/>
            <a:ext cx="10058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14400" y="4315968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1B9CBA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3159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73736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Reseaux Sociaux &amp; Marketing Digital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4400" y="4791456"/>
            <a:ext cx="10058400" cy="411480"/>
          </a:xfrm>
          <a:prstGeom prst="roundRect">
            <a:avLst>
              <a:gd name="adj" fmla="val 13333"/>
            </a:avLst>
          </a:prstGeom>
          <a:solidFill>
            <a:srgbClr val="F0F9FF"/>
          </a:solidFill>
          <a:ln/>
        </p:spPr>
      </p:sp>
      <p:sp>
        <p:nvSpPr>
          <p:cNvPr id="37" name="Shape 35"/>
          <p:cNvSpPr/>
          <p:nvPr/>
        </p:nvSpPr>
        <p:spPr>
          <a:xfrm>
            <a:off x="914400" y="4791456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1B9CBA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7914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737360" y="479145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Securite &amp; Conformite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14400" y="5266944"/>
            <a:ext cx="10058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914400" y="5266944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1B9CBA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526694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737360" y="526694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Technique &amp; Technologies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14400" y="5742432"/>
            <a:ext cx="10058400" cy="411480"/>
          </a:xfrm>
          <a:prstGeom prst="roundRect">
            <a:avLst>
              <a:gd name="adj" fmla="val 13333"/>
            </a:avLst>
          </a:prstGeom>
          <a:solidFill>
            <a:srgbClr val="F0F9FF"/>
          </a:solidFill>
          <a:ln/>
        </p:spPr>
      </p:sp>
      <p:sp>
        <p:nvSpPr>
          <p:cNvPr id="45" name="Shape 43"/>
          <p:cNvSpPr/>
          <p:nvPr/>
        </p:nvSpPr>
        <p:spPr>
          <a:xfrm>
            <a:off x="914400" y="5742432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1B9CBA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" y="57424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737360" y="5742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 &amp; Engagements Qualite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B9CB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B9CB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914400"/>
            <a:ext cx="2743200" cy="2743200"/>
          </a:xfrm>
          <a:prstGeom prst="ellipse">
            <a:avLst/>
          </a:prstGeom>
          <a:solidFill>
            <a:srgbClr val="B2E4F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926080"/>
            <a:ext cx="91440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01 - CONTEXTE &amp; OBJECTIFS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la vision de MAG VOYAGE pour une transformation digitale reussie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6858000" cy="2011680"/>
          </a:xfrm>
          <a:prstGeom prst="roundRect">
            <a:avLst>
              <a:gd name="adj" fmla="val 4545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4630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 une agence de voyage et de tourisme basee a Dakar, Senegal, specialisee dans la promotion du tourisme senegalais et ouest-africain.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un contexte de forte croissance du secteur touristique en Afrique de l'Ouest, et a l'approche des Jeux Olympiques et de la saison estivale 2026, MAG VOYAGE souhaite se doter d'une plateforme digitale de reference.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3657600"/>
            <a:ext cx="73152" cy="1234440"/>
          </a:xfrm>
          <a:prstGeom prst="roundRect">
            <a:avLst>
              <a:gd name="adj" fmla="val 50000"/>
            </a:avLst>
          </a:prstGeom>
          <a:solidFill>
            <a:srgbClr val="1B9CBA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3886200"/>
            <a:ext cx="640080" cy="640080"/>
          </a:xfrm>
          <a:prstGeom prst="ellipse">
            <a:avLst/>
          </a:prstGeom>
          <a:solidFill>
            <a:srgbClr val="F0F9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3794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Vitrine Premium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4206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web immersif pour attirer les touristes internationaux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365760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3657600"/>
            <a:ext cx="73152" cy="1234440"/>
          </a:xfrm>
          <a:prstGeom prst="roundRect">
            <a:avLst>
              <a:gd name="adj" fmla="val 50000"/>
            </a:avLst>
          </a:prstGeom>
          <a:solidFill>
            <a:srgbClr val="1B9CB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3886200"/>
            <a:ext cx="640080" cy="640080"/>
          </a:xfrm>
          <a:prstGeom prst="ellipse">
            <a:avLst/>
          </a:prstGeom>
          <a:solidFill>
            <a:srgbClr val="F0F9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06640" y="3794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Integre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0" y="4206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 via Expedia, Wonderbox et Cabo Verde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5120640"/>
            <a:ext cx="73152" cy="1234440"/>
          </a:xfrm>
          <a:prstGeom prst="roundRect">
            <a:avLst>
              <a:gd name="adj" fmla="val 50000"/>
            </a:avLst>
          </a:prstGeom>
          <a:solidFill>
            <a:srgbClr val="1B9CB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5349240"/>
            <a:ext cx="640080" cy="640080"/>
          </a:xfrm>
          <a:prstGeom prst="ellipse">
            <a:avLst/>
          </a:prstGeom>
          <a:solidFill>
            <a:srgbClr val="F0F9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349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5257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Pelerinage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28800" y="5669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Oumra, Hajj, Ziar Fez avec cotisations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512064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5120640"/>
            <a:ext cx="73152" cy="1234440"/>
          </a:xfrm>
          <a:prstGeom prst="roundRect">
            <a:avLst>
              <a:gd name="adj" fmla="val 50000"/>
            </a:avLst>
          </a:prstGeom>
          <a:solidFill>
            <a:srgbClr val="1B9CBA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0" y="5349240"/>
            <a:ext cx="640080" cy="640080"/>
          </a:xfrm>
          <a:prstGeom prst="ellipse">
            <a:avLst/>
          </a:prstGeom>
          <a:solidFill>
            <a:srgbClr val="F0F9FF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5349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06640" y="5257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Complet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06640" y="5669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relation client et suivi automatise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B9CB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B9CB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914400"/>
            <a:ext cx="2743200" cy="2743200"/>
          </a:xfrm>
          <a:prstGeom prst="ellipse">
            <a:avLst/>
          </a:prstGeom>
          <a:solidFill>
            <a:srgbClr val="B2E4F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926080"/>
            <a:ext cx="91440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02 - BESOINS FONCTIONNELS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detaillee des fonctionnalites attendues et des services a integrer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CIRCUITS TOURISTIQUES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 complete du Senegal et de la sous-region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4592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1B9CB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20240"/>
            <a:ext cx="2606040" cy="27432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 Saloum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Mangroves, bolongs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B2E4F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16459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0440" y="164592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1B9CBA"/>
          </a:solidFill>
          <a:ln/>
        </p:spPr>
      </p:sp>
      <p:sp>
        <p:nvSpPr>
          <p:cNvPr id="15" name="Shape 13"/>
          <p:cNvSpPr/>
          <p:nvPr/>
        </p:nvSpPr>
        <p:spPr>
          <a:xfrm>
            <a:off x="3520440" y="1920240"/>
            <a:ext cx="2606040" cy="27432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 Rose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0332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Eaux roses, sel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03320" y="301752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B2E4F5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Excursion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0" y="16459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64592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1B9CBA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1920240"/>
            <a:ext cx="2606040" cy="27432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Lompoul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Dunes, bivouac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301752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B2E4F5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098280" y="16459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098280" y="164592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1B9CBA"/>
          </a:solidFill>
          <a:ln/>
        </p:spPr>
      </p:sp>
      <p:sp>
        <p:nvSpPr>
          <p:cNvPr id="29" name="Shape 27"/>
          <p:cNvSpPr/>
          <p:nvPr/>
        </p:nvSpPr>
        <p:spPr>
          <a:xfrm>
            <a:off x="9098280" y="1920240"/>
            <a:ext cx="2606040" cy="27432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0" name="Text 28"/>
          <p:cNvSpPr/>
          <p:nvPr/>
        </p:nvSpPr>
        <p:spPr>
          <a:xfrm>
            <a:off x="909828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Kedougou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8116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Cascades, Bassari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281160" y="301752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B2E4F5"/>
          </a:solidFill>
          <a:ln/>
        </p:spPr>
      </p:sp>
      <p:sp>
        <p:nvSpPr>
          <p:cNvPr id="33" name="Text 31"/>
          <p:cNvSpPr/>
          <p:nvPr/>
        </p:nvSpPr>
        <p:spPr>
          <a:xfrm>
            <a:off x="928116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Aventure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1520" y="4023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1B9CBA"/>
          </a:solidFill>
          <a:ln/>
        </p:spPr>
      </p:sp>
      <p:sp>
        <p:nvSpPr>
          <p:cNvPr id="36" name="Shape 34"/>
          <p:cNvSpPr/>
          <p:nvPr/>
        </p:nvSpPr>
        <p:spPr>
          <a:xfrm>
            <a:off x="731520" y="4297680"/>
            <a:ext cx="2606040" cy="27432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Basse Casamance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4754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Forets, riziculture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14400" y="539496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B2E4F5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5394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20440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520440" y="4023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1B9CBA"/>
          </a:solidFill>
          <a:ln/>
        </p:spPr>
      </p:sp>
      <p:sp>
        <p:nvSpPr>
          <p:cNvPr id="43" name="Shape 41"/>
          <p:cNvSpPr/>
          <p:nvPr/>
        </p:nvSpPr>
        <p:spPr>
          <a:xfrm>
            <a:off x="3520440" y="4297680"/>
            <a:ext cx="2606040" cy="27432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44" name="Text 42"/>
          <p:cNvSpPr/>
          <p:nvPr/>
        </p:nvSpPr>
        <p:spPr>
          <a:xfrm>
            <a:off x="352044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 de Goree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703320" y="4754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Patrimoine UNESCO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703320" y="539496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B2E4F5"/>
          </a:solidFill>
          <a:ln/>
        </p:spPr>
      </p:sp>
      <p:sp>
        <p:nvSpPr>
          <p:cNvPr id="47" name="Text 45"/>
          <p:cNvSpPr/>
          <p:nvPr/>
        </p:nvSpPr>
        <p:spPr>
          <a:xfrm>
            <a:off x="3703320" y="5394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Histoire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9360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309360" y="4023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1B9CBA"/>
          </a:solidFill>
          <a:ln/>
        </p:spPr>
      </p:sp>
      <p:sp>
        <p:nvSpPr>
          <p:cNvPr id="50" name="Shape 48"/>
          <p:cNvSpPr/>
          <p:nvPr/>
        </p:nvSpPr>
        <p:spPr>
          <a:xfrm>
            <a:off x="6309360" y="4297680"/>
            <a:ext cx="2606040" cy="27432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51" name="Text 49"/>
          <p:cNvSpPr/>
          <p:nvPr/>
        </p:nvSpPr>
        <p:spPr>
          <a:xfrm>
            <a:off x="630936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Saint-Louis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492240" y="4754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jazz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92240" y="539496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B2E4F5"/>
          </a:solidFill>
          <a:ln/>
        </p:spPr>
      </p:sp>
      <p:sp>
        <p:nvSpPr>
          <p:cNvPr id="54" name="Text 52"/>
          <p:cNvSpPr/>
          <p:nvPr/>
        </p:nvSpPr>
        <p:spPr>
          <a:xfrm>
            <a:off x="6492240" y="5394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098280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098280" y="402336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1B9CBA"/>
          </a:solidFill>
          <a:ln/>
        </p:spPr>
      </p:sp>
      <p:sp>
        <p:nvSpPr>
          <p:cNvPr id="57" name="Shape 55"/>
          <p:cNvSpPr/>
          <p:nvPr/>
        </p:nvSpPr>
        <p:spPr>
          <a:xfrm>
            <a:off x="9098280" y="4297680"/>
            <a:ext cx="2606040" cy="27432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58" name="Text 56"/>
          <p:cNvSpPr/>
          <p:nvPr/>
        </p:nvSpPr>
        <p:spPr>
          <a:xfrm>
            <a:off x="909828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 Djoudj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9281160" y="4754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Ornithologie UNESCO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281160" y="539496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B2E4F5"/>
          </a:solidFill>
          <a:ln/>
        </p:spPr>
      </p:sp>
      <p:sp>
        <p:nvSpPr>
          <p:cNvPr id="61" name="Text 59"/>
          <p:cNvSpPr/>
          <p:nvPr/>
        </p:nvSpPr>
        <p:spPr>
          <a:xfrm>
            <a:off x="9281160" y="5394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1520" y="6035040"/>
            <a:ext cx="1069848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</p:sp>
      <p:sp>
        <p:nvSpPr>
          <p:cNvPr id="63" name="Text 61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: Gambie  |  Zanzibar  |  Kenya  |  Cote d'Ivoire  |  Cabo Verde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INTEGRATIONS &amp; SERVICES PARTENAIRES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1B9CBA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77440"/>
            <a:ext cx="3474720" cy="27432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EXPEDIA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 &amp; Booking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2926080"/>
            <a:ext cx="201168" cy="201168"/>
          </a:xfrm>
          <a:prstGeom prst="ellipse">
            <a:avLst/>
          </a:prstGeom>
          <a:solidFill>
            <a:srgbClr val="1B9CBA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852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Hotels, vols, packages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97280" y="3520440"/>
            <a:ext cx="201168" cy="201168"/>
          </a:xfrm>
          <a:prstGeom prst="ellipse">
            <a:avLst/>
          </a:prstGeom>
          <a:solidFill>
            <a:srgbClr val="1B9CBA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447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Affiliate integree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97280" y="4114800"/>
            <a:ext cx="201168" cy="201168"/>
          </a:xfrm>
          <a:prstGeom prst="ellipse">
            <a:avLst/>
          </a:prstGeom>
          <a:solidFill>
            <a:srgbClr val="1B9CBA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et comparaison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97280" y="4709160"/>
            <a:ext cx="201168" cy="201168"/>
          </a:xfrm>
          <a:prstGeom prst="ellipse">
            <a:avLst/>
          </a:prstGeom>
          <a:solidFill>
            <a:srgbClr val="1B9CBA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4636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securise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137160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37160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D4A853"/>
          </a:solidFill>
          <a:ln/>
        </p:spPr>
      </p:sp>
      <p:sp>
        <p:nvSpPr>
          <p:cNvPr id="20" name="Shape 18"/>
          <p:cNvSpPr/>
          <p:nvPr/>
        </p:nvSpPr>
        <p:spPr>
          <a:xfrm>
            <a:off x="4480560" y="2377440"/>
            <a:ext cx="3474720" cy="2743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1463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WONDERBOX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48056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Coffrets Experiences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926080"/>
            <a:ext cx="201168" cy="201168"/>
          </a:xfrm>
          <a:prstGeom prst="ellipse">
            <a:avLst/>
          </a:prstGeom>
          <a:solidFill>
            <a:srgbClr val="D4A853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2852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Sejours &amp; aventures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520440"/>
            <a:ext cx="201168" cy="201168"/>
          </a:xfrm>
          <a:prstGeom prst="ellipse">
            <a:avLst/>
          </a:prstGeom>
          <a:solidFill>
            <a:srgbClr val="D4A853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3447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partenaire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4114800"/>
            <a:ext cx="201168" cy="201168"/>
          </a:xfrm>
          <a:prstGeom prst="ellipse">
            <a:avLst/>
          </a:prstGeom>
          <a:solidFill>
            <a:srgbClr val="D4A853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Coffrets cadeaux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4709160"/>
            <a:ext cx="201168" cy="201168"/>
          </a:xfrm>
          <a:prstGeom prst="ellipse">
            <a:avLst/>
          </a:prstGeom>
          <a:solidFill>
            <a:srgbClr val="D4A853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4636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Experiences premium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0" y="137160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29600" y="137160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0" y="2377440"/>
            <a:ext cx="34747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1463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CABO VERDE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22960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Circuits Cap-Vert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95360" y="2926080"/>
            <a:ext cx="201168" cy="201168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961120" y="2852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Vols &amp; circuits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595360" y="3520440"/>
            <a:ext cx="201168" cy="201168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961120" y="3447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Partenariat direct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595360" y="4114800"/>
            <a:ext cx="201168" cy="201168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96112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decouverte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595360" y="4709160"/>
            <a:ext cx="201168" cy="201168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961120" y="4636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Iles paradisiaques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1520" y="5943600"/>
            <a:ext cx="10698480" cy="457200"/>
          </a:xfrm>
          <a:prstGeom prst="roundRect">
            <a:avLst>
              <a:gd name="adj" fmla="val 12000"/>
            </a:avLst>
          </a:prstGeom>
          <a:solidFill>
            <a:srgbClr val="F0F9FF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Integration WhatsApp Business  |  Google Maps API  |  Calendrier disponibilites  |  Avis clients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PELERINAGE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Oumra  |  Hajj  |  Ziar Fez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544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" cy="1188720"/>
          </a:xfrm>
          <a:prstGeom prst="roundRect">
            <a:avLst>
              <a:gd name="adj" fmla="val 42857"/>
            </a:avLst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Inscription en ligne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du pelerinage, dates et formules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554480"/>
            <a:ext cx="64008" cy="1188720"/>
          </a:xfrm>
          <a:prstGeom prst="roundRect">
            <a:avLst>
              <a:gd name="adj" fmla="val 42857"/>
            </a:avLst>
          </a:prstGeom>
          <a:solidFill>
            <a:srgbClr val="D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Cotisations &amp; versements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Echeancier personnalise avec rappels SMS/email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971800"/>
            <a:ext cx="64008" cy="1188720"/>
          </a:xfrm>
          <a:prstGeom prst="roundRect">
            <a:avLst>
              <a:gd name="adj" fmla="val 42857"/>
            </a:avLst>
          </a:prstGeom>
          <a:solidFill>
            <a:srgbClr val="D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520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en temps reel de l'epargne et des versements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9718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2971800"/>
            <a:ext cx="64008" cy="1188720"/>
          </a:xfrm>
          <a:prstGeom prst="roundRect">
            <a:avLst>
              <a:gd name="adj" fmla="val 42857"/>
            </a:avLst>
          </a:prstGeom>
          <a:solidFill>
            <a:srgbClr val="D4A853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multi-canal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520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Money, Wave, carte bancaire, virement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389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389120"/>
            <a:ext cx="64008" cy="1188720"/>
          </a:xfrm>
          <a:prstGeom prst="roundRect">
            <a:avLst>
              <a:gd name="adj" fmla="val 42857"/>
            </a:avLst>
          </a:prstGeom>
          <a:solidFill>
            <a:srgbClr val="D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Communaute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937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d'echange entre participants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4389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0" y="4389120"/>
            <a:ext cx="64008" cy="1188720"/>
          </a:xfrm>
          <a:prstGeom prst="roundRect">
            <a:avLst>
              <a:gd name="adj" fmla="val 42857"/>
            </a:avLst>
          </a:prstGeom>
          <a:solidFill>
            <a:srgbClr val="D4A853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4937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Visa, passeport, checklist automatisee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5760720"/>
            <a:ext cx="10698480" cy="594360"/>
          </a:xfrm>
          <a:prstGeom prst="roundRect">
            <a:avLst>
              <a:gd name="adj" fmla="val 12308"/>
            </a:avLst>
          </a:prstGeom>
          <a:solidFill>
            <a:srgbClr val="D4A853">
              <a:alpha val="1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5760720"/>
            <a:ext cx="73152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5806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CLE 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Federer 15 premiers adherents pour l'Oumra sociale de Tamkharit via une campagne ciblee Facebook/Instagram avec landing page dediee et systeme de cotisation.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B9CB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B9CB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914400"/>
            <a:ext cx="2743200" cy="2743200"/>
          </a:xfrm>
          <a:prstGeom prst="ellipse">
            <a:avLst/>
          </a:prstGeom>
          <a:solidFill>
            <a:srgbClr val="B2E4F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926080"/>
            <a:ext cx="91440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03 - ARCHITECTURE TECHNIQUE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infrastructure moderne, scalable et performante pour un site de reference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DE LA 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1B9CBA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PRESENTATION (FRONTEND)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 / SSG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71800" y="123444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7180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Composants UI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12080" y="123444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52360" y="123444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5236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5236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692640" y="123444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9264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9264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Offline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928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C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246888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0F172A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METIER (API &amp; BACKEND)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1520" y="265176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2651760"/>
            <a:ext cx="201168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27249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 GraphQL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971800" y="265176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71800" y="2651760"/>
            <a:ext cx="201168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1" name="Text 29"/>
          <p:cNvSpPr/>
          <p:nvPr/>
        </p:nvSpPr>
        <p:spPr>
          <a:xfrm>
            <a:off x="2971800" y="27249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Auth.js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718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Securite JWT / 2FA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212080" y="265176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12080" y="2651760"/>
            <a:ext cx="201168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27249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ORM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 donnees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52360" y="265176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452360" y="2651760"/>
            <a:ext cx="201168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9" name="Text 37"/>
          <p:cNvSpPr/>
          <p:nvPr/>
        </p:nvSpPr>
        <p:spPr>
          <a:xfrm>
            <a:off x="7452360" y="27249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Engine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5236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clients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692640" y="265176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692640" y="2651760"/>
            <a:ext cx="201168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43" name="Text 41"/>
          <p:cNvSpPr/>
          <p:nvPr/>
        </p:nvSpPr>
        <p:spPr>
          <a:xfrm>
            <a:off x="9692640" y="27249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69264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66928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C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7200" y="40233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DONNEES &amp; STOCKAGE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31520" y="4206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4206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" y="4572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relationnelle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423160" y="4206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2423160" y="4206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423160" y="4572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&amp; sessions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114800" y="4206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4114800" y="4206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114800" y="4572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/ CDN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309360" y="40233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D4A853">
              <a:alpha val="1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49224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EXTERNES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583680" y="4206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583680" y="4206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/ PayDunya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83680" y="4572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275320" y="4206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8275320" y="4206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/ OM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275320" y="4572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9966960" y="4206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9966960" y="4206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Resend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966960" y="4572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57200" y="566928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/>
        </p:spPr>
      </p:sp>
      <p:sp>
        <p:nvSpPr>
          <p:cNvPr id="69" name="Text 67"/>
          <p:cNvSpPr/>
          <p:nvPr/>
        </p:nvSpPr>
        <p:spPr>
          <a:xfrm>
            <a:off x="731520" y="57150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(CDN Global)    |    Supabase (BaaS)    |    Cloudflare (DDoS)    |    SSL/TLS    |    CI/CD GitHub Actions    |    Analytics GA4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1" name="Text 69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 DU SITE WEB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463040"/>
            <a:ext cx="502920" cy="502920"/>
          </a:xfrm>
          <a:prstGeom prst="ellipse">
            <a:avLst/>
          </a:prstGeom>
          <a:solidFill>
            <a:srgbClr val="1B9CBA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 Immersif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video, slider, compteur JO 2026, CTA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0" y="128016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63040"/>
            <a:ext cx="502920" cy="502920"/>
          </a:xfrm>
          <a:prstGeom prst="ellipse">
            <a:avLst/>
          </a:prstGeom>
          <a:solidFill>
            <a:srgbClr val="1B9CBA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Fiches, galeries, carte interactive, filtres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0" y="128016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1463040"/>
            <a:ext cx="502920" cy="502920"/>
          </a:xfrm>
          <a:prstGeom prst="ellipse">
            <a:avLst/>
          </a:prstGeom>
          <a:solidFill>
            <a:srgbClr val="1B9CBA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5256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Expedia, Wonderbox, Cabo Verde, calendrier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288036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3063240"/>
            <a:ext cx="502920" cy="502920"/>
          </a:xfrm>
          <a:prstGeom prst="ellipse">
            <a:avLst/>
          </a:prstGeom>
          <a:solidFill>
            <a:srgbClr val="1B9CBA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5448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Pelerinage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Oumra, Hajj, cotisations, suivi versements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288036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063240"/>
            <a:ext cx="502920" cy="502920"/>
          </a:xfrm>
          <a:prstGeom prst="ellipse">
            <a:avLst/>
          </a:prstGeom>
          <a:solidFill>
            <a:srgbClr val="1B9CBA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&amp; SEO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Articles, guides voyage, temoignages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29600" y="288036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12480" y="3063240"/>
            <a:ext cx="502920" cy="502920"/>
          </a:xfrm>
          <a:prstGeom prst="ellipse">
            <a:avLst/>
          </a:prstGeom>
          <a:solidFill>
            <a:srgbClr val="1B9CBA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5256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Galerie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HD, videos 360, drone footage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" y="448056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4400" y="4663440"/>
            <a:ext cx="502920" cy="502920"/>
          </a:xfrm>
          <a:prstGeom prst="ellipse">
            <a:avLst/>
          </a:prstGeom>
          <a:solidFill>
            <a:srgbClr val="1B9CBA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55448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&amp; Devis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5257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Formulaire, devis sur mesure, WhatsApp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80560" y="448056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4663440"/>
            <a:ext cx="502920" cy="502920"/>
          </a:xfrm>
          <a:prstGeom prst="ellipse">
            <a:avLst/>
          </a:prstGeom>
          <a:solidFill>
            <a:srgbClr val="1B9CBA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Client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63440" y="5257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Profil, historique, documents, dashboard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229600" y="448056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412480" y="4663440"/>
            <a:ext cx="502920" cy="502920"/>
          </a:xfrm>
          <a:prstGeom prst="ellipse">
            <a:avLst/>
          </a:prstGeom>
          <a:solidFill>
            <a:srgbClr val="1B9CBA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5256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412480" y="5257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leads, pipeline, automatisation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B9CB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B9CB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914400"/>
            <a:ext cx="2743200" cy="2743200"/>
          </a:xfrm>
          <a:prstGeom prst="ellipse">
            <a:avLst/>
          </a:prstGeom>
          <a:solidFill>
            <a:srgbClr val="B2E4F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926080"/>
            <a:ext cx="91440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04 - CRM INTEGRE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outil de gestion client complet pour maximiser les conversions et la fidelisation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&amp; GESTION RELATION CLIENT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CRM sur mesure integre au site pour une gestion complete du parcours client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1B9CB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6916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9C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64592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1B9CBA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645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16916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9C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164592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1B9CBA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645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16916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9C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164592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1B9CB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45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16916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9C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164592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1B9CB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1645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21240" y="16916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9C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104120" y="164592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1B9CBA"/>
          </a:solidFill>
          <a:ln/>
        </p:spPr>
      </p:sp>
      <p:sp>
        <p:nvSpPr>
          <p:cNvPr id="22" name="Text 20"/>
          <p:cNvSpPr/>
          <p:nvPr/>
        </p:nvSpPr>
        <p:spPr>
          <a:xfrm>
            <a:off x="10104120" y="1645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25603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0F9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2560320"/>
            <a:ext cx="64008" cy="105156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26334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Leads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automatique depuis le site, formulaires, reseaux sociaux. Scoring et qualification automatique des prospects.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0" y="25603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0F9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2560320"/>
            <a:ext cx="64008" cy="105156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26334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Pipeline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 du pipeline commercial en temps reel. Etapes personnalisables par type de service (tourisme, pelerinage).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" y="37947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0F9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3794760"/>
            <a:ext cx="64008" cy="105156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38679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de relance automatiques, rappels de cotisation, notifications anniversaire, sequences de nurturing.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0" y="37947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0F9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0" y="3794760"/>
            <a:ext cx="64008" cy="105156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38679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75120" y="4206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avancee : type de voyage, budget, historique, preferences. Campagnes marketing ciblees.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" y="5029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0F9FF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029200"/>
            <a:ext cx="64008" cy="105156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51023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5840" y="5440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de bord temps reel, KPIs (taux conversion, CA, panier moyen), export PDF/Excel.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5029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0F9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0800" y="5029200"/>
            <a:ext cx="64008" cy="105156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51023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Multi-canal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675120" y="5440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Centralisation WhatsApp, email, SMS, reseaux sociaux. Historique complet des interactions.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B9CB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B9CB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914400"/>
            <a:ext cx="2743200" cy="2743200"/>
          </a:xfrm>
          <a:prstGeom prst="ellipse">
            <a:avLst/>
          </a:prstGeom>
          <a:solidFill>
            <a:srgbClr val="B2E4F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926080"/>
            <a:ext cx="91440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05 - IDENTITE VISUELLE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charte graphique premium inspiree du voyage et de la Teranga senegalaise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PALETTE DE COULEURS &amp;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#0F172A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Nuit Ocean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Headers, navigation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66160" y="12801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B9CB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#1B9CBA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Atlantique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Accents principaux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0" y="12801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512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#0E7490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Profond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Boutons, liens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235440" y="12801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09760" y="1463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D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#D4A853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du Sahel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premium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1520" y="35661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5840" y="3749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8842C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749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#E8842C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Savane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5074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Promotions, CTA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66160" y="35661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0" y="3749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0" y="3749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#C41E3A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Rouge Teranga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0" y="5074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Urgence, alertes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0" y="35661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675120" y="3749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3749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#F0F9FF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Sable Clair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5074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Fonds de page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235440" y="356616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509760" y="3749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9509760" y="3749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#1E293B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32688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Nuit Etoilee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326880" y="5074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Textes, footer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31520" y="5943600"/>
            <a:ext cx="10698480" cy="411480"/>
          </a:xfrm>
          <a:prstGeom prst="roundRect">
            <a:avLst>
              <a:gd name="adj" fmla="val 13333"/>
            </a:avLst>
          </a:prstGeom>
          <a:solidFill>
            <a:srgbClr val="F0F9FF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Typographies :  Playfair Display (Titres)  |  Inter (Corps)  |  Montserrat (Boutons &amp; CTA)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B9CB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B9CB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914400"/>
            <a:ext cx="2743200" cy="2743200"/>
          </a:xfrm>
          <a:prstGeom prst="ellipse">
            <a:avLst/>
          </a:prstGeom>
          <a:solidFill>
            <a:srgbClr val="B2E4F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926080"/>
            <a:ext cx="91440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06 - STRATEGIE SEO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Referencement naturel et technique pour une visibilite maximale sur Google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STRATEGIE SEO &amp; REFERENCEMENT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B9CBA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45920"/>
            <a:ext cx="3474720" cy="27432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TECHNIQUE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2148840"/>
            <a:ext cx="164592" cy="164592"/>
          </a:xfrm>
          <a:prstGeom prst="ellipse">
            <a:avLst/>
          </a:prstGeom>
          <a:solidFill>
            <a:srgbClr val="1B9CBA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084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semantiques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5840" y="2651760"/>
            <a:ext cx="164592" cy="164592"/>
          </a:xfrm>
          <a:prstGeom prst="ellipse">
            <a:avLst/>
          </a:prstGeom>
          <a:solidFill>
            <a:srgbClr val="1B9CBA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587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 &gt; 95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5840" y="3154680"/>
            <a:ext cx="164592" cy="164592"/>
          </a:xfrm>
          <a:prstGeom prst="ellipse">
            <a:avLst/>
          </a:prstGeom>
          <a:solidFill>
            <a:srgbClr val="1B9CBA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30906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Schema.org markup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3657600"/>
            <a:ext cx="164592" cy="164592"/>
          </a:xfrm>
          <a:prstGeom prst="ellipse">
            <a:avLst/>
          </a:prstGeom>
          <a:solidFill>
            <a:srgbClr val="1B9CBA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35935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Sitemap XML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5840" y="4160520"/>
            <a:ext cx="164592" cy="164592"/>
          </a:xfrm>
          <a:prstGeom prst="ellipse">
            <a:avLst/>
          </a:prstGeom>
          <a:solidFill>
            <a:srgbClr val="1B9CBA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4096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 (Next.js)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4663440"/>
            <a:ext cx="164592" cy="164592"/>
          </a:xfrm>
          <a:prstGeom prst="ellipse">
            <a:avLst/>
          </a:prstGeom>
          <a:solidFill>
            <a:srgbClr val="1B9CBA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4599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Web Vitals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128016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12801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0560" y="1645920"/>
            <a:ext cx="34747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CONTENU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148840"/>
            <a:ext cx="164592" cy="164592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084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optimise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651760"/>
            <a:ext cx="164592" cy="164592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2587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2000+ mots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154680"/>
            <a:ext cx="164592" cy="164592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30906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Multi-langue FR/EN/AR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164592" cy="164592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35935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My Business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4160520"/>
            <a:ext cx="164592" cy="164592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4096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snippets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4663440"/>
            <a:ext cx="164592" cy="164592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4599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linking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29600" y="128016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29600" y="12801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D4A853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0" y="1645920"/>
            <a:ext cx="3474720" cy="2743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LOCAL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03920" y="2148840"/>
            <a:ext cx="164592" cy="164592"/>
          </a:xfrm>
          <a:prstGeom prst="ellipse">
            <a:avLst/>
          </a:prstGeom>
          <a:solidFill>
            <a:srgbClr val="D4A853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823960" y="2084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Fiches Google Maps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503920" y="2651760"/>
            <a:ext cx="164592" cy="164592"/>
          </a:xfrm>
          <a:prstGeom prst="ellipse">
            <a:avLst/>
          </a:prstGeom>
          <a:solidFill>
            <a:srgbClr val="D4A853">
              <a:alpha val="5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823960" y="2587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 clients Google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503920" y="3154680"/>
            <a:ext cx="164592" cy="164592"/>
          </a:xfrm>
          <a:prstGeom prst="ellipse">
            <a:avLst/>
          </a:prstGeom>
          <a:solidFill>
            <a:srgbClr val="D4A853">
              <a:alpha val="5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823960" y="30906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locales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503920" y="3657600"/>
            <a:ext cx="164592" cy="164592"/>
          </a:xfrm>
          <a:prstGeom prst="ellipse">
            <a:avLst/>
          </a:prstGeom>
          <a:solidFill>
            <a:srgbClr val="D4A853">
              <a:alpha val="5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823960" y="35935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 consistency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503920" y="4160520"/>
            <a:ext cx="164592" cy="164592"/>
          </a:xfrm>
          <a:prstGeom prst="ellipse">
            <a:avLst/>
          </a:prstGeom>
          <a:solidFill>
            <a:srgbClr val="D4A853">
              <a:alpha val="5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823960" y="4096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Geo-targeting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503920" y="4663440"/>
            <a:ext cx="164592" cy="164592"/>
          </a:xfrm>
          <a:prstGeom prst="ellipse">
            <a:avLst/>
          </a:prstGeom>
          <a:solidFill>
            <a:srgbClr val="D4A853">
              <a:alpha val="5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823960" y="4599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schema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31520" y="557784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54" name="Text 52"/>
          <p:cNvSpPr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C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MOTS-CLES CIBLES :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voyage senegal 2026 | circuit touristique dakar | oumra agence senegal | safari afrique ouest | JO 2026 tourisme | sine saloum excursion | goree island tour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B9CB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B9CB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914400"/>
            <a:ext cx="2743200" cy="2743200"/>
          </a:xfrm>
          <a:prstGeom prst="ellipse">
            <a:avLst/>
          </a:prstGeom>
          <a:solidFill>
            <a:srgbClr val="B2E4F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926080"/>
            <a:ext cx="91440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07 - RESEAUX SOCIAUX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 multi-plateforme pour maximiser la visibilite et l'engagement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STRATEGIE RESEAUX SOCIAUX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148840" cy="29260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1877F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83080"/>
            <a:ext cx="2148840" cy="274320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Communaute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Temoignages, promos, live Q&amp;A, evenements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88920" y="1280160"/>
            <a:ext cx="2148840" cy="29260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0" y="128016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E4405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88920" y="1783080"/>
            <a:ext cx="2148840" cy="274320"/>
          </a:xfrm>
          <a:prstGeom prst="rect">
            <a:avLst/>
          </a:prstGeom>
          <a:solidFill>
            <a:srgbClr val="E4405F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1325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71800" y="228600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HD, Reels, Stories behind-the-scenes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0" y="1280160"/>
            <a:ext cx="2148840" cy="29260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128016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120640" y="1783080"/>
            <a:ext cx="214884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325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Viralite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0" y="228600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immersives, challenges voyage, trends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52360" y="1280160"/>
            <a:ext cx="2148840" cy="29260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52360" y="128016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1DA1F2"/>
          </a:solidFill>
          <a:ln/>
        </p:spPr>
      </p:sp>
      <p:sp>
        <p:nvSpPr>
          <p:cNvPr id="25" name="Shape 23"/>
          <p:cNvSpPr/>
          <p:nvPr/>
        </p:nvSpPr>
        <p:spPr>
          <a:xfrm>
            <a:off x="7452360" y="1783080"/>
            <a:ext cx="2148840" cy="27432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26" name="Text 24"/>
          <p:cNvSpPr/>
          <p:nvPr/>
        </p:nvSpPr>
        <p:spPr>
          <a:xfrm>
            <a:off x="7452360" y="1325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Twitter/X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5236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Actualites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35240" y="228600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News, offres flash, thread destinations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784080" y="1280160"/>
            <a:ext cx="2148840" cy="29260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84080" y="128016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FF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784080" y="1783080"/>
            <a:ext cx="2148840" cy="2743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9784080" y="1325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8408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format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966960" y="228600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Vlogs circuits, documentaires, guides video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 SITE / RESEAUX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20" y="4965192"/>
            <a:ext cx="137160" cy="137160"/>
          </a:xfrm>
          <a:prstGeom prst="ellipse">
            <a:avLst/>
          </a:prstGeom>
          <a:solidFill>
            <a:srgbClr val="1B9CBA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840" y="4892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Instagram en direct sur l'accueil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4965192"/>
            <a:ext cx="137160" cy="137160"/>
          </a:xfrm>
          <a:prstGeom prst="ellipse">
            <a:avLst/>
          </a:prstGeom>
          <a:solidFill>
            <a:srgbClr val="1B9CBA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0" y="4892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Boutons de partage sur chaque destination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5376672"/>
            <a:ext cx="137160" cy="137160"/>
          </a:xfrm>
          <a:prstGeom prst="ellipse">
            <a:avLst/>
          </a:prstGeom>
          <a:solidFill>
            <a:srgbClr val="1B9CBA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5303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Facebook + TikTok Pixel + GA4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5376672"/>
            <a:ext cx="137160" cy="137160"/>
          </a:xfrm>
          <a:prstGeom prst="ellipse">
            <a:avLst/>
          </a:prstGeom>
          <a:solidFill>
            <a:srgbClr val="1B9CBA"/>
          </a:solidFill>
          <a:ln/>
        </p:spPr>
      </p:sp>
      <p:sp>
        <p:nvSpPr>
          <p:cNvPr id="43" name="Text 41"/>
          <p:cNvSpPr/>
          <p:nvPr/>
        </p:nvSpPr>
        <p:spPr>
          <a:xfrm>
            <a:off x="6675120" y="5303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WhatsApp Business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" y="5788152"/>
            <a:ext cx="137160" cy="137160"/>
          </a:xfrm>
          <a:prstGeom prst="ellipse">
            <a:avLst/>
          </a:prstGeom>
          <a:solidFill>
            <a:srgbClr val="1B9CBA"/>
          </a:solidFill>
          <a:ln/>
        </p:spPr>
      </p:sp>
      <p:sp>
        <p:nvSpPr>
          <p:cNvPr id="45" name="Text 43"/>
          <p:cNvSpPr/>
          <p:nvPr/>
        </p:nvSpPr>
        <p:spPr>
          <a:xfrm>
            <a:off x="1005840" y="5715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 publicitaire multi-plateforme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5788152"/>
            <a:ext cx="137160" cy="137160"/>
          </a:xfrm>
          <a:prstGeom prst="ellipse">
            <a:avLst/>
          </a:prstGeom>
          <a:solidFill>
            <a:srgbClr val="1B9CBA"/>
          </a:solidFill>
          <a:ln/>
        </p:spPr>
      </p:sp>
      <p:sp>
        <p:nvSpPr>
          <p:cNvPr id="47" name="Text 45"/>
          <p:cNvSpPr/>
          <p:nvPr/>
        </p:nvSpPr>
        <p:spPr>
          <a:xfrm>
            <a:off x="6675120" y="5715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tracking et attribution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B9CB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B9CB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914400"/>
            <a:ext cx="2743200" cy="2743200"/>
          </a:xfrm>
          <a:prstGeom prst="ellipse">
            <a:avLst/>
          </a:prstGeom>
          <a:solidFill>
            <a:srgbClr val="B2E4F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926080"/>
            <a:ext cx="91440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08 - SECURITE &amp; CONFORMITE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standards de securite maximaux pour proteger les donnees et les transactions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SECURITE &amp; PAIEMENTS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53312"/>
            <a:ext cx="457200" cy="457200"/>
          </a:xfrm>
          <a:prstGeom prst="ellipse">
            <a:avLst/>
          </a:prstGeom>
          <a:solidFill>
            <a:srgbClr val="1B9CBA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261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SSL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 SSL, chiffrement bout en bout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353312"/>
            <a:ext cx="457200" cy="457200"/>
          </a:xfrm>
          <a:prstGeom prst="ellipse">
            <a:avLst/>
          </a:prstGeom>
          <a:solidFill>
            <a:srgbClr val="1B9CBA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1261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2376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+ 2FA optionnel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19456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359152"/>
            <a:ext cx="457200" cy="457200"/>
          </a:xfrm>
          <a:prstGeom prst="ellipse">
            <a:avLst/>
          </a:prstGeom>
          <a:solidFill>
            <a:srgbClr val="1B9CBA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22677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DDoS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en frontal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219456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2359152"/>
            <a:ext cx="457200" cy="457200"/>
          </a:xfrm>
          <a:prstGeom prst="ellipse">
            <a:avLst/>
          </a:prstGeom>
          <a:solidFill>
            <a:srgbClr val="1B9CBA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22677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 SQL injection, XSS, CSRF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20040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3364992"/>
            <a:ext cx="457200" cy="457200"/>
          </a:xfrm>
          <a:prstGeom prst="ellipse">
            <a:avLst/>
          </a:prstGeom>
          <a:solidFill>
            <a:srgbClr val="1B9CBA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554480" y="32735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3611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quotidiens, retention 30j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320040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0" y="3364992"/>
            <a:ext cx="457200" cy="457200"/>
          </a:xfrm>
          <a:prstGeom prst="ellipse">
            <a:avLst/>
          </a:prstGeom>
          <a:solidFill>
            <a:srgbClr val="1B9CBA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32735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611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Consentement cookies, politique confidentialite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420624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4370832"/>
            <a:ext cx="457200" cy="457200"/>
          </a:xfrm>
          <a:prstGeom prst="ellipse">
            <a:avLst/>
          </a:prstGeom>
          <a:solidFill>
            <a:srgbClr val="1B9CBA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554480" y="42793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54480" y="4617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 brute force et abus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420624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583680" y="4370832"/>
            <a:ext cx="457200" cy="457200"/>
          </a:xfrm>
          <a:prstGeom prst="ellipse">
            <a:avLst/>
          </a:prstGeom>
          <a:solidFill>
            <a:srgbClr val="1B9CBA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223760" y="42793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0" y="4617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vulnerabilites avant production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MOYENS DE PAIEMENT SECURISES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20" y="5577840"/>
            <a:ext cx="2560320" cy="502920"/>
          </a:xfrm>
          <a:prstGeom prst="roundRect">
            <a:avLst>
              <a:gd name="adj" fmla="val 45455"/>
            </a:avLst>
          </a:prstGeom>
          <a:solidFill>
            <a:srgbClr val="1B9CBA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5577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Money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566160" y="5577840"/>
            <a:ext cx="2560320" cy="502920"/>
          </a:xfrm>
          <a:prstGeom prst="roundRect">
            <a:avLst>
              <a:gd name="adj" fmla="val 45455"/>
            </a:avLst>
          </a:prstGeom>
          <a:solidFill>
            <a:srgbClr val="1B9CBA"/>
          </a:solidFill>
          <a:ln/>
        </p:spPr>
      </p:sp>
      <p:sp>
        <p:nvSpPr>
          <p:cNvPr id="41" name="Text 39"/>
          <p:cNvSpPr/>
          <p:nvPr/>
        </p:nvSpPr>
        <p:spPr>
          <a:xfrm>
            <a:off x="3566160" y="5577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5577840"/>
            <a:ext cx="2560320" cy="502920"/>
          </a:xfrm>
          <a:prstGeom prst="roundRect">
            <a:avLst>
              <a:gd name="adj" fmla="val 45455"/>
            </a:avLst>
          </a:prstGeom>
          <a:solidFill>
            <a:srgbClr val="1B9CBA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5577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Bancaire (3D Secure)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235440" y="5577840"/>
            <a:ext cx="2560320" cy="502920"/>
          </a:xfrm>
          <a:prstGeom prst="roundRect">
            <a:avLst>
              <a:gd name="adj" fmla="val 45455"/>
            </a:avLst>
          </a:prstGeom>
          <a:solidFill>
            <a:srgbClr val="1B9CBA"/>
          </a:solidFill>
          <a:ln/>
        </p:spPr>
      </p:sp>
      <p:sp>
        <p:nvSpPr>
          <p:cNvPr id="45" name="Text 43"/>
          <p:cNvSpPr/>
          <p:nvPr/>
        </p:nvSpPr>
        <p:spPr>
          <a:xfrm>
            <a:off x="9235440" y="5577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Virement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B9CB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B9CB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914400"/>
            <a:ext cx="2743200" cy="2743200"/>
          </a:xfrm>
          <a:prstGeom prst="ellipse">
            <a:avLst/>
          </a:prstGeom>
          <a:solidFill>
            <a:srgbClr val="B2E4F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926080"/>
            <a:ext cx="91440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09 - STACK TECHNIQUE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technologies de pointe pour des performances exceptionnelles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&amp; PERFORMANCES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1B9CBA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Couche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Technologie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19 + Next.js 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SSR, SEO optimal, App Router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/ UX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Tailwind CSS + Framer Motion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system, animations fluides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TypeScript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Typage fort, maintenabilite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API + Prisma ORM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Full-stack, type-safe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donnees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+ Redis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Donnees relationnelles + cache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Auth.js (NextAuth)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OAuth, JWT, sessions securisees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Stripe + PayDunya + Wave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Multi-provider securise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Hebergement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Vercel + Supabase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CDN global, auto-scaling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 sur mesure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Pipeline, leads, automatisation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Resend + React Email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Transactionnels modernes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GA4 + Hotjar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Tracking, heatmaps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Cloudinary + Next/Image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Optimisation auto images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85216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852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 &gt; 95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520440" y="585216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B9CBA"/>
          </a:solidFill>
          <a:ln/>
        </p:spPr>
      </p:sp>
      <p:sp>
        <p:nvSpPr>
          <p:cNvPr id="9" name="Text 6"/>
          <p:cNvSpPr/>
          <p:nvPr/>
        </p:nvSpPr>
        <p:spPr>
          <a:xfrm>
            <a:off x="3520440" y="5852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1.5s chargement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09360" y="585216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D4A853"/>
          </a:solidFill>
          <a:ln/>
        </p:spPr>
      </p:sp>
      <p:sp>
        <p:nvSpPr>
          <p:cNvPr id="11" name="Text 8"/>
          <p:cNvSpPr/>
          <p:nvPr/>
        </p:nvSpPr>
        <p:spPr>
          <a:xfrm>
            <a:off x="6309360" y="5852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 uptime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098280" y="585216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8842C"/>
          </a:solidFill>
          <a:ln/>
        </p:spPr>
      </p:sp>
      <p:sp>
        <p:nvSpPr>
          <p:cNvPr id="13" name="Text 10"/>
          <p:cNvSpPr/>
          <p:nvPr/>
        </p:nvSpPr>
        <p:spPr>
          <a:xfrm>
            <a:off x="9098280" y="5852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responsive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B9CB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B9CB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914400"/>
            <a:ext cx="2743200" cy="2743200"/>
          </a:xfrm>
          <a:prstGeom prst="ellipse">
            <a:avLst/>
          </a:prstGeom>
          <a:solidFill>
            <a:srgbClr val="B2E4F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926080"/>
            <a:ext cx="91440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10 - LIVRABLES &amp; ENGAGEMENTS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 de livraison structure et des engagements qualite mesurables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LIVRAISON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874520"/>
            <a:ext cx="96012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1645920"/>
            <a:ext cx="457200" cy="457200"/>
          </a:xfrm>
          <a:prstGeom prst="ellipse">
            <a:avLst/>
          </a:prstGeom>
          <a:solidFill>
            <a:srgbClr val="1B9CBA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286000"/>
            <a:ext cx="2560320" cy="54864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C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3246120"/>
            <a:ext cx="137160" cy="137160"/>
          </a:xfrm>
          <a:prstGeom prst="ellipse">
            <a:avLst/>
          </a:prstGeom>
          <a:solidFill>
            <a:srgbClr val="1B9CBA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 UI/UX Figma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794760"/>
            <a:ext cx="137160" cy="137160"/>
          </a:xfrm>
          <a:prstGeom prst="ellipse">
            <a:avLst/>
          </a:prstGeom>
          <a:solidFill>
            <a:srgbClr val="1B9CBA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 graphique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4343400"/>
            <a:ext cx="137160" cy="137160"/>
          </a:xfrm>
          <a:prstGeom prst="ellipse">
            <a:avLst/>
          </a:prstGeom>
          <a:solidFill>
            <a:srgbClr val="1B9CBA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technique CI/CD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566160" y="22860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66160" y="228600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490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840480" y="3246120"/>
            <a:ext cx="137160" cy="137160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vitrine complet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0" y="3794760"/>
            <a:ext cx="137160" cy="137160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technique/contenu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4343400"/>
            <a:ext cx="137160" cy="137160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0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&amp; CMS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06640" y="1645920"/>
            <a:ext cx="457200" cy="45720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22860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2286000"/>
            <a:ext cx="256032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Avancee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675120" y="3246120"/>
            <a:ext cx="137160" cy="137160"/>
          </a:xfrm>
          <a:prstGeom prst="ellipse">
            <a:avLst/>
          </a:prstGeom>
          <a:solidFill>
            <a:srgbClr val="D4A853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reservation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0" y="3794760"/>
            <a:ext cx="137160" cy="137160"/>
          </a:xfrm>
          <a:prstGeom prst="ellipse">
            <a:avLst/>
          </a:prstGeom>
          <a:solidFill>
            <a:srgbClr val="D4A853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94944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pelerinage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75120" y="4343400"/>
            <a:ext cx="137160" cy="137160"/>
          </a:xfrm>
          <a:prstGeom prst="ellipse">
            <a:avLst/>
          </a:prstGeom>
          <a:solidFill>
            <a:srgbClr val="D4A853">
              <a:alpha val="5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0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integre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241280" y="1645920"/>
            <a:ext cx="457200" cy="45720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43" name="Text 41"/>
          <p:cNvSpPr/>
          <p:nvPr/>
        </p:nvSpPr>
        <p:spPr>
          <a:xfrm>
            <a:off x="102412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235440" y="22860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235440" y="2286000"/>
            <a:ext cx="2560320" cy="54864"/>
          </a:xfrm>
          <a:prstGeom prst="rect">
            <a:avLst/>
          </a:prstGeom>
          <a:solidFill>
            <a:srgbClr val="E8842C"/>
          </a:solidFill>
          <a:ln/>
        </p:spPr>
      </p:sp>
      <p:sp>
        <p:nvSpPr>
          <p:cNvPr id="46" name="Text 44"/>
          <p:cNvSpPr/>
          <p:nvPr/>
        </p:nvSpPr>
        <p:spPr>
          <a:xfrm>
            <a:off x="941832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41832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Lancement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9509760" y="3246120"/>
            <a:ext cx="137160" cy="137160"/>
          </a:xfrm>
          <a:prstGeom prst="ellipse">
            <a:avLst/>
          </a:prstGeom>
          <a:solidFill>
            <a:srgbClr val="E8842C">
              <a:alpha val="5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78408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&amp; securite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509760" y="3794760"/>
            <a:ext cx="137160" cy="137160"/>
          </a:xfrm>
          <a:prstGeom prst="ellipse">
            <a:avLst/>
          </a:prstGeom>
          <a:solidFill>
            <a:srgbClr val="E8842C">
              <a:alpha val="5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78408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Deploiement prod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509760" y="4343400"/>
            <a:ext cx="137160" cy="137160"/>
          </a:xfrm>
          <a:prstGeom prst="ellipse">
            <a:avLst/>
          </a:prstGeom>
          <a:solidFill>
            <a:srgbClr val="E8842C">
              <a:alpha val="5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9784080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equipe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1520" y="566928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/>
        </p:spPr>
      </p:sp>
      <p:sp>
        <p:nvSpPr>
          <p:cNvPr id="55" name="Text 53"/>
          <p:cNvSpPr/>
          <p:nvPr/>
        </p:nvSpPr>
        <p:spPr>
          <a:xfrm>
            <a:off x="914400" y="57150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ENGAGEMENTS :   Lighthouse &gt; 95   |   &lt; 1.5s chargement   |   99.9% uptime   |   100% responsive   |   Chrome / Safari / Firefox / Edge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1B9CB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1B9CBA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B2E4F5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VALEUR AJOUTEE MESSIYA GROUP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apportons en plus pour faire la difference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554480"/>
            <a:ext cx="64008" cy="123444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737360"/>
            <a:ext cx="502920" cy="502920"/>
          </a:xfrm>
          <a:prstGeom prst="ellipse">
            <a:avLst/>
          </a:prstGeom>
          <a:solidFill>
            <a:srgbClr val="1B9CBA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1664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(Progressive Web App)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48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 sans telechargement, mode hors-ligne, notifications push pour une experience native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0" y="155448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554480"/>
            <a:ext cx="64008" cy="123444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0" y="1737360"/>
            <a:ext cx="502920" cy="502920"/>
          </a:xfrm>
          <a:prstGeom prst="ellipse">
            <a:avLst/>
          </a:prstGeom>
          <a:solidFill>
            <a:srgbClr val="1B9CBA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60920" y="1664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Artificielle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2148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IA integre pour recommandations personnalisees, assistant voyage disponible 24/7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0175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017520"/>
            <a:ext cx="64008" cy="123444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3200400"/>
            <a:ext cx="502920" cy="502920"/>
          </a:xfrm>
          <a:prstGeom prst="ellipse">
            <a:avLst/>
          </a:prstGeom>
          <a:solidFill>
            <a:srgbClr val="1B9CBA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91640" y="3127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Multi-devise &amp; Multi-langue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611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XOF, EUR, USD + traduction FR/EN/AR pour toucher un maximum de voyageurs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30175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3017520"/>
            <a:ext cx="64008" cy="123444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29" name="Shape 27"/>
          <p:cNvSpPr/>
          <p:nvPr/>
        </p:nvSpPr>
        <p:spPr>
          <a:xfrm>
            <a:off x="6675120" y="3200400"/>
            <a:ext cx="502920" cy="502920"/>
          </a:xfrm>
          <a:prstGeom prst="ellipse">
            <a:avLst/>
          </a:prstGeom>
          <a:solidFill>
            <a:srgbClr val="1B9CBA">
              <a:alpha val="2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60920" y="3127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de Fidelite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3611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de fidelite, offres VIP, parrainage avec recompenses automatiques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1520" y="44805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4480560"/>
            <a:ext cx="64008" cy="123444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840" y="4663440"/>
            <a:ext cx="502920" cy="502920"/>
          </a:xfrm>
          <a:prstGeom prst="ellipse">
            <a:avLst/>
          </a:prstGeom>
          <a:solidFill>
            <a:srgbClr val="1B9CBA">
              <a:alpha val="2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4645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91640" y="45902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 Admin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Back-office complet : reservations, paiements, analytics, gestion contenu en temps reel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0" y="44805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4480560"/>
            <a:ext cx="64008" cy="123444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41" name="Shape 39"/>
          <p:cNvSpPr/>
          <p:nvPr/>
        </p:nvSpPr>
        <p:spPr>
          <a:xfrm>
            <a:off x="6675120" y="4663440"/>
            <a:ext cx="502920" cy="502920"/>
          </a:xfrm>
          <a:prstGeom prst="ellipse">
            <a:avLst/>
          </a:prstGeom>
          <a:solidFill>
            <a:srgbClr val="1B9CBA">
              <a:alpha val="2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675120" y="4645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360920" y="45902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&amp; Evolution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7512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technique continu, mises a jour securite, evolution des fonctionnalites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 |  Proposition de Solution Digitale  | 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1B9CB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B9CB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00400"/>
            <a:ext cx="6400800" cy="6400800"/>
          </a:xfrm>
          <a:prstGeom prst="ellipse">
            <a:avLst/>
          </a:prstGeom>
          <a:solidFill>
            <a:srgbClr val="1B9CBA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1B9CBA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POUR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8288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CONFIANCE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1828800" y="3200400"/>
            <a:ext cx="1828800" cy="36576"/>
          </a:xfrm>
          <a:prstGeom prst="rect">
            <a:avLst/>
          </a:prstGeom>
          <a:solidFill>
            <a:srgbClr val="1B9CBA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34747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 VOYAGE x Messiya Group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Ensemble, faisons de MAG VOYAGE la reference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tourisme digital en Afrique de l'Ouest.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0" y="53035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5394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: Messiya Group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Digitale - Dakar, Senegal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65105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 |  Fevrier 2026  |  Version 1.0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 VOYAGE - Proposition de Solution Digitale</dc:title>
  <dc:subject>PptxGenJS Presentation</dc:subject>
  <dc:creator>Messiya Group</dc:creator>
  <cp:lastModifiedBy>Messiya Group</cp:lastModifiedBy>
  <cp:revision>1</cp:revision>
  <dcterms:created xsi:type="dcterms:W3CDTF">2026-02-26T15:13:13Z</dcterms:created>
  <dcterms:modified xsi:type="dcterms:W3CDTF">2026-02-26T15:13:13Z</dcterms:modified>
</cp:coreProperties>
</file>